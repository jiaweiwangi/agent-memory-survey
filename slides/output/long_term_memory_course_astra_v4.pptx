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879f29b5de44c5" /><Relationship Type="http://schemas.openxmlformats.org/officeDocument/2006/relationships/extended-properties" Target="/docProps/app.xml" Id="R3450f66c85a349d6" /><Relationship Type="http://schemas.openxmlformats.org/officeDocument/2006/relationships/officeDocument" Target="/ppt/presentation.xml" Id="R117e1112941741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f05c8844f34687"/>
  </p:sldMasterIdLst>
  <p:notesMasterIdLst>
    <p:notesMasterId xmlns:r="http://schemas.openxmlformats.org/officeDocument/2006/relationships" r:id="R1be3481b06f54d04"/>
  </p:notesMasterIdLst>
  <p:sldIdLst>
    <p:sldId xmlns:r="http://schemas.openxmlformats.org/officeDocument/2006/relationships" id="256" r:id="Rce174a5f86944f01"/>
    <p:sldId xmlns:r="http://schemas.openxmlformats.org/officeDocument/2006/relationships" id="257" r:id="R8070ce900fbe4e06"/>
    <p:sldId xmlns:r="http://schemas.openxmlformats.org/officeDocument/2006/relationships" id="258" r:id="R59b93b79e41f4640"/>
    <p:sldId xmlns:r="http://schemas.openxmlformats.org/officeDocument/2006/relationships" id="259" r:id="Rbc9a7b7d5c334e57"/>
    <p:sldId xmlns:r="http://schemas.openxmlformats.org/officeDocument/2006/relationships" id="260" r:id="Rb8c7b8de0efc4ea6"/>
    <p:sldId xmlns:r="http://schemas.openxmlformats.org/officeDocument/2006/relationships" id="261" r:id="R5dbabe72aaa74d9a"/>
    <p:sldId xmlns:r="http://schemas.openxmlformats.org/officeDocument/2006/relationships" id="262" r:id="R67fbc48489584662"/>
    <p:sldId xmlns:r="http://schemas.openxmlformats.org/officeDocument/2006/relationships" id="263" r:id="R08e899a1ae1d42ec"/>
    <p:sldId xmlns:r="http://schemas.openxmlformats.org/officeDocument/2006/relationships" id="264" r:id="R6622d5f4d59a4140"/>
    <p:sldId xmlns:r="http://schemas.openxmlformats.org/officeDocument/2006/relationships" id="265" r:id="Rd96232ef8d094ea6"/>
    <p:sldId xmlns:r="http://schemas.openxmlformats.org/officeDocument/2006/relationships" id="266" r:id="R2b20bab0833d444c"/>
    <p:sldId xmlns:r="http://schemas.openxmlformats.org/officeDocument/2006/relationships" id="267" r:id="R4df020b00308407b"/>
    <p:sldId xmlns:r="http://schemas.openxmlformats.org/officeDocument/2006/relationships" id="268" r:id="Ref8745eafd764c0c"/>
    <p:sldId xmlns:r="http://schemas.openxmlformats.org/officeDocument/2006/relationships" id="269" r:id="Rab4ea6d3d3214006"/>
  </p:sldIdLst>
  <p:sldSz cx="15240000" cy="85725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先生 刘" initials="先刘" lastIdx="6" clrIdx="0">
    <p:extLst>
      <p:ext uri="{19B8F6BF-5375-455C-9EA6-DF929625EA0E}">
        <p15:presenceInfo xmlns:p15="http://schemas.microsoft.com/office/powerpoint/2012/main" userId="051a333b569b6e11" providerId="Windows Live"/>
      </p:ext>
    </p:extLst>
  </p:cmAuthor>
</p:cm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fa54d0bd68b34544" /><Relationship Type="http://schemas.openxmlformats.org/officeDocument/2006/relationships/slideMaster" Target="/ppt/slideMasters/slideMaster1.xml" Id="R36f05c8844f34687" /><Relationship Type="http://schemas.openxmlformats.org/officeDocument/2006/relationships/notesMaster" Target="/ppt/notesMasters/notesMaster1.xml" Id="R1be3481b06f54d04" /><Relationship Type="http://schemas.openxmlformats.org/officeDocument/2006/relationships/presProps" Target="/ppt/presProps.xml" Id="R6742b61f1cd3422e" /><Relationship Type="http://schemas.openxmlformats.org/officeDocument/2006/relationships/viewProps" Target="/ppt/viewProps.xml" Id="R80a98d3dde694c8f" /><Relationship Type="http://schemas.openxmlformats.org/officeDocument/2006/relationships/tableStyles" Target="/ppt/tableStyles.xml" Id="R7e23350a2edf48e7" /><Relationship Type="http://schemas.openxmlformats.org/officeDocument/2006/relationships/slide" Target="/ppt/slides/slide1.xml" Id="Rce174a5f86944f01" /><Relationship Type="http://schemas.openxmlformats.org/officeDocument/2006/relationships/slide" Target="/ppt/slides/slide2.xml" Id="R8070ce900fbe4e06" /><Relationship Type="http://schemas.openxmlformats.org/officeDocument/2006/relationships/slide" Target="/ppt/slides/slide3.xml" Id="R59b93b79e41f4640" /><Relationship Type="http://schemas.openxmlformats.org/officeDocument/2006/relationships/slide" Target="/ppt/slides/slide4.xml" Id="Rbc9a7b7d5c334e57" /><Relationship Type="http://schemas.openxmlformats.org/officeDocument/2006/relationships/slide" Target="/ppt/slides/slide5.xml" Id="Rb8c7b8de0efc4ea6" /><Relationship Type="http://schemas.openxmlformats.org/officeDocument/2006/relationships/slide" Target="/ppt/slides/slide6.xml" Id="R5dbabe72aaa74d9a" /><Relationship Type="http://schemas.openxmlformats.org/officeDocument/2006/relationships/slide" Target="/ppt/slides/slide7.xml" Id="R67fbc48489584662" /><Relationship Type="http://schemas.openxmlformats.org/officeDocument/2006/relationships/slide" Target="/ppt/slides/slide8.xml" Id="R08e899a1ae1d42ec" /><Relationship Type="http://schemas.openxmlformats.org/officeDocument/2006/relationships/slide" Target="/ppt/slides/slide9.xml" Id="R6622d5f4d59a4140" /><Relationship Type="http://schemas.openxmlformats.org/officeDocument/2006/relationships/slide" Target="/ppt/slides/slide10.xml" Id="Rd96232ef8d094ea6" /><Relationship Type="http://schemas.openxmlformats.org/officeDocument/2006/relationships/slide" Target="/ppt/slides/slide11.xml" Id="R2b20bab0833d444c" /><Relationship Type="http://schemas.openxmlformats.org/officeDocument/2006/relationships/slide" Target="/ppt/slides/slide12.xml" Id="R4df020b00308407b" /><Relationship Type="http://schemas.openxmlformats.org/officeDocument/2006/relationships/slide" Target="/ppt/slides/slide13.xml" Id="Ref8745eafd764c0c" /><Relationship Type="http://schemas.openxmlformats.org/officeDocument/2006/relationships/slide" Target="/ppt/slides/slide14.xml" Id="Rab4ea6d3d3214006" /><Relationship Id="rIdPreservedComment1" Type="http://schemas.openxmlformats.org/officeDocument/2006/relationships/commentAuthors" Target="commentAuthors.xml" 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8T23:51:12.391" idx="2">
    <p:pos x="3096" y="1070"/>
    <p:text>已做改动：在形式/更新/可靠性评测这几个词前加入“记忆"两字。理由：我自己读着更明白，更省脑子。</p:text>
    <p:extLst>
      <p:ext uri="{C676402C-5697-4E1C-873F-D02D1690AC5C}">
        <p15:threadingInfo xmlns:p15="http://schemas.microsoft.com/office/powerpoint/2012/main" timeZoneBias="-480"/>
      </p:ext>
    </p:extLst>
  </p:cm>
  <p:cm authorId="1" dt="2026-10-18T23:53:04.484" idx="3">
    <p:pos x="1925" y="1538"/>
    <p:text>建议：改为”一个易懂的例子是：“。理由：占在讲解者角度向听众说话，，感觉更自然。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9T00:15:56.775" idx="6">
    <p:pos x="4947" y="3680"/>
    <p:text>建议：改为”举个例子“。原因：”教学“例子感觉措辞不是在分享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9T00:05:22.407" idx="4">
    <p:pos x="1893" y="1079"/>
    <p:text>建议：改为”举一个虚构的例子：“。理由：在讲解者角度向听众说话，，感觉更自然。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f07b2ef5ec4a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University Course">
      <a:dk1>
        <a:srgbClr val="000000"/>
      </a:dk1>
      <a:lt1>
        <a:srgbClr val="FFFFFF"/>
      </a:lt1>
      <a:dk2>
        <a:srgbClr val="1E2927"/>
      </a:dk2>
      <a:lt2>
        <a:srgbClr val="EFF3EF"/>
      </a:lt2>
      <a:accent1>
        <a:srgbClr val="087C71"/>
      </a:accent1>
      <a:accent2>
        <a:srgbClr val="B34F3D"/>
      </a:accent2>
      <a:accent3>
        <a:srgbClr val="B48B3D"/>
      </a:accent3>
      <a:accent4>
        <a:srgbClr val="5F7973"/>
      </a:accent4>
      <a:accent5>
        <a:srgbClr val="777969"/>
      </a:accent5>
      <a:accent6>
        <a:srgbClr val="A86659"/>
      </a:accent6>
      <a:hlink>
        <a:srgbClr val="087C71"/>
      </a:hlink>
      <a:folHlink>
        <a:srgbClr val="B34F3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University 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41b4ff3f834ed6" /><Relationship Type="http://schemas.openxmlformats.org/officeDocument/2006/relationships/notesMaster" Target="/ppt/notesMasters/notesMaster1.xml" Id="R097b61beedd442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6dc31a98234bbc" /><Relationship Type="http://schemas.openxmlformats.org/officeDocument/2006/relationships/notesMaster" Target="/ppt/notesMasters/notesMaster1.xml" Id="R63b826915b8244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7ba0d90e5e4e0e" /><Relationship Type="http://schemas.openxmlformats.org/officeDocument/2006/relationships/notesMaster" Target="/ppt/notesMasters/notesMaster1.xml" Id="Raa5e737ed7dc4d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fec1d6ecfd4467" /><Relationship Type="http://schemas.openxmlformats.org/officeDocument/2006/relationships/notesMaster" Target="/ppt/notesMasters/notesMaster1.xml" Id="Ra5262f8249b84c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0c483f5d8a4666" /><Relationship Type="http://schemas.openxmlformats.org/officeDocument/2006/relationships/notesMaster" Target="/ppt/notesMasters/notesMaster1.xml" Id="Rae018fce8d51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48adf6bcc74d92" /><Relationship Type="http://schemas.openxmlformats.org/officeDocument/2006/relationships/notesMaster" Target="/ppt/notesMasters/notesMaster1.xml" Id="R08c59628de6543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493084b67c489c" /><Relationship Type="http://schemas.openxmlformats.org/officeDocument/2006/relationships/notesMaster" Target="/ppt/notesMasters/notesMaster1.xml" Id="R8a50a5244b914b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2deaf8ac9b42b7" /><Relationship Type="http://schemas.openxmlformats.org/officeDocument/2006/relationships/notesMaster" Target="/ppt/notesMasters/notesMaster1.xml" Id="R2ed25176a3924c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8ec831ef9d44c7" /><Relationship Type="http://schemas.openxmlformats.org/officeDocument/2006/relationships/notesMaster" Target="/ppt/notesMasters/notesMaster1.xml" Id="R3fc560b0de634e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d2575789034b03" /><Relationship Type="http://schemas.openxmlformats.org/officeDocument/2006/relationships/notesMaster" Target="/ppt/notesMasters/notesMaster1.xml" Id="R3539edb1d97046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9a73458944487f" /><Relationship Type="http://schemas.openxmlformats.org/officeDocument/2006/relationships/notesMaster" Target="/ppt/notesMasters/notesMaster1.xml" Id="R4736f096d2494a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36410b1b1b4fd9" /><Relationship Type="http://schemas.openxmlformats.org/officeDocument/2006/relationships/notesMaster" Target="/ppt/notesMasters/notesMaster1.xml" Id="R3426aba3421148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49ccf02b124fe0" /><Relationship Type="http://schemas.openxmlformats.org/officeDocument/2006/relationships/notesMaster" Target="/ppt/notesMasters/notesMaster1.xml" Id="Rc97393e3636442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3b2e4b58cc49ba" /><Relationship Type="http://schemas.openxmlformats.org/officeDocument/2006/relationships/notesMaster" Target="/ppt/notesMasters/notesMaster1.xml" Id="Rde381e73e36948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主讲时段：0:00–0:10（10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我们的主题是大模型智能体的长期记忆。先介绍完成综述的智能体，再介绍文献中的研究问题与进展。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ORIGINAL_TASK.md：课程汇报8分钟，智能体与综述各4分钟。</a:t>
            </a:r>
          </a:p>
          <a:p xmlns:a="http://schemas.openxmlformats.org/drawingml/2006/main">
            <a:r>
              <a:t>paper/main.tex：综述题名与研究范围。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主讲时段：0:10–0:40（30 秒）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先看一个课程作业场景。昨天，我们让助手记住综述范围和下一步任务；今天重新开始对话，只说“继续昨天的工作”。它需要知道昨天做到哪里，以及要求是否改变。这里是虚构的教学情境。本文的长期记忆，是能跨会话保存、在后续任务中读取并更新的外部信息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ORIGINAL_TASK.md：三人小组，至少30篇文献；智能体4分钟、综述研究4分钟；工作流关注幻觉与人工验证。</a:t>
            </a:r>
          </a:p>
          <a:p xmlns:a="http://schemas.openxmlformats.org/drawingml/2006/main">
            <a:r>
              <a:t>docs/protocol.md：本综述的跨会话可写外部记忆边界。</a:t>
            </a:r>
          </a:p>
          <a:p xmlns:a="http://schemas.openxmlformats.org/drawingml/2006/main">
            <a:r>
              <a:t>页面中的跨天作业对话为教学情境，不是逐字运行记录。</a:t>
            </a:r>
          </a:p>
          <a:p xmlns:a="http://schemas.openxmlformats.org/drawingml/2006/main">
            <a:r>
              <a:t>口径提醒：页面上“一个易懂的例子是：”后面那段跨天对话是虚构的教学情境，不是系统运行输出。若被追问，口头补一句“这是编的例子，不是实验数据”。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主讲时段：0:40–1:45（65 秒）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个综述助手采用一个大模型协调器配合工具。先看它依据什么作决定：每个回合有明确目标，也有论文、证据分布和已保存进度等状态。模型根据这些信息和工具说明，选择工具并填写查询词、论文或页码等参数。工具实际执行检索、阅读和提交，程序同时检查数据，再把结果交给模型。反馈可能是候选论文或原文，也可能是检查失败的提示。模型再决定下一步，例如继续补检，或者回读并修正摘录。图中的回路表达工具反馈进入后续决策，不代表每次都成功纠错。任务进度与研究数据会保存，下一回合可以继续。模型负责行动选择，程序负责硬性检查，解释与结论仍需人工核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src/litreview_agent/coordinator.py：SYSTEM_PROMPT、tool_specs、state_summary、make_executor、run_turn。</a:t>
            </a:r>
          </a:p>
          <a:p xmlns:a="http://schemas.openxmlformats.org/drawingml/2006/main">
            <a:r>
              <a:t>src/litreview_agent/model_backends.py：tool_loop，工具结果与执行错误返回模型，达到步数限制结束回合。</a:t>
            </a:r>
          </a:p>
          <a:p xmlns:a="http://schemas.openxmlformats.org/drawingml/2006/main">
            <a:r>
              <a:t>这是现有工具循环的机制示意，不是某条运行日志的逐字重现。模型可以在一次回复中选择多个工具调用。提示词要求目标完成或无法继续时总结，运行时另设最大步数。没有单独训练的规划器或保证最优的行动评分算法。</a:t>
            </a:r>
          </a:p>
          <a:p xmlns:a="http://schemas.openxmlformats.org/drawingml/2006/main">
            <a:r>
              <a:t>持久数据包括论文、证据、陈述与任务进度，并不意味着所有历史记忆都会自动注入每次模型调用。批量阅读、归档和草稿生成还使用脚本，不声称协调器端到端自主完成全部综述。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主讲时段：1:45–2:50（65 秒）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看一次真实运行。程序返回五个研究问题的证据分布，其中定义与边界，也就是RQ1，当前是零条。工具按每个问题少于两条的规则提示缺口，这只是一个简单提醒，不是综述充分性的标准。目标允许回读已有论文，也允许补充检索。模型实际选择调用OpenAlex，并自行填写了右侧这条查询词，涉及记忆架构、分类、上下文窗口和RAG。工具返回十五条命中，去重后新增八项独立研究候选。紧接着，模型调用阅读工具，回读已有论文MemGPT的第一到第四页。这里能直接观察到的是状态、工具选择、参数和后续调用。我们没有把它包装成“找到八篇有效证据”或“自动解决缺口”。检索候选仍要筛选和阅读全文，最后由证据支撑综述陈述。下一页说明，为什么程序检查通过以后，结论仍要人工核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runs/ev-1017152007/events.jsonl：第51–60行，2026-10-17 07:21:31–07:21:44 UTC。</a:t>
            </a:r>
          </a:p>
          <a:p xmlns:a="http://schemas.openxmlformats.org/drawingml/2006/main">
            <a:r>
              <a:t>get_rq_coverage返回RQ1=0、RQ2=4、RQ3=6、RQ4=5、RQ5=2。search_openalex的原始query为 LLM agent long-term memory architecture taxonomy memory hierarchy context window RAG，返回15命中、8新增独立研究；之后read_pages读取W0002第1–4页。</a:t>
            </a:r>
          </a:p>
          <a:p xmlns:a="http://schemas.openxmlformats.org/drawingml/2006/main">
            <a:r>
              <a:t>同一回合在OpenAlex之前也调用了Crossref。页面选取OpenAlex调用展开，不是完整轨迹，不以检索先后推断模型认为某个检索库质量更好。MemGPT是已有论文，不把这次回读描述为读取新候选。此处仅展示可观察的工具选择，不虚构模型内部推理。</a:t>
            </a:r>
          </a:p>
          <a:p xmlns:a="http://schemas.openxmlformats.org/drawingml/2006/main">
            <a:r>
              <a:t>工具不足时报告限制的另一条实际案例保留在agent_report/main.tex，此页聚焦补检决策。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主讲时段：2:50–4:00（70 秒）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有原文不等于结论就正确。左侧保留论文版本、页码、摘录和实验条件，让每个综述陈述关联支持它的证据。程序先忽略空白、换行和连字符差异，再检查其余字符是否连续出现在指定页；不能用改写、删节或拼接代替原文。不匹配就拒绝入库，回读修正后重新提交。通过后保存对应的原文片段，但这只说明摘录存在。例如，“在某个设置下有效”仍不能概括成“所有任务都有效”，需要人工核对解释、数字、比较对象和条件。目前40篇核心文献、39篇正文引用、143条有效核心证据，人工签字核验尚未完成。接下来回到文献：研究者如何组织记忆、处理变化，并判断它是否可靠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agent_report/main.tex：连续原文匹配；validity与trust状态分开，修订保留历史。</a:t>
            </a:r>
          </a:p>
          <a:p xmlns:a="http://schemas.openxmlformats.org/drawingml/2006/main">
            <a:r>
              <a:t>paper/main.tex、核心阅读池及当前证据记录：40/39/143统计口径。</a:t>
            </a:r>
          </a:p>
          <a:p xmlns:a="http://schemas.openxmlformats.org/drawingml/2006/main">
            <a:r>
              <a:t>教学例子用于解释概括范围，不是某条实验输出。</a:t>
            </a:r>
          </a:p>
          <a:p xmlns:a="http://schemas.openxmlformats.org/drawingml/2006/main">
            <a:r>
              <a:t>人工签字核验仍待完成；模型复核与自动检查不冒充小组成员人工签字。</a:t>
            </a:r>
          </a:p>
          <a:p xmlns:a="http://schemas.openxmlformats.org/drawingml/2006/main">
            <a:r>
              <a:t>src/litreview_agent/coordinator.py：_signature、_find_verbatim_span、_tool_submit_evidence；evidence_batch.py：失败摘录不入库。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主讲时段：4:00–4:10（10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刚才介绍的是我们如何用记忆完成综述。下面看研究者怎样组织、更新记忆，并评测它是否可靠。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docs/protocol.md：五个正式研究问题；此处按组织、更新和评测进行课堂归并。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主讲时段：4:10–4:35（25 秒）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接下来按三类问题展开：组织，是把信息存成什么形式、怎样找回；更新，是新信息到来后如何处理旧信息；评测，是怎样判断记忆长期可靠。这三类归并自五个正式研究问题，范围仍是可写、可更新、跨会话的外部记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docs/protocol.md：RQ1概念边界、RQ2组织使用、RQ3更新、RQ4可靠性、RQ5评测。</a:t>
            </a:r>
          </a:p>
          <a:p xmlns:a="http://schemas.openxmlformats.org/drawingml/2006/main">
            <a:r>
              <a:t>课堂归并：组织对应RQ2，更新对应RQ3，评测讨论RQ4与RQ5；RQ1在范围说明中交代。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主讲时段：4:35–5:40（65 秒）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先看研究者选择记住什么。Generative Agents保存经历和事件，通过检索与反思形成高层信息。MemGPT关注工作上下文和外部存储之间的管理，让系统决定何时读取和写入。Reflexion和ExpeL则把任务反馈与经历提炼成后续经验。可以借课程作业理解差别：经历可能是“上次读到了论文哪一页”，经验可能是“核对数字要回原表”，这里只是解释概念的教学例子。这些工作构成早期并行路线，并非相互替代的三个时代。后续工作继续扩展：A-Mem探索关联笔记，Zep采用时序图，MemBuilder研究学习式构建。表示形式不同并不自动意味着谁更好，效果还取决于任务、检索和资源条件，因此我们不把不同论文的分数放成一个排行榜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Park et al. (2023). Generative Agents: Interactive Simulacra of Human Behavior. DOI:10.1145/3586183.3606763。W0001。</a:t>
            </a:r>
          </a:p>
          <a:p xmlns:a="http://schemas.openxmlformats.org/drawingml/2006/main">
            <a:r>
              <a:t>Packer et al. (2023). MemGPT: Towards LLMs as Operating Systems. arXiv:2310.08560。W0002。</a:t>
            </a:r>
          </a:p>
          <a:p xmlns:a="http://schemas.openxmlformats.org/drawingml/2006/main">
            <a:r>
              <a:t>Shinn et al. (2023). Reflexion: Language Agents with Verbal Reinforcement Learning. arXiv:2303.11366。W0004。</a:t>
            </a:r>
          </a:p>
          <a:p xmlns:a="http://schemas.openxmlformats.org/drawingml/2006/main">
            <a:r>
              <a:t>Zhao et al. (2024). ExpeL: LLM Agents Are Experiential Learners. AAAI. DOI:10.1609/aaai.v38i17.29936。W0618。</a:t>
            </a:r>
          </a:p>
          <a:p xmlns:a="http://schemas.openxmlformats.org/drawingml/2006/main">
            <a:r>
              <a:t>Xu et al. (2025). A-Mem. arXiv:2502.12110；Rasmussen et al. (2025). Zep. arXiv:2501.13956；Shen et al. (2026). MemBuilder。</a:t>
            </a:r>
          </a:p>
          <a:p xmlns:a="http://schemas.openxmlformats.org/drawingml/2006/main">
            <a:r>
              <a:t>图示解释机制，不表示所有系统只有图中两个步骤，也不建立未经证据确认的继承谱系。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主讲时段：5:40–6:35（55 秒）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看一个简单的课程通知。第一次说周五提交，之后改成下周一。现在问什么时候交，需要最新有效的信息；问最初通知哪天交，仍然需要历史版本。因此更新不只是把新句子追加到旧句子旁边，过时也不等于历史上没有发生过。文献提供了不同处理思路：Mem++保留版本并按时间检索，SodaMem标记旧事实失效，REALM把插入、合并与遗忘放进整合过程。这些是代表思路，不是互斥或穷尽的分类。删除有节省成本的动机，也有误删有用信息的风险。如果两个来源冲突，时间更新并不自动说明来源更可信，所以更新还需要保留来源与适用条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Yehia et al. (2026). Mem++: Non-Destructive Memory for Long-Term Organizational LLM Agents. arXiv:2610.02002。W0028。</a:t>
            </a:r>
          </a:p>
          <a:p xmlns:a="http://schemas.openxmlformats.org/drawingml/2006/main">
            <a:r>
              <a:t>Wan et al. (2026). SodaMem: Evidence-Grounded Temporal Graph Memory for LLM Agents. arXiv:2608.08055。W0222。</a:t>
            </a:r>
          </a:p>
          <a:p xmlns:a="http://schemas.openxmlformats.org/drawingml/2006/main">
            <a:r>
              <a:t>Song et al. (2026). Retrieval-Driven Memory Reconsolidation for Long-Term LLM Agents. arXiv:2609.16053。W0012。</a:t>
            </a:r>
          </a:p>
          <a:p xmlns:a="http://schemas.openxmlformats.org/drawingml/2006/main">
            <a:r>
              <a:t>课程通知与问题答案均为教学情境，不是这些论文的数据集或我们系统的实测输出。</a:t>
            </a:r>
          </a:p>
          <a:p xmlns:a="http://schemas.openxmlformats.org/drawingml/2006/main">
            <a:r>
              <a:t>遗忘代价的条件性案例见W0034；不从单次剪枝推出普遍有效或低成本结论。</a:t>
            </a:r>
          </a:p>
          <a:p xmlns:a="http://schemas.openxmlformats.org/drawingml/2006/main">
            <a:r>
              <a:t>口径提醒：页面上“举一个虚构的例子：”后面讲的周五／下周一通知是虚构的教学情境，不是这些论文的数据集，也不是我们系统的实测输出。若被追问，口头补一句“这是编的例子，不是实验数据”。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主讲时段：6:35–7:30（55 秒）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不同基准测量的对象并不完全一样。LoCoMo关注长对话中的记忆，LongMemEval把知识更新和弃答纳入五类能力，HaluMem进一步区分错误出在抽取、更新还是问答。因此不能说现有研究完全没有更新评测。最终答案是否正确，以及错误发生在哪个环节，是两个不同问题。比较方法时还需要对齐回答模型、输入证据、检索预算和评分方式。成本也不只是存储，还包括写入、检索与更新；安全过滤可能同时损害正常信息可用性。我们综合认为，持续多轮更新中的错误和代价，仍需要更可比较的评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Maharana et al. (2024). Evaluating Very Long-Term Conversational Memory of LLM Agents. ACL. DOI:10.18653/v1/2024.acl-long.747。LoCoMo，W0005。</a:t>
            </a:r>
          </a:p>
          <a:p xmlns:a="http://schemas.openxmlformats.org/drawingml/2006/main">
            <a:r>
              <a:t>Wu et al. LongMemEval: Benchmarking Chat Assistants on Long-Term Interactive Memory. arXiv:2410.10813。W0006。</a:t>
            </a:r>
          </a:p>
          <a:p xmlns:a="http://schemas.openxmlformats.org/drawingml/2006/main">
            <a:r>
              <a:t>Chen et al. (2025). HaluMem: Evaluating Hallucinations in Memory Systems of Agents. arXiv:2511.03506。W0261。</a:t>
            </a:r>
          </a:p>
          <a:p xmlns:a="http://schemas.openxmlformats.org/drawingml/2006/main">
            <a:r>
              <a:t>本组综合：持续更新、错误归因、条件可比性和成本报告。并非宣称已有基准完全不覆盖这些能力。</a:t>
            </a:r>
          </a:p>
          <a:p xmlns:a="http://schemas.openxmlformats.org/drawingml/2006/main">
            <a:r>
              <a:t>下方三阶段图用于说明操作级诊断，不是将所有系统限定为三个步骤。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主讲时段：7:30–8:00（30 秒）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最后回到三个认识。组织形式应当适配任务，不能只凭结构复杂度判断效果。更新需要同时处理当前事实、历史版本和来源。评测需要结合任务表现、更新正确性、可靠性和成本。对学术写作而言，我们的收获是区分论文报告的结果与本组综合，并让重要判断能够回到证据。部分结论仍依赖单一设置，关键证据还需要完成小组成员的人工核验。谢谢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本页是本组跨文献综合，不是某一篇论文的原文结论。</a:t>
            </a:r>
          </a:p>
          <a:p xmlns:a="http://schemas.openxmlformats.org/drawingml/2006/main">
            <a:r>
              <a:t>主要依据：W0001、W0002、W0028、W0222、W0261、W0034，以及防御效用代价的W0076/W0312。</a:t>
            </a:r>
          </a:p>
          <a:p xmlns:a="http://schemas.openxmlformats.org/drawingml/2006/main">
            <a:r>
              <a:t>ORIGINAL_TASK.md：回扣学术写作课程中综述、研究脉络与人工验证的要求。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备份页，不计入主讲时间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用于回答“系统是否做过测试”。每种配置12个任务，共36次输出。当前三态结果为2/10/0、11/0/1、9/3/0。前三类任务语义评分来自智能体侧审计，仍需人工复核；M4-03/B为显式待核验。跨运行任务采用真实两阶段过程，在第一阶段持久化后，由新实例恢复第二阶段。其中M4-02展示持久化恢复有效。C条件的失败包括动作遗漏与过度确定，不能声称优于直接上下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evaluation/report.md，v6；evaluation/results.jsonl；evaluation/rubric.md。</a:t>
            </a:r>
          </a:p>
          <a:p xmlns:a="http://schemas.openxmlformats.org/drawingml/2006/main">
            <a:r>
              <a:t>每行成功、失败、待核验之和均为12；结果不是人工核验完成后的准确率。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备份页，不计入主讲时间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用于回答“为什么自动摘录验证还不够”。W0312采用良性LoCoMo流量，五段对话、每种条件三次重复，后端、检索和判断器保持一致。Rerank准确率变化为−4.4个百分点，bootstrap 95%区间[−9.0,−0.05]，McNemar p=.064。区间仅略排除零，而另一检验未达.05，作者将准确率变化解释为统计分辨率边缘。后续回查修正了转述中的区间负号，不能把发现此问题归功于自动摘录匹配。该实验也不能直接推断攻击场景下的收益。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sources/2609.22818.pdf，第8页Table 3、第9页解释；W0312。</a:t>
            </a:r>
          </a:p>
          <a:p xmlns:a="http://schemas.openxmlformats.org/drawingml/2006/main">
            <a:r>
              <a:t>paper/sections/update_reliability.tex：经修正的数值、条件与谨慎解释。</a:t>
            </a:r>
          </a:p>
          <a:p xmlns:a="http://schemas.openxmlformats.org/drawingml/2006/main">
            <a:r>
              <a:t>截图为真实原始表格，中文解释可编辑。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备份页，不计入主讲时间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主检索范围与文献选择以冻结协议为准。主检索截止日为2026年10月17日；后续新增应单独记录。页面展示精选参考文献，完整文献见论文参考文献部分。ExpeL这里采用项目bibliography中的AAAI 2024年份；LongMemEval采用arXiv 2024记录。选取这些论文用于回答不同问题，不代表它们构成统一的性能排名。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docs/protocol.md，第2节：主检索截止日；第11节修正案：模态边界。</a:t>
            </a:r>
          </a:p>
          <a:p xmlns:a="http://schemas.openxmlformats.org/drawingml/2006/main">
            <a:r>
              <a:t>paper/references.bib、paper/main.tex。</a:t>
            </a:r>
          </a:p>
          <a:p xmlns:a="http://schemas.openxmlformats.org/drawingml/2006/main">
            <a:r>
              <a:t>近期预印本的研究状态与条件限制应在引用时保留。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308e9d6644a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02cf284bb4d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2806bbb214c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540c04cbb41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58aa7ed1440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8af6cb5b947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615BEA-6083-4371-928E-240C20B8F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DC0143-0403-45E2-80B3-FBAD55AC3A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AA4E80-539C-403E-AE16-EC6D66024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082B2A-32DC-4083-B8FC-419D5AFA7C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EDC6F0-26C5-4A4C-AEAC-669D07A855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0C5E9E-B8D9-44D9-A4C0-F0A313045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58B7DF-F9E4-4FD5-9CF4-64103F9938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FB25C1-9C31-4214-A1D9-BA1EAE4EFF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3D9E0B-9067-4D66-89E6-58EFA446E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94C5D3-779C-4CEF-961E-5C92696F11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4cc5ffe51b4162" /><Relationship Type="http://schemas.openxmlformats.org/officeDocument/2006/relationships/slideLayout" Target="/ppt/slideLayouts/slideLayout1.xml" Id="Racf52ae304e448e4" /><Relationship Type="http://schemas.openxmlformats.org/officeDocument/2006/relationships/slideLayout" Target="/ppt/slideLayouts/slideLayout2.xml" Id="R00e5225c81b240e6" /><Relationship Type="http://schemas.openxmlformats.org/officeDocument/2006/relationships/slideLayout" Target="/ppt/slideLayouts/slideLayout3.xml" Id="R96ffdd6181bc4e08" /><Relationship Type="http://schemas.openxmlformats.org/officeDocument/2006/relationships/slideLayout" Target="/ppt/slideLayouts/slideLayout4.xml" Id="R957f7b294dc2467c" /><Relationship Type="http://schemas.openxmlformats.org/officeDocument/2006/relationships/slideLayout" Target="/ppt/slideLayouts/slideLayout5.xml" Id="Rad58e0b31a20406c" /><Relationship Type="http://schemas.openxmlformats.org/officeDocument/2006/relationships/slideLayout" Target="/ppt/slideLayouts/slideLayout6.xml" Id="R946164dca2ab4b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f52ae304e448e4"/>
    <p:sldLayoutId xmlns:r="http://schemas.openxmlformats.org/officeDocument/2006/relationships" id="2147483650" r:id="R00e5225c81b240e6"/>
    <p:sldLayoutId xmlns:r="http://schemas.openxmlformats.org/officeDocument/2006/relationships" id="2147483651" r:id="R96ffdd6181bc4e08"/>
    <p:sldLayoutId xmlns:r="http://schemas.openxmlformats.org/officeDocument/2006/relationships" id="2147483652" r:id="R957f7b294dc2467c"/>
    <p:sldLayoutId xmlns:r="http://schemas.openxmlformats.org/officeDocument/2006/relationships" id="2147483653" r:id="Rad58e0b31a20406c"/>
    <p:sldLayoutId xmlns:r="http://schemas.openxmlformats.org/officeDocument/2006/relationships" id="2147483654" r:id="R946164dca2ab4b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University Course">
      <a:dk1>
        <a:srgbClr val="000000"/>
      </a:dk1>
      <a:lt1>
        <a:srgbClr val="FFFFFF"/>
      </a:lt1>
      <a:dk2>
        <a:srgbClr val="1E2927"/>
      </a:dk2>
      <a:lt2>
        <a:srgbClr val="EFF3EF"/>
      </a:lt2>
      <a:accent1>
        <a:srgbClr val="087C71"/>
      </a:accent1>
      <a:accent2>
        <a:srgbClr val="B34F3D"/>
      </a:accent2>
      <a:accent3>
        <a:srgbClr val="B48B3D"/>
      </a:accent3>
      <a:accent4>
        <a:srgbClr val="5F7973"/>
      </a:accent4>
      <a:accent5>
        <a:srgbClr val="777969"/>
      </a:accent5>
      <a:accent6>
        <a:srgbClr val="A86659"/>
      </a:accent6>
      <a:hlink>
        <a:srgbClr val="087C71"/>
      </a:hlink>
      <a:folHlink>
        <a:srgbClr val="B34F3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University 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777bdfd614869" /><Relationship Type="http://schemas.openxmlformats.org/officeDocument/2006/relationships/notesSlide" Target="/ppt/notesSlides/notesSlide1.xml" Id="R33fd4886f32940b4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b2124f710bd4fe1" /><Relationship Type="http://schemas.openxmlformats.org/officeDocument/2006/relationships/notesSlide" Target="/ppt/notesSlides/notesSlide2.xml" Id="Ra1d862bc8f06442c" /><Relationship Id="rIdPreservedComment1" Type="http://schemas.openxmlformats.org/officeDocument/2006/relationships/comments" Target="../comments/comment1.xml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6b5265ccc4372" /><Relationship Type="http://schemas.openxmlformats.org/officeDocument/2006/relationships/notesSlide" Target="/ppt/notesSlides/notesSlide3.xml" Id="R28c5bcc1ec8e4b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4647725d34e1b" /><Relationship Type="http://schemas.openxmlformats.org/officeDocument/2006/relationships/notesSlide" Target="/ppt/notesSlides/notesSlide4.xml" Id="R2a07f7380f414c47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71dcc256798499d" /><Relationship Type="http://schemas.openxmlformats.org/officeDocument/2006/relationships/notesSlide" Target="/ppt/notesSlides/notesSlide5.xml" Id="Re33b3549e4344b08" /><Relationship Id="rIdPreservedComment1" Type="http://schemas.openxmlformats.org/officeDocument/2006/relationships/comments" Target="../comments/comment2.xml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ea7796a00d4877" /><Relationship Type="http://schemas.openxmlformats.org/officeDocument/2006/relationships/notesSlide" Target="/ppt/notesSlides/notesSlide6.xml" Id="R2465f075636740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8131032144da7" /><Relationship Type="http://schemas.openxmlformats.org/officeDocument/2006/relationships/notesSlide" Target="/ppt/notesSlides/notesSlide7.xml" Id="R9f1368b618a047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0379eb30b4234" /><Relationship Type="http://schemas.openxmlformats.org/officeDocument/2006/relationships/notesSlide" Target="/ppt/notesSlides/notesSlide8.xml" Id="Ra21a9286243b4fd0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b364f7f38794809" /><Relationship Type="http://schemas.openxmlformats.org/officeDocument/2006/relationships/notesSlide" Target="/ppt/notesSlides/notesSlide9.xml" Id="R6f007128bde7402e" /><Relationship Id="rIdPreservedComment1" Type="http://schemas.openxmlformats.org/officeDocument/2006/relationships/comments" Target="../comments/comment3.xml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4f84d2016487c" /><Relationship Type="http://schemas.openxmlformats.org/officeDocument/2006/relationships/notesSlide" Target="/ppt/notesSlides/notesSlide10.xml" Id="Rbeb94f6ff1cc42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912b81c344060" /><Relationship Type="http://schemas.openxmlformats.org/officeDocument/2006/relationships/notesSlide" Target="/ppt/notesSlides/notesSlide11.xml" Id="R6910a281fbf845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90b51782e4a9e" /><Relationship Type="http://schemas.openxmlformats.org/officeDocument/2006/relationships/notesSlide" Target="/ppt/notesSlides/notesSlide12.xml" Id="R4620d80071fd43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2d387fde44817" /><Relationship Type="http://schemas.openxmlformats.org/officeDocument/2006/relationships/image" Target="/ppt/media/image.png" Id="R84d51fa72ef94239" /><Relationship Type="http://schemas.openxmlformats.org/officeDocument/2006/relationships/notesSlide" Target="/ppt/notesSlides/notesSlide13.xml" Id="Rdd0dce282bbb4e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459f9ecff480d" /><Relationship Type="http://schemas.openxmlformats.org/officeDocument/2006/relationships/notesSlide" Target="/ppt/notesSlides/notesSlide14.xml" Id="R0f745031445844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BBC70588-9854-4EF7-B5A2-D91CD138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23975"/>
            <a:ext cx="13411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学术写作课程汇报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FE5203-E171-4B81-AFBA-343C759C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3411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9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大模型智能体的长期记忆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F225F72-15FC-43CA-97D2-52C2A215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13373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组织、更新与可靠性评测综述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CCC00-B861-4D9E-8B00-264D67B5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5" name="part-one">
            <a:extLst xmlns:a="http://schemas.openxmlformats.org/drawingml/2006/main">
              <a:ext uri="{FF2B5EF4-FFF2-40B4-BE49-F238E27FC236}">
                <a16:creationId xmlns:a16="http://schemas.microsoft.com/office/drawing/2014/main" id="{82E3CFE4-62C8-4A0F-80AE-D754BB3B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483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第一部分  综述智能体</a:t>
            </a:r>
          </a:p>
        </p:txBody>
      </p:sp>
      <p:sp>
        <p:nvSpPr>
          <p:cNvPr id="6" name="part-one-focus">
            <a:extLst xmlns:a="http://schemas.openxmlformats.org/drawingml/2006/main">
              <a:ext uri="{FF2B5EF4-FFF2-40B4-BE49-F238E27FC236}">
                <a16:creationId xmlns:a16="http://schemas.microsoft.com/office/drawing/2014/main" id="{91CE5FF8-7EE4-4B72-9268-5461BB9C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29400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检索、证据与人工核验</a:t>
            </a:r>
          </a:p>
        </p:txBody>
      </p:sp>
      <p:sp>
        <p:nvSpPr>
          <p:cNvPr id="7" name="part-two">
            <a:extLst xmlns:a="http://schemas.openxmlformats.org/drawingml/2006/main">
              <a:ext uri="{FF2B5EF4-FFF2-40B4-BE49-F238E27FC236}">
                <a16:creationId xmlns:a16="http://schemas.microsoft.com/office/drawing/2014/main" id="{DDEFEC23-F9AA-4B96-B70C-474091A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048375"/>
            <a:ext cx="580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第二部分  研究问题与进展</a:t>
            </a:r>
          </a:p>
        </p:txBody>
      </p:sp>
      <p:sp>
        <p:nvSpPr>
          <p:cNvPr id="8" name="part-two-focus">
            <a:extLst xmlns:a="http://schemas.openxmlformats.org/drawingml/2006/main">
              <a:ext uri="{FF2B5EF4-FFF2-40B4-BE49-F238E27FC236}">
                <a16:creationId xmlns:a16="http://schemas.microsoft.com/office/drawing/2014/main" id="{37B720C3-3B39-4C82-83CD-88AE9506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629400"/>
            <a:ext cx="5800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组织、更新与评测</a:t>
            </a:r>
          </a:p>
        </p:txBody>
      </p:sp>
      <p:sp>
        <p:nvSpPr>
          <p:cNvPr id="9" name="date">
            <a:extLst xmlns:a="http://schemas.openxmlformats.org/drawingml/2006/main">
              <a:ext uri="{FF2B5EF4-FFF2-40B4-BE49-F238E27FC236}">
                <a16:creationId xmlns:a16="http://schemas.microsoft.com/office/drawing/2014/main" id="{0231D358-27B5-4176-918C-44EEBBF6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1341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257855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直接箭头连接符 14">
            <a:extLst xmlns:a="http://schemas.openxmlformats.org/drawingml/2006/main">
              <a:ext uri="{FF2B5EF4-FFF2-40B4-BE49-F238E27FC236}">
                <a16:creationId xmlns:a16="http://schemas.microsoft.com/office/drawing/2014/main" id="{5D4C2422-1330-40D7-AC5F-133E5F0AE59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648700" y="4386263"/>
            <a:ext cx="371475" cy="1428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cxnSp>
        <p:nvCxnSpPr>
          <p:cNvPr id="14" name="直接箭头连接符 13">
            <a:extLst xmlns:a="http://schemas.openxmlformats.org/drawingml/2006/main">
              <a:ext uri="{FF2B5EF4-FFF2-40B4-BE49-F238E27FC236}">
                <a16:creationId xmlns:a16="http://schemas.microsoft.com/office/drawing/2014/main" id="{2AFFFF80-9E58-4876-873D-289F0AA2C62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324600" y="4386263"/>
            <a:ext cx="390525" cy="1428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C3A6F8-9015-4758-BA73-A70B91EF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如果明天继续，它还记得什么？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40423E69-46F3-4BD7-8E69-6F49FA91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8B21386-F359-4795-BBF7-24536A65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学术写作课程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824A5A-7F8A-47D4-AD20-BA4151A3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topic">
            <a:extLst xmlns:a="http://schemas.openxmlformats.org/drawingml/2006/main">
              <a:ext uri="{FF2B5EF4-FFF2-40B4-BE49-F238E27FC236}">
                <a16:creationId xmlns:a16="http://schemas.microsoft.com/office/drawing/2014/main" id="{18507090-6A79-4EE2-9C14-CA1A6917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341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大模型智能体的长期记忆</a:t>
            </a: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：</a:t>
            </a: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记忆形式</a:t>
            </a: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记忆</a:t>
            </a: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更新与</a:t>
            </a: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记忆</a:t>
            </a: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可靠性评测综述</a:t>
            </a:r>
            <a:endParaRPr sz="2250" b="0">
              <a:solidFill>
                <a:srgbClr val="087C71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example-disclosure">
            <a:extLst xmlns:a="http://schemas.openxmlformats.org/drawingml/2006/main">
              <a:ext uri="{FF2B5EF4-FFF2-40B4-BE49-F238E27FC236}">
                <a16:creationId xmlns:a16="http://schemas.microsoft.com/office/drawing/2014/main" id="{F413E994-1C0D-449B-B093-93C5C8C1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1341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一个易懂的例子是：</a:t>
            </a:r>
            <a:endParaRPr sz="1650" b="0">
              <a:solidFill>
                <a:srgbClr val="5B696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yesterday-label">
            <a:extLst xmlns:a="http://schemas.openxmlformats.org/drawingml/2006/main">
              <a:ext uri="{FF2B5EF4-FFF2-40B4-BE49-F238E27FC236}">
                <a16:creationId xmlns:a16="http://schemas.microsoft.com/office/drawing/2014/main" id="{A48B262C-4EDC-4D01-88DB-6AEA843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600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昨天</a:t>
            </a:r>
          </a:p>
        </p:txBody>
      </p:sp>
      <p:sp>
        <p:nvSpPr>
          <p:cNvPr id="8" name="yesterday-text">
            <a:extLst xmlns:a="http://schemas.openxmlformats.org/drawingml/2006/main">
              <a:ext uri="{FF2B5EF4-FFF2-40B4-BE49-F238E27FC236}">
                <a16:creationId xmlns:a16="http://schemas.microsoft.com/office/drawing/2014/main" id="{6804EA0F-634D-4138-8721-4BA50867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5857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“综述只讨论文本任务。</a:t>
            </a:r>
          </a:p>
          <a:p xmlns:a="http://schemas.openxmlformats.org/drawingml/2006/main">
            <a:pPr algn="l">
              <a:buNone/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下一步补读更新机制。”</a:t>
            </a:r>
          </a:p>
        </p:txBody>
      </p:sp>
      <p:sp>
        <p:nvSpPr>
          <p:cNvPr id="9" name="today-label">
            <a:extLst xmlns:a="http://schemas.openxmlformats.org/drawingml/2006/main">
              <a:ext uri="{FF2B5EF4-FFF2-40B4-BE49-F238E27FC236}">
                <a16:creationId xmlns:a16="http://schemas.microsoft.com/office/drawing/2014/main" id="{23D72A62-219C-4084-938C-47070984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5153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今天，重新开始对话</a:t>
            </a:r>
          </a:p>
        </p:txBody>
      </p:sp>
      <p:sp>
        <p:nvSpPr>
          <p:cNvPr id="10" name="today-text">
            <a:extLst xmlns:a="http://schemas.openxmlformats.org/drawingml/2006/main">
              <a:ext uri="{FF2B5EF4-FFF2-40B4-BE49-F238E27FC236}">
                <a16:creationId xmlns:a16="http://schemas.microsoft.com/office/drawing/2014/main" id="{9A9BFADF-02EB-40DE-8C6A-2B67BFCB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29050"/>
            <a:ext cx="51530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“继续昨天的工作。”</a:t>
            </a:r>
          </a:p>
        </p:txBody>
      </p:sp>
      <p:sp>
        <p:nvSpPr>
          <p:cNvPr id="11" name="external-note">
            <a:extLst xmlns:a="http://schemas.openxmlformats.org/drawingml/2006/main">
              <a:ext uri="{FF2B5EF4-FFF2-40B4-BE49-F238E27FC236}">
                <a16:creationId xmlns:a16="http://schemas.microsoft.com/office/drawing/2014/main" id="{EBFF8FA6-2B77-4FE4-A9BC-F658A2D9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76675"/>
            <a:ext cx="1933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研究记录</a:t>
            </a:r>
          </a:p>
        </p:txBody>
      </p:sp>
      <p:sp>
        <p:nvSpPr>
          <p:cNvPr id="12" name="left-anchor">
            <a:extLst xmlns:a="http://schemas.openxmlformats.org/drawingml/2006/main">
              <a:ext uri="{FF2B5EF4-FFF2-40B4-BE49-F238E27FC236}">
                <a16:creationId xmlns:a16="http://schemas.microsoft.com/office/drawing/2014/main" id="{BDE8EAB2-6314-4852-AE19-1AC4C0F7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81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right-anchor">
            <a:extLst xmlns:a="http://schemas.openxmlformats.org/drawingml/2006/main">
              <a:ext uri="{FF2B5EF4-FFF2-40B4-BE49-F238E27FC236}">
                <a16:creationId xmlns:a16="http://schemas.microsoft.com/office/drawing/2014/main" id="{324D9050-413E-4AE4-9B8D-04DA5DC4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81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C26BF683-FB0B-400E-90D8-77EB36D0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7" name="definition">
            <a:extLst xmlns:a="http://schemas.openxmlformats.org/drawingml/2006/main">
              <a:ext uri="{FF2B5EF4-FFF2-40B4-BE49-F238E27FC236}">
                <a16:creationId xmlns:a16="http://schemas.microsoft.com/office/drawing/2014/main" id="{8574602A-D8C7-47F9-97AE-D62B0E68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00775"/>
            <a:ext cx="1341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本文关注的长期记忆：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可以跨会话保存，并在后续任务中读取、更新的外部信息。</a:t>
            </a:r>
          </a:p>
        </p:txBody>
      </p:sp>
      <p:sp>
        <p:nvSpPr>
          <p:cNvPr id="18" name="two-deliverables">
            <a:extLst xmlns:a="http://schemas.openxmlformats.org/drawingml/2006/main">
              <a:ext uri="{FF2B5EF4-FFF2-40B4-BE49-F238E27FC236}">
                <a16:creationId xmlns:a16="http://schemas.microsoft.com/office/drawing/2014/main" id="{6F089AC3-100A-4449-95E5-99E53DC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86650"/>
            <a:ext cx="13411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我们做了两件事：设计综述助手；梳理长期记忆研究。</a:t>
            </a:r>
          </a:p>
        </p:txBody>
      </p:sp>
    </p:spTree>
    <p:extLst>
      <p:ext uri="{BB962C8B-B14F-4D97-AF65-F5344CB8AC3E}">
        <p14:creationId xmlns:p14="http://schemas.microsoft.com/office/powerpoint/2010/main" val="1201481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98B0C9-1516-4DF3-9B6B-EA2EB002E20D}"/>
              </a:ext>
            </a:extLst>
          </p:cNvPr>
          <p:cNvCxnSpPr>
            <a:stCxn xmlns:a="http://schemas.openxmlformats.org/drawingml/2006/main" id="44" idx="2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H="1">
            <a:off x="5010150" y="5791200"/>
            <a:ext cx="849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C71"/>
            </a:solidFill>
            <a:tailEnd type="arrow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6CB5EA-550F-45C8-8467-80A2A2C7D1A1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0648950" y="35242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C71"/>
            </a:solidFill>
            <a:tailEnd type="arrow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7383B9-06A5-4EFB-9F96-A34BCA2E998A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7162800" y="35242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C71"/>
            </a:solidFill>
            <a:tailEnd type="arrow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A2D67D-AAED-442B-8858-D38EA997BCF3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676650" y="35242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C71"/>
            </a:solidFill>
            <a:tailEnd type="arrow" w="med" len="med"/>
          </a:ln>
        </p:spPr>
      </p:cxnSp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F5F547-68B4-43BE-A6F1-EB401705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智能体如何决定下一步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7F2CEBAE-93A1-458F-8322-9F894307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1569DCB-C760-469F-BD85-F21BDB7B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第一部分：综述智能体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BBB0C7-BB48-4B73-BD62-E5A14C67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8" name="mechanism-intro">
            <a:extLst xmlns:a="http://schemas.openxmlformats.org/drawingml/2006/main">
              <a:ext uri="{FF2B5EF4-FFF2-40B4-BE49-F238E27FC236}">
                <a16:creationId xmlns:a16="http://schemas.microsoft.com/office/drawing/2014/main" id="{49A77572-5CA5-490F-ACCC-9B26A555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341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一个大模型协调器，根据研究状态选择工具</a:t>
            </a:r>
          </a:p>
        </p:txBody>
      </p:sp>
      <p:sp>
        <p:nvSpPr>
          <p:cNvPr id="29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D753CA16-3F30-49C4-A3C8-94AFC0F8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0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8BF86EC-5C3C-4B2D-99C6-640A22CE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读取状态</a:t>
            </a:r>
          </a:p>
        </p:txBody>
      </p:sp>
      <p:sp>
        <p:nvSpPr>
          <p:cNvPr id="31" name="step-body-0">
            <a:extLst xmlns:a="http://schemas.openxmlformats.org/drawingml/2006/main">
              <a:ext uri="{FF2B5EF4-FFF2-40B4-BE49-F238E27FC236}">
                <a16:creationId xmlns:a16="http://schemas.microsoft.com/office/drawing/2014/main" id="{DEA2D0BD-5D69-4020-8EE7-F8FF5DA7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本回合目标</a:t>
            </a:r>
          </a:p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论文与证据分布</a:t>
            </a:r>
          </a:p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已保存的任务进度</a:t>
            </a:r>
          </a:p>
        </p:txBody>
      </p:sp>
      <p:sp>
        <p:nvSpPr>
          <p:cNvPr id="32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460A7E7C-F86F-42A0-8B7C-6C3A3CC3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33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93502900-4931-47CD-98AD-9D85E6C5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575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选择行动</a:t>
            </a:r>
          </a:p>
        </p:txBody>
      </p:sp>
      <p:sp>
        <p:nvSpPr>
          <p:cNvPr id="34" name="step-body-1">
            <a:extLst xmlns:a="http://schemas.openxmlformats.org/drawingml/2006/main">
              <a:ext uri="{FF2B5EF4-FFF2-40B4-BE49-F238E27FC236}">
                <a16:creationId xmlns:a16="http://schemas.microsoft.com/office/drawing/2014/main" id="{72F9615F-9B31-4C49-B363-869F1D1F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95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模型选择工具</a:t>
            </a:r>
          </a:p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并填写查询词、</a:t>
            </a:r>
          </a:p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论文或页码等参数</a:t>
            </a:r>
          </a:p>
        </p:txBody>
      </p:sp>
      <p:sp>
        <p:nvSpPr>
          <p:cNvPr id="35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1BCBE0F2-45CB-4C30-92FF-991AC623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99A3D0B5-DB48-4DA8-A7D4-AFEBE397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工具执行</a:t>
            </a:r>
          </a:p>
        </p:txBody>
      </p:sp>
      <p:sp>
        <p:nvSpPr>
          <p:cNvPr id="3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328BCB6A-7E00-4668-88D8-399D4031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95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检索或阅读原文</a:t>
            </a:r>
          </a:p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提交证据与陈述</a:t>
            </a:r>
          </a:p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程序检查后返回结果</a:t>
            </a:r>
          </a:p>
        </p:txBody>
      </p:sp>
      <p:sp>
        <p:nvSpPr>
          <p:cNvPr id="3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F1397C17-87D6-4F78-8E23-0614E09C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762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9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5D3CCD16-02A2-4681-9990-9246C03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575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接收反馈</a:t>
            </a:r>
          </a:p>
        </p:txBody>
      </p:sp>
      <p:sp>
        <p:nvSpPr>
          <p:cNvPr id="40" name="step-body-3">
            <a:extLst xmlns:a="http://schemas.openxmlformats.org/drawingml/2006/main">
              <a:ext uri="{FF2B5EF4-FFF2-40B4-BE49-F238E27FC236}">
                <a16:creationId xmlns:a16="http://schemas.microsoft.com/office/drawing/2014/main" id="{87CD5F0A-FBD8-4CF2-9CE1-4B688EDB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0195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新候选、原文片段</a:t>
            </a:r>
          </a:p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或检查失败的提示</a:t>
            </a:r>
          </a:p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供下一步继续判断</a:t>
            </a:r>
          </a:p>
        </p:txBody>
      </p:sp>
      <p:sp>
        <p:nvSpPr>
          <p:cNvPr id="44" name="return-start">
            <a:extLst xmlns:a="http://schemas.openxmlformats.org/drawingml/2006/main">
              <a:ext uri="{FF2B5EF4-FFF2-40B4-BE49-F238E27FC236}">
                <a16:creationId xmlns:a16="http://schemas.microsoft.com/office/drawing/2014/main" id="{563A068F-60FD-4582-AB47-38C631D7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4673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71"/>
            </a:solidFill>
          </a:ln>
        </p:spPr>
      </p:sp>
      <p:sp>
        <p:nvSpPr>
          <p:cNvPr id="45" name="return-end">
            <a:extLst xmlns:a="http://schemas.openxmlformats.org/drawingml/2006/main">
              <a:ext uri="{FF2B5EF4-FFF2-40B4-BE49-F238E27FC236}">
                <a16:creationId xmlns:a16="http://schemas.microsoft.com/office/drawing/2014/main" id="{C2FEE746-DFFD-4642-9179-43D48A65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673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71"/>
            </a:solidFill>
          </a:ln>
        </p:spPr>
      </p:sp>
      <p:sp>
        <p:nvSpPr>
          <p:cNvPr id="47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7EC23F3F-84FD-43A5-B825-563C6333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626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执行结果回到模型，影响下一步选择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5D51FA-C3AF-4759-9155-F40DF3B2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0560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49" name="memory-label">
            <a:extLst xmlns:a="http://schemas.openxmlformats.org/drawingml/2006/main">
              <a:ext uri="{FF2B5EF4-FFF2-40B4-BE49-F238E27FC236}">
                <a16:creationId xmlns:a16="http://schemas.microsoft.com/office/drawing/2014/main" id="{FE605C57-EE78-4E49-8B6D-E9A4C80D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8182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跨回合继续</a:t>
            </a:r>
          </a:p>
        </p:txBody>
      </p:sp>
      <p:sp>
        <p:nvSpPr>
          <p:cNvPr id="50" name="memory-detail">
            <a:extLst xmlns:a="http://schemas.openxmlformats.org/drawingml/2006/main">
              <a:ext uri="{FF2B5EF4-FFF2-40B4-BE49-F238E27FC236}">
                <a16:creationId xmlns:a16="http://schemas.microsoft.com/office/drawing/2014/main" id="{61CC268E-BAFD-425F-B18D-CA716EFA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981825"/>
            <a:ext cx="1099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保存任务进度与研究数据，下次从已有状态开始。</a:t>
            </a:r>
          </a:p>
        </p:txBody>
      </p:sp>
      <p:sp>
        <p:nvSpPr>
          <p:cNvPr id="51" name="responsibility">
            <a:extLst xmlns:a="http://schemas.openxmlformats.org/drawingml/2006/main">
              <a:ext uri="{FF2B5EF4-FFF2-40B4-BE49-F238E27FC236}">
                <a16:creationId xmlns:a16="http://schemas.microsoft.com/office/drawing/2014/main" id="{95894228-2259-4BB6-A15A-520585A8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48575"/>
            <a:ext cx="1341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模型选择行动，程序执行检查，人工核验解释与结论。</a:t>
            </a:r>
          </a:p>
        </p:txBody>
      </p:sp>
    </p:spTree>
    <p:extLst>
      <p:ext uri="{BB962C8B-B14F-4D97-AF65-F5344CB8AC3E}">
        <p14:creationId xmlns:p14="http://schemas.microsoft.com/office/powerpoint/2010/main" val="1801702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005E6B-0D60-4C98-8548-C42164FA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一次真实的补检决策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7FAE8EA1-0930-4089-A1EF-0D99348A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686A63C-D78A-4A27-A532-16B91E07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第一部分：综述智能体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AB05BD-38A1-40D0-9DF1-E25A5D8B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1" name="case-intro">
            <a:extLst xmlns:a="http://schemas.openxmlformats.org/drawingml/2006/main">
              <a:ext uri="{FF2B5EF4-FFF2-40B4-BE49-F238E27FC236}">
                <a16:creationId xmlns:a16="http://schemas.microsoft.com/office/drawing/2014/main" id="{96A2F08A-3520-4804-A66D-5F881746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341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程序提示缺口，模型选择补检工具与关键词</a:t>
            </a:r>
          </a:p>
        </p:txBody>
      </p:sp>
      <p:sp>
        <p:nvSpPr>
          <p:cNvPr id="22" name="observation-title">
            <a:extLst xmlns:a="http://schemas.openxmlformats.org/drawingml/2006/main">
              <a:ext uri="{FF2B5EF4-FFF2-40B4-BE49-F238E27FC236}">
                <a16:creationId xmlns:a16="http://schemas.microsoft.com/office/drawing/2014/main" id="{D0E28A0B-780E-4CC3-85D2-B3FC5DCF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01  观察研究状态</a:t>
            </a:r>
          </a:p>
        </p:txBody>
      </p:sp>
      <p:sp>
        <p:nvSpPr>
          <p:cNvPr id="23" name="observation-main">
            <a:extLst xmlns:a="http://schemas.openxmlformats.org/drawingml/2006/main">
              <a:ext uri="{FF2B5EF4-FFF2-40B4-BE49-F238E27FC236}">
                <a16:creationId xmlns:a16="http://schemas.microsoft.com/office/drawing/2014/main" id="{CAE0BF98-5737-4121-9A15-DEB696AD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RQ1「定义与边界」：0 条证据</a:t>
            </a:r>
          </a:p>
        </p:txBody>
      </p:sp>
      <p:sp>
        <p:nvSpPr>
          <p:cNvPr id="24" name="observation-other">
            <a:extLst xmlns:a="http://schemas.openxmlformats.org/drawingml/2006/main">
              <a:ext uri="{FF2B5EF4-FFF2-40B4-BE49-F238E27FC236}">
                <a16:creationId xmlns:a16="http://schemas.microsoft.com/office/drawing/2014/main" id="{D001BCBA-510D-44D2-8657-6AA4FD43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其余问题 RQ2–RQ5：4、6、5、2 条</a:t>
            </a:r>
          </a:p>
        </p:txBody>
      </p:sp>
      <p:sp>
        <p:nvSpPr>
          <p:cNvPr id="25" name="choice-title">
            <a:extLst xmlns:a="http://schemas.openxmlformats.org/drawingml/2006/main">
              <a:ext uri="{FF2B5EF4-FFF2-40B4-BE49-F238E27FC236}">
                <a16:creationId xmlns:a16="http://schemas.microsoft.com/office/drawing/2014/main" id="{B9152C4A-C43E-498B-B1D0-9CA52B78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02  选择工具与参数</a:t>
            </a:r>
          </a:p>
        </p:txBody>
      </p:sp>
      <p:sp>
        <p:nvSpPr>
          <p:cNvPr id="26" name="choice-body">
            <a:extLst xmlns:a="http://schemas.openxmlformats.org/drawingml/2006/main">
              <a:ext uri="{FF2B5EF4-FFF2-40B4-BE49-F238E27FC236}">
                <a16:creationId xmlns:a16="http://schemas.microsoft.com/office/drawing/2014/main" id="{7C7FEF6B-EDCB-41F1-A9CB-4A0777AE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可回读已有论文，也可补充检索。</a:t>
            </a:r>
          </a:p>
          <a:p xmlns:a="http://schemas.openxmlformats.org/drawingml/2006/main">
            <a:pPr algn="l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本次选择 OpenAlex，自行拟定查询词。</a:t>
            </a:r>
          </a:p>
        </p:txBody>
      </p:sp>
      <p:sp>
        <p:nvSpPr>
          <p:cNvPr id="27" name="query-title">
            <a:extLst xmlns:a="http://schemas.openxmlformats.org/drawingml/2006/main">
              <a:ext uri="{FF2B5EF4-FFF2-40B4-BE49-F238E27FC236}">
                <a16:creationId xmlns:a16="http://schemas.microsoft.com/office/drawing/2014/main" id="{6C6A7E3E-0BAB-46D0-9A1E-1630A8B1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6076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实际查询词</a:t>
            </a:r>
          </a:p>
        </p:txBody>
      </p:sp>
      <p:sp>
        <p:nvSpPr>
          <p:cNvPr id="28" name="query-text">
            <a:extLst xmlns:a="http://schemas.openxmlformats.org/drawingml/2006/main">
              <a:ext uri="{FF2B5EF4-FFF2-40B4-BE49-F238E27FC236}">
                <a16:creationId xmlns:a16="http://schemas.microsoft.com/office/drawing/2014/main" id="{F983113C-6C0C-477E-B989-BC86A0B0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6076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LLM agent long-term memory</a:t>
            </a:r>
          </a:p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architecture taxonomy memory</a:t>
            </a:r>
          </a:p>
          <a:p xmlns:a="http://schemas.openxmlformats.org/drawingml/2006/main"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hierarchy context window RAG</a:t>
            </a:r>
          </a:p>
        </p:txBody>
      </p:sp>
      <p:sp>
        <p:nvSpPr>
          <p:cNvPr id="29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CE9E51E3-E000-4DED-B6DA-0269E50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95825"/>
            <a:ext cx="6076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03  获取反馈并继续</a:t>
            </a:r>
          </a:p>
        </p:txBody>
      </p:sp>
      <p:sp>
        <p:nvSpPr>
          <p:cNvPr id="30" name="result-body">
            <a:extLst xmlns:a="http://schemas.openxmlformats.org/drawingml/2006/main">
              <a:ext uri="{FF2B5EF4-FFF2-40B4-BE49-F238E27FC236}">
                <a16:creationId xmlns:a16="http://schemas.microsoft.com/office/drawing/2014/main" id="{31A3FF49-05FC-4542-9BDE-E837B63E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53050"/>
            <a:ext cx="607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15 条命中，新增 8 项独立研究候选</a:t>
            </a:r>
          </a:p>
          <a:p xmlns:a="http://schemas.openxmlformats.org/drawingml/2006/main">
            <a:pPr algn="l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随后回读 MemGPT 第 1–4 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AA2030-70EF-45A5-B5FC-FB2AB216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0560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2" name="case-boundary">
            <a:extLst xmlns:a="http://schemas.openxmlformats.org/drawingml/2006/main">
              <a:ext uri="{FF2B5EF4-FFF2-40B4-BE49-F238E27FC236}">
                <a16:creationId xmlns:a16="http://schemas.microsoft.com/office/drawing/2014/main" id="{10284D8D-34A2-4D77-97AC-0E69D8D8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10400"/>
            <a:ext cx="1341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候选论文仍需筛选、阅读和核对，才能形成支持证据。</a:t>
            </a:r>
          </a:p>
        </p:txBody>
      </p:sp>
      <p:sp>
        <p:nvSpPr>
          <p:cNvPr id="33" name="coverage-limit">
            <a:extLst xmlns:a="http://schemas.openxmlformats.org/drawingml/2006/main">
              <a:ext uri="{FF2B5EF4-FFF2-40B4-BE49-F238E27FC236}">
                <a16:creationId xmlns:a16="http://schemas.microsoft.com/office/drawing/2014/main" id="{B930D413-E3DD-4024-BB64-3FFFD28B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39050"/>
            <a:ext cx="1341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少于 2 条证据仅触发补检提示，不能据此判断综述覆盖是否充分。</a:t>
            </a:r>
          </a:p>
        </p:txBody>
      </p:sp>
    </p:spTree>
    <p:extLst>
      <p:ext uri="{BB962C8B-B14F-4D97-AF65-F5344CB8AC3E}">
        <p14:creationId xmlns:p14="http://schemas.microsoft.com/office/powerpoint/2010/main" val="1979865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直接箭头连接符 8">
            <a:extLst xmlns:a="http://schemas.openxmlformats.org/drawingml/2006/main">
              <a:ext uri="{FF2B5EF4-FFF2-40B4-BE49-F238E27FC236}">
                <a16:creationId xmlns:a16="http://schemas.microsoft.com/office/drawing/2014/main" id="{9ED42AAF-63F0-4493-A3DD-14EC04303E8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62338" y="476250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cxnSp>
        <p:nvCxnSpPr>
          <p:cNvPr id="8" name="直接箭头连接符 7">
            <a:extLst xmlns:a="http://schemas.openxmlformats.org/drawingml/2006/main">
              <a:ext uri="{FF2B5EF4-FFF2-40B4-BE49-F238E27FC236}">
                <a16:creationId xmlns:a16="http://schemas.microsoft.com/office/drawing/2014/main" id="{0F9C9272-A032-48C1-9D22-22AE0CBD56A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462338" y="330517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F60ABF-C45E-4C7D-AC79-86D2B95A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有原文，还需要核对结论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C31A52B1-66C1-417F-B76B-1F982052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70D026C-E74E-4992-92FF-FAC9FD91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第一部分：综述智能体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608FB8-2B9B-4BBA-8083-B46617E2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5" name="trace-0">
            <a:extLst xmlns:a="http://schemas.openxmlformats.org/drawingml/2006/main">
              <a:ext uri="{FF2B5EF4-FFF2-40B4-BE49-F238E27FC236}">
                <a16:creationId xmlns:a16="http://schemas.microsoft.com/office/drawing/2014/main" id="{9FA75D96-EBEE-4142-A8AB-74B2846C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原文</a:t>
            </a:r>
          </a:p>
          <a:p xmlns:a="http://schemas.openxmlformats.org/drawingml/2006/main">
            <a:pPr algn="ctr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论文版本、页码、摘录</a:t>
            </a:r>
          </a:p>
        </p:txBody>
      </p:sp>
      <p:sp>
        <p:nvSpPr>
          <p:cNvPr id="6" name="trace-1">
            <a:extLst xmlns:a="http://schemas.openxmlformats.org/drawingml/2006/main">
              <a:ext uri="{FF2B5EF4-FFF2-40B4-BE49-F238E27FC236}">
                <a16:creationId xmlns:a16="http://schemas.microsoft.com/office/drawing/2014/main" id="{1F5568C4-A0BB-481D-A779-940C33B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证据记录</a:t>
            </a:r>
          </a:p>
          <a:p xmlns:a="http://schemas.openxmlformats.org/drawingml/2006/main">
            <a:pPr algn="ctr">
              <a:buNone/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实验条件与局限</a:t>
            </a:r>
          </a:p>
        </p:txBody>
      </p:sp>
      <p:sp>
        <p:nvSpPr>
          <p:cNvPr id="7" name="trace-2">
            <a:extLst xmlns:a="http://schemas.openxmlformats.org/drawingml/2006/main">
              <a:ext uri="{FF2B5EF4-FFF2-40B4-BE49-F238E27FC236}">
                <a16:creationId xmlns:a16="http://schemas.microsoft.com/office/drawing/2014/main" id="{8638EAD5-67D7-4450-88D9-BF45F30B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综述陈述</a:t>
            </a:r>
          </a:p>
          <a:p xmlns:a="http://schemas.openxmlformats.org/drawingml/2006/main">
            <a:pPr algn="ctr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关联支持它的证据</a:t>
            </a:r>
          </a:p>
        </p:txBody>
      </p:sp>
      <p:sp>
        <p:nvSpPr>
          <p:cNvPr id="10" name="automatic-title">
            <a:extLst xmlns:a="http://schemas.openxmlformats.org/drawingml/2006/main">
              <a:ext uri="{FF2B5EF4-FFF2-40B4-BE49-F238E27FC236}">
                <a16:creationId xmlns:a16="http://schemas.microsoft.com/office/drawing/2014/main" id="{537118C5-62D4-466D-ACD4-DB8D18BB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8375"/>
            <a:ext cx="706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程序检查</a:t>
            </a:r>
          </a:p>
        </p:txBody>
      </p:sp>
      <p:sp>
        <p:nvSpPr>
          <p:cNvPr id="11" name="automatic-body">
            <a:extLst xmlns:a="http://schemas.openxmlformats.org/drawingml/2006/main">
              <a:ext uri="{FF2B5EF4-FFF2-40B4-BE49-F238E27FC236}">
                <a16:creationId xmlns:a16="http://schemas.microsoft.com/office/drawing/2014/main" id="{48603441-0F46-463A-8D14-93DEAB5B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67025"/>
            <a:ext cx="7067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忽略空白、换行与连字符差异；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核对其余字符是否与指定页连续原文一致；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不匹配则拒绝入库，回读修正后重试。</a:t>
            </a:r>
          </a:p>
        </p:txBody>
      </p:sp>
      <p:sp>
        <p:nvSpPr>
          <p:cNvPr id="12" name="human-title">
            <a:extLst xmlns:a="http://schemas.openxmlformats.org/drawingml/2006/main">
              <a:ext uri="{FF2B5EF4-FFF2-40B4-BE49-F238E27FC236}">
                <a16:creationId xmlns:a16="http://schemas.microsoft.com/office/drawing/2014/main" id="{9956C480-2B3D-48AA-A49D-990417AF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0050"/>
            <a:ext cx="706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人工核验</a:t>
            </a:r>
          </a:p>
        </p:txBody>
      </p:sp>
      <p:sp>
        <p:nvSpPr>
          <p:cNvPr id="13" name="human-body">
            <a:extLst xmlns:a="http://schemas.openxmlformats.org/drawingml/2006/main">
              <a:ext uri="{FF2B5EF4-FFF2-40B4-BE49-F238E27FC236}">
                <a16:creationId xmlns:a16="http://schemas.microsoft.com/office/drawing/2014/main" id="{20F72540-93E0-47C6-B48B-17D9CA0D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00600"/>
            <a:ext cx="7067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原文是否真正支持我们的解释？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数字、比较对象和适用条件是否准确？</a:t>
            </a:r>
          </a:p>
        </p:txBody>
      </p:sp>
      <p:sp>
        <p:nvSpPr>
          <p:cNvPr id="14" name="teaching-label">
            <a:extLst xmlns:a="http://schemas.openxmlformats.org/drawingml/2006/main">
              <a:ext uri="{FF2B5EF4-FFF2-40B4-BE49-F238E27FC236}">
                <a16:creationId xmlns:a16="http://schemas.microsoft.com/office/drawing/2014/main" id="{D1F1A45C-8CE4-442F-BE4A-563EE601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38825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举个例子</a:t>
            </a:r>
            <a:endParaRPr sz="1575" b="0">
              <a:solidFill>
                <a:srgbClr val="5B696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overgeneralization">
            <a:extLst xmlns:a="http://schemas.openxmlformats.org/drawingml/2006/main">
              <a:ext uri="{FF2B5EF4-FFF2-40B4-BE49-F238E27FC236}">
                <a16:creationId xmlns:a16="http://schemas.microsoft.com/office/drawing/2014/main" id="{449A98AF-237F-4B4B-BA36-CA9D79EF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257925"/>
            <a:ext cx="706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“在某个设置下有效”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不能直接概括为“在所有任务中有效”。</a:t>
            </a:r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31A86795-341B-43DE-8EA2-B8BB61AC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7" name="progress">
            <a:extLst xmlns:a="http://schemas.openxmlformats.org/drawingml/2006/main">
              <a:ext uri="{FF2B5EF4-FFF2-40B4-BE49-F238E27FC236}">
                <a16:creationId xmlns:a16="http://schemas.microsoft.com/office/drawing/2014/main" id="{5DC515BD-5D1D-4173-BE7D-6A42C1DB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0"/>
            <a:ext cx="1341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当前：40 篇核心文献，39 篇进入正文引用，143 </a:t>
            </a:r>
            <a:r>
              <a:rPr sz="18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条有效核心证据</a:t>
            </a:r>
            <a:r>
              <a:rPr sz="18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sp>
        <p:nvSpPr>
          <p:cNvPr id="18" name="verification-status">
            <a:extLst xmlns:a="http://schemas.openxmlformats.org/drawingml/2006/main">
              <a:ext uri="{FF2B5EF4-FFF2-40B4-BE49-F238E27FC236}">
                <a16:creationId xmlns:a16="http://schemas.microsoft.com/office/drawing/2014/main" id="{E1E86B72-A6CD-4F4C-8AB0-C784CBC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00975"/>
            <a:ext cx="1341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人工签字核验尚未完成；自动检查不能替代语义复核</a:t>
            </a:r>
            <a:r>
              <a:rPr sz="16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36754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art-label">
            <a:extLst xmlns:a="http://schemas.openxmlformats.org/drawingml/2006/main">
              <a:ext uri="{FF2B5EF4-FFF2-40B4-BE49-F238E27FC236}">
                <a16:creationId xmlns:a16="http://schemas.microsoft.com/office/drawing/2014/main" id="{24A3F008-A918-490D-BCE0-BE49FFF6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1175"/>
            <a:ext cx="1341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第二部分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27C090-683D-47C0-B7D9-F5218B30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34112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长期记忆研究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问题与进展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FE006-4B14-40F9-8432-3248540A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4" name="organization">
            <a:extLst xmlns:a="http://schemas.openxmlformats.org/drawingml/2006/main">
              <a:ext uri="{FF2B5EF4-FFF2-40B4-BE49-F238E27FC236}">
                <a16:creationId xmlns:a16="http://schemas.microsoft.com/office/drawing/2014/main" id="{2F1A4B24-0181-456B-8AE8-112C2E17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组织</a:t>
            </a:r>
          </a:p>
        </p:txBody>
      </p:sp>
      <p:sp>
        <p:nvSpPr>
          <p:cNvPr id="5" name="updating">
            <a:extLst xmlns:a="http://schemas.openxmlformats.org/drawingml/2006/main">
              <a:ext uri="{FF2B5EF4-FFF2-40B4-BE49-F238E27FC236}">
                <a16:creationId xmlns:a16="http://schemas.microsoft.com/office/drawing/2014/main" id="{04387A9E-DE74-44AC-A930-04A5C990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11505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</a:t>
            </a:r>
          </a:p>
        </p:txBody>
      </p:sp>
      <p:sp>
        <p:nvSpPr>
          <p:cNvPr id="6" name="evaluation">
            <a:extLst xmlns:a="http://schemas.openxmlformats.org/drawingml/2006/main">
              <a:ext uri="{FF2B5EF4-FFF2-40B4-BE49-F238E27FC236}">
                <a16:creationId xmlns:a16="http://schemas.microsoft.com/office/drawing/2014/main" id="{E02D38B9-C4BB-4850-9E6C-131E9D5F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1505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评测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7D8FD3A-C720-47C5-8895-C6E8F4E7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75E961-1807-4CFF-9682-04EAA475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8536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7A16BD-24FE-470F-AED7-E92BF58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我们把研究问题归为三类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33D8FD34-3457-480B-A442-0A6786DA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80F872F-5759-45F9-B886-73C29BC8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9EFDA2-C560-48E0-8125-CF23600E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5" name="central-question">
            <a:extLst xmlns:a="http://schemas.openxmlformats.org/drawingml/2006/main">
              <a:ext uri="{FF2B5EF4-FFF2-40B4-BE49-F238E27FC236}">
                <a16:creationId xmlns:a16="http://schemas.microsoft.com/office/drawing/2014/main" id="{CCD362ED-D0FF-4AC5-AA7B-9F4A5144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34112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智能体怎样持续保留有用信息，</a:t>
            </a:r>
          </a:p>
          <a:p xmlns:a="http://schemas.openxmlformats.org/drawingml/2006/main">
            <a:pPr algn="l">
              <a:buNone/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并在信息变化后可靠地使用它？</a:t>
            </a:r>
          </a:p>
        </p:txBody>
      </p:sp>
      <p:sp>
        <p:nvSpPr>
          <p:cNvPr id="6" name="question-topic-0">
            <a:extLst xmlns:a="http://schemas.openxmlformats.org/drawingml/2006/main">
              <a:ext uri="{FF2B5EF4-FFF2-40B4-BE49-F238E27FC236}">
                <a16:creationId xmlns:a16="http://schemas.microsoft.com/office/drawing/2014/main" id="{619E0066-CB30-4445-BFD2-A2A0989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组织</a:t>
            </a:r>
          </a:p>
        </p:txBody>
      </p:sp>
      <p:sp>
        <p:nvSpPr>
          <p:cNvPr id="7" name="question-description-0">
            <a:extLst xmlns:a="http://schemas.openxmlformats.org/drawingml/2006/main">
              <a:ext uri="{FF2B5EF4-FFF2-40B4-BE49-F238E27FC236}">
                <a16:creationId xmlns:a16="http://schemas.microsoft.com/office/drawing/2014/main" id="{90398235-3DB2-494E-AED2-FF35C4B9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43325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保存成什么形式，怎样找得到？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976320B-29F7-4D7C-BE3F-83EF4BF7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9" name="question-topic-1">
            <a:extLst xmlns:a="http://schemas.openxmlformats.org/drawingml/2006/main">
              <a:ext uri="{FF2B5EF4-FFF2-40B4-BE49-F238E27FC236}">
                <a16:creationId xmlns:a16="http://schemas.microsoft.com/office/drawing/2014/main" id="{B00EBF45-A73D-4E22-A886-5826C1E8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</a:t>
            </a:r>
          </a:p>
        </p:txBody>
      </p:sp>
      <p:sp>
        <p:nvSpPr>
          <p:cNvPr id="10" name="question-description-1">
            <a:extLst xmlns:a="http://schemas.openxmlformats.org/drawingml/2006/main">
              <a:ext uri="{FF2B5EF4-FFF2-40B4-BE49-F238E27FC236}">
                <a16:creationId xmlns:a16="http://schemas.microsoft.com/office/drawing/2014/main" id="{5F699978-57AD-4CF2-AABF-7F2CECF1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48225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新信息来了，旧信息怎么办？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82C2901B-4FB8-4A4F-9F87-73EC26CC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022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2" name="question-topic-2">
            <a:extLst xmlns:a="http://schemas.openxmlformats.org/drawingml/2006/main">
              <a:ext uri="{FF2B5EF4-FFF2-40B4-BE49-F238E27FC236}">
                <a16:creationId xmlns:a16="http://schemas.microsoft.com/office/drawing/2014/main" id="{5986337B-6921-489D-9302-3AFDAED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评测</a:t>
            </a:r>
          </a:p>
        </p:txBody>
      </p:sp>
      <p:sp>
        <p:nvSpPr>
          <p:cNvPr id="13" name="question-description-2">
            <a:extLst xmlns:a="http://schemas.openxmlformats.org/drawingml/2006/main">
              <a:ext uri="{FF2B5EF4-FFF2-40B4-BE49-F238E27FC236}">
                <a16:creationId xmlns:a16="http://schemas.microsoft.com/office/drawing/2014/main" id="{737CB6F0-E413-4278-A8B3-F1AE5BDB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53125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答对一次，能说明长期可靠吗？</a:t>
            </a:r>
          </a:p>
        </p:txBody>
      </p:sp>
      <p:sp>
        <p:nvSpPr>
          <p:cNvPr id="14" name="scope">
            <a:extLst xmlns:a="http://schemas.openxmlformats.org/drawingml/2006/main">
              <a:ext uri="{FF2B5EF4-FFF2-40B4-BE49-F238E27FC236}">
                <a16:creationId xmlns:a16="http://schemas.microsoft.com/office/drawing/2014/main" id="{C540A4AF-287A-4C55-97C5-3A2B6A21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58050"/>
            <a:ext cx="1341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范围：可写、可更新、跨会话的外部记忆。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长上下文、静态知识检索和参数知识作为相关机制对照。</a:t>
            </a:r>
          </a:p>
        </p:txBody>
      </p:sp>
    </p:spTree>
    <p:extLst>
      <p:ext uri="{BB962C8B-B14F-4D97-AF65-F5344CB8AC3E}">
        <p14:creationId xmlns:p14="http://schemas.microsoft.com/office/powerpoint/2010/main" val="1613249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直接箭头连接符 18">
            <a:extLst xmlns:a="http://schemas.openxmlformats.org/drawingml/2006/main">
              <a:ext uri="{FF2B5EF4-FFF2-40B4-BE49-F238E27FC236}">
                <a16:creationId xmlns:a16="http://schemas.microsoft.com/office/drawing/2014/main" id="{E462C90E-8E7B-4BAC-BB07-0ADC0F292338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2382500" y="433387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cxnSp>
        <p:nvCxnSpPr>
          <p:cNvPr id="14" name="直接箭头连接符 13">
            <a:extLst xmlns:a="http://schemas.openxmlformats.org/drawingml/2006/main">
              <a:ext uri="{FF2B5EF4-FFF2-40B4-BE49-F238E27FC236}">
                <a16:creationId xmlns:a16="http://schemas.microsoft.com/office/drawing/2014/main" id="{7BB7C77B-ED76-4AE7-86B0-AE99AC301A5B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7620000" y="433387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headEnd type="arrow" w="med" len="med"/>
            <a:tailEnd type="arrow" w="med" len="med"/>
          </a:ln>
        </p:spPr>
      </p:cxnSp>
      <p:cxnSp>
        <p:nvCxnSpPr>
          <p:cNvPr id="9" name="直接箭头连接符 8">
            <a:extLst xmlns:a="http://schemas.openxmlformats.org/drawingml/2006/main">
              <a:ext uri="{FF2B5EF4-FFF2-40B4-BE49-F238E27FC236}">
                <a16:creationId xmlns:a16="http://schemas.microsoft.com/office/drawing/2014/main" id="{F6E2342E-7F38-4186-923A-2FD21ABEDEA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57500" y="433387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159549-0956-4D3C-A6A4-E3B43173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研究者尝试保存不同形式的记忆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1D93114B-8027-4FC9-BE80-9CA6D09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EF6EE50-ED66-4875-8E00-D32EC002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DB133F-503B-47FF-980B-D586D873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5" name="parallel-routes">
            <a:extLst xmlns:a="http://schemas.openxmlformats.org/drawingml/2006/main">
              <a:ext uri="{FF2B5EF4-FFF2-40B4-BE49-F238E27FC236}">
                <a16:creationId xmlns:a16="http://schemas.microsoft.com/office/drawing/2014/main" id="{0068FCCD-17C6-4CC3-A48B-539A6FBF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41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早期形成多条并行路线，分别关注经历、上下文和经验。</a:t>
            </a:r>
          </a:p>
        </p:txBody>
      </p:sp>
      <p:sp>
        <p:nvSpPr>
          <p:cNvPr id="6" name="route-title-0">
            <a:extLst xmlns:a="http://schemas.openxmlformats.org/drawingml/2006/main">
              <a:ext uri="{FF2B5EF4-FFF2-40B4-BE49-F238E27FC236}">
                <a16:creationId xmlns:a16="http://schemas.microsoft.com/office/drawing/2014/main" id="{96729200-E373-4BB9-A469-F4220E67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3886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记录经历并反思</a:t>
            </a:r>
          </a:p>
        </p:txBody>
      </p:sp>
      <p:sp>
        <p:nvSpPr>
          <p:cNvPr id="7" name="route-input-0">
            <a:extLst xmlns:a="http://schemas.openxmlformats.org/drawingml/2006/main">
              <a:ext uri="{FF2B5EF4-FFF2-40B4-BE49-F238E27FC236}">
                <a16:creationId xmlns:a16="http://schemas.microsoft.com/office/drawing/2014/main" id="{ED29EA06-75B7-42F8-8232-F24A3DF6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经历与事件记录</a:t>
            </a:r>
          </a:p>
        </p:txBody>
      </p:sp>
      <p:sp>
        <p:nvSpPr>
          <p:cNvPr id="8" name="route-output-0">
            <a:extLst xmlns:a="http://schemas.openxmlformats.org/drawingml/2006/main">
              <a:ext uri="{FF2B5EF4-FFF2-40B4-BE49-F238E27FC236}">
                <a16:creationId xmlns:a16="http://schemas.microsoft.com/office/drawing/2014/main" id="{911F008D-54A9-49CF-A4FE-E179D5E3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检索与反思</a:t>
            </a:r>
          </a:p>
        </p:txBody>
      </p:sp>
      <p:sp>
        <p:nvSpPr>
          <p:cNvPr id="10" name="method-name-0">
            <a:extLst xmlns:a="http://schemas.openxmlformats.org/drawingml/2006/main">
              <a:ext uri="{FF2B5EF4-FFF2-40B4-BE49-F238E27FC236}">
                <a16:creationId xmlns:a16="http://schemas.microsoft.com/office/drawing/2014/main" id="{047E5F4E-2750-40B5-8DAA-31795E0A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3886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Generative Agents（2023）</a:t>
            </a:r>
          </a:p>
        </p:txBody>
      </p:sp>
      <p:sp>
        <p:nvSpPr>
          <p:cNvPr id="11" name="route-title-1">
            <a:extLst xmlns:a="http://schemas.openxmlformats.org/drawingml/2006/main">
              <a:ext uri="{FF2B5EF4-FFF2-40B4-BE49-F238E27FC236}">
                <a16:creationId xmlns:a16="http://schemas.microsoft.com/office/drawing/2014/main" id="{EA577843-17E1-4382-ADD8-15175DF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14625"/>
            <a:ext cx="3886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管理工作上下文</a:t>
            </a:r>
          </a:p>
        </p:txBody>
      </p:sp>
      <p:sp>
        <p:nvSpPr>
          <p:cNvPr id="12" name="route-input-1">
            <a:extLst xmlns:a="http://schemas.openxmlformats.org/drawingml/2006/main">
              <a:ext uri="{FF2B5EF4-FFF2-40B4-BE49-F238E27FC236}">
                <a16:creationId xmlns:a16="http://schemas.microsoft.com/office/drawing/2014/main" id="{6121FAA5-5BDF-4CCF-8F06-1A8E7EC6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14725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当前工作上下文</a:t>
            </a:r>
          </a:p>
        </p:txBody>
      </p:sp>
      <p:sp>
        <p:nvSpPr>
          <p:cNvPr id="13" name="route-output-1">
            <a:extLst xmlns:a="http://schemas.openxmlformats.org/drawingml/2006/main">
              <a:ext uri="{FF2B5EF4-FFF2-40B4-BE49-F238E27FC236}">
                <a16:creationId xmlns:a16="http://schemas.microsoft.com/office/drawing/2014/main" id="{6B402642-54B8-4924-AED8-5685969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19650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外部存储</a:t>
            </a:r>
          </a:p>
        </p:txBody>
      </p:sp>
      <p:sp>
        <p:nvSpPr>
          <p:cNvPr id="15" name="method-name-1">
            <a:extLst xmlns:a="http://schemas.openxmlformats.org/drawingml/2006/main">
              <a:ext uri="{FF2B5EF4-FFF2-40B4-BE49-F238E27FC236}">
                <a16:creationId xmlns:a16="http://schemas.microsoft.com/office/drawing/2014/main" id="{FA995D7C-75C9-4A9E-848D-2701F76A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953125"/>
            <a:ext cx="3886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MemGPT（2023）</a:t>
            </a:r>
          </a:p>
        </p:txBody>
      </p:sp>
      <p:sp>
        <p:nvSpPr>
          <p:cNvPr id="16" name="route-title-2">
            <a:extLst xmlns:a="http://schemas.openxmlformats.org/drawingml/2006/main">
              <a:ext uri="{FF2B5EF4-FFF2-40B4-BE49-F238E27FC236}">
                <a16:creationId xmlns:a16="http://schemas.microsoft.com/office/drawing/2014/main" id="{6FAC8690-9F28-47EB-854E-65BC3AFC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3886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提炼可复用经验</a:t>
            </a:r>
          </a:p>
        </p:txBody>
      </p:sp>
      <p:sp>
        <p:nvSpPr>
          <p:cNvPr id="17" name="route-input-2">
            <a:extLst xmlns:a="http://schemas.openxmlformats.org/drawingml/2006/main">
              <a:ext uri="{FF2B5EF4-FFF2-40B4-BE49-F238E27FC236}">
                <a16:creationId xmlns:a16="http://schemas.microsoft.com/office/drawing/2014/main" id="{7AF664CC-224A-4452-9555-0190E2F8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14725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任务经历与反馈</a:t>
            </a:r>
          </a:p>
        </p:txBody>
      </p:sp>
      <p:sp>
        <p:nvSpPr>
          <p:cNvPr id="18" name="route-output-2">
            <a:extLst xmlns:a="http://schemas.openxmlformats.org/drawingml/2006/main">
              <a:ext uri="{FF2B5EF4-FFF2-40B4-BE49-F238E27FC236}">
                <a16:creationId xmlns:a16="http://schemas.microsoft.com/office/drawing/2014/main" id="{53C932C1-2DFD-4FAB-8963-237E16E6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19650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后续可用的经验</a:t>
            </a:r>
          </a:p>
        </p:txBody>
      </p:sp>
      <p:sp>
        <p:nvSpPr>
          <p:cNvPr id="20" name="method-name-2">
            <a:extLst xmlns:a="http://schemas.openxmlformats.org/drawingml/2006/main">
              <a:ext uri="{FF2B5EF4-FFF2-40B4-BE49-F238E27FC236}">
                <a16:creationId xmlns:a16="http://schemas.microsoft.com/office/drawing/2014/main" id="{2D0CAFE5-6425-49F3-BA4F-EFF4F0E5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53125"/>
            <a:ext cx="3886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Reflexion（2023）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ExpeL（2024）</a:t>
            </a: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1F7EABC4-7A5D-4BC3-AC63-08777BD9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8182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22" name="later-work">
            <a:extLst xmlns:a="http://schemas.openxmlformats.org/drawingml/2006/main">
              <a:ext uri="{FF2B5EF4-FFF2-40B4-BE49-F238E27FC236}">
                <a16:creationId xmlns:a16="http://schemas.microsoft.com/office/drawing/2014/main" id="{38D1BD43-8EFF-4C77-81B4-244D6D3B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19950"/>
            <a:ext cx="1341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后续探索：A-Mem 的关联笔记、Zep 的时序图、MemBuilder 的学习式构建。</a:t>
            </a:r>
          </a:p>
        </p:txBody>
      </p:sp>
      <p:sp>
        <p:nvSpPr>
          <p:cNvPr id="23" name="method-takeaway">
            <a:extLst xmlns:a="http://schemas.openxmlformats.org/drawingml/2006/main">
              <a:ext uri="{FF2B5EF4-FFF2-40B4-BE49-F238E27FC236}">
                <a16:creationId xmlns:a16="http://schemas.microsoft.com/office/drawing/2014/main" id="{6E26FC4F-4D27-4CD3-832F-1E6E45A7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86675"/>
            <a:ext cx="1341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这些路线可以组合；组织形式需要适配任务与检索需求。</a:t>
            </a:r>
          </a:p>
        </p:txBody>
      </p:sp>
    </p:spTree>
    <p:extLst>
      <p:ext uri="{BB962C8B-B14F-4D97-AF65-F5344CB8AC3E}">
        <p14:creationId xmlns:p14="http://schemas.microsoft.com/office/powerpoint/2010/main" val="1606423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直接箭头连接符 9">
            <a:extLst xmlns:a="http://schemas.openxmlformats.org/drawingml/2006/main">
              <a:ext uri="{FF2B5EF4-FFF2-40B4-BE49-F238E27FC236}">
                <a16:creationId xmlns:a16="http://schemas.microsoft.com/office/drawing/2014/main" id="{4DD755E2-D629-401B-A7BD-8ED15CDB5EF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743700" y="348615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064CE7-DCC8-4A12-86D6-AF6B4474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信息变化后，旧记忆怎么办？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6791AE23-D56C-48E0-8AB2-DD2DFB56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64465E7B-83E2-49EE-A0AD-922605DD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464E21-3FEE-4164-AC84-8C303106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5" name="example-disclosure">
            <a:extLst xmlns:a="http://schemas.openxmlformats.org/drawingml/2006/main">
              <a:ext uri="{FF2B5EF4-FFF2-40B4-BE49-F238E27FC236}">
                <a16:creationId xmlns:a16="http://schemas.microsoft.com/office/drawing/2014/main" id="{8D171C3B-612D-42C5-A331-B47CDD27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341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举一个虚构的例子：</a:t>
            </a:r>
            <a:endParaRPr sz="1650" b="0">
              <a:solidFill>
                <a:srgbClr val="5B696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first-notice-label">
            <a:extLst xmlns:a="http://schemas.openxmlformats.org/drawingml/2006/main">
              <a:ext uri="{FF2B5EF4-FFF2-40B4-BE49-F238E27FC236}">
                <a16:creationId xmlns:a16="http://schemas.microsoft.com/office/drawing/2014/main" id="{F9C4C68D-61C6-4B23-9041-4C9E835E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5829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第一次通知</a:t>
            </a:r>
          </a:p>
        </p:txBody>
      </p:sp>
      <p:sp>
        <p:nvSpPr>
          <p:cNvPr id="7" name="revised-notice-label">
            <a:extLst xmlns:a="http://schemas.openxmlformats.org/drawingml/2006/main">
              <a:ext uri="{FF2B5EF4-FFF2-40B4-BE49-F238E27FC236}">
                <a16:creationId xmlns:a16="http://schemas.microsoft.com/office/drawing/2014/main" id="{CD400256-483D-4E1E-820B-E8AC789F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90775"/>
            <a:ext cx="5829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后续通知</a:t>
            </a:r>
          </a:p>
        </p:txBody>
      </p:sp>
      <p:sp>
        <p:nvSpPr>
          <p:cNvPr id="8" name="old-notice">
            <a:extLst xmlns:a="http://schemas.openxmlformats.org/drawingml/2006/main">
              <a:ext uri="{FF2B5EF4-FFF2-40B4-BE49-F238E27FC236}">
                <a16:creationId xmlns:a16="http://schemas.microsoft.com/office/drawing/2014/main" id="{78B90A61-6039-4AE5-8475-828BD618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5829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7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报告在周五提交</a:t>
            </a:r>
          </a:p>
        </p:txBody>
      </p:sp>
      <p:sp>
        <p:nvSpPr>
          <p:cNvPr id="9" name="current-notice">
            <a:extLst xmlns:a="http://schemas.openxmlformats.org/drawingml/2006/main">
              <a:ext uri="{FF2B5EF4-FFF2-40B4-BE49-F238E27FC236}">
                <a16:creationId xmlns:a16="http://schemas.microsoft.com/office/drawing/2014/main" id="{90A203AE-52C2-46E8-BBF3-F9C390C9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5829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改为下周一提交</a:t>
            </a:r>
          </a:p>
        </p:txBody>
      </p:sp>
      <p:sp>
        <p:nvSpPr>
          <p:cNvPr id="11" name="current-question">
            <a:extLst xmlns:a="http://schemas.openxmlformats.org/drawingml/2006/main">
              <a:ext uri="{FF2B5EF4-FFF2-40B4-BE49-F238E27FC236}">
                <a16:creationId xmlns:a16="http://schemas.microsoft.com/office/drawing/2014/main" id="{085D2F34-E01C-4DE4-8D42-9EC06E3F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6305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“现在什么时候交？”</a:t>
            </a:r>
          </a:p>
        </p:txBody>
      </p:sp>
      <p:sp>
        <p:nvSpPr>
          <p:cNvPr id="12" name="current-answer">
            <a:extLst xmlns:a="http://schemas.openxmlformats.org/drawingml/2006/main">
              <a:ext uri="{FF2B5EF4-FFF2-40B4-BE49-F238E27FC236}">
                <a16:creationId xmlns:a16="http://schemas.microsoft.com/office/drawing/2014/main" id="{1947252D-DD83-4872-9D65-AFB340D5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6305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需要最新有效信息：下周一。</a:t>
            </a:r>
          </a:p>
        </p:txBody>
      </p:sp>
      <p:sp>
        <p:nvSpPr>
          <p:cNvPr id="13" name="historical-question">
            <a:extLst xmlns:a="http://schemas.openxmlformats.org/drawingml/2006/main">
              <a:ext uri="{FF2B5EF4-FFF2-40B4-BE49-F238E27FC236}">
                <a16:creationId xmlns:a16="http://schemas.microsoft.com/office/drawing/2014/main" id="{A051D3B9-8FDA-4E89-8439-F732EA35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5829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“最初通知哪天交？”</a:t>
            </a:r>
          </a:p>
        </p:txBody>
      </p:sp>
      <p:sp>
        <p:nvSpPr>
          <p:cNvPr id="14" name="historical-answer">
            <a:extLst xmlns:a="http://schemas.openxmlformats.org/drawingml/2006/main">
              <a:ext uri="{FF2B5EF4-FFF2-40B4-BE49-F238E27FC236}">
                <a16:creationId xmlns:a16="http://schemas.microsoft.com/office/drawing/2014/main" id="{1EFF0E25-9495-4FE7-A43D-4ACA30A3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38725"/>
            <a:ext cx="582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仍需要历史信息：周五。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EAE927C6-8C81-4F29-BF06-5AD4F240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9122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6" name="update-idea-0">
            <a:extLst xmlns:a="http://schemas.openxmlformats.org/drawingml/2006/main">
              <a:ext uri="{FF2B5EF4-FFF2-40B4-BE49-F238E27FC236}">
                <a16:creationId xmlns:a16="http://schemas.microsoft.com/office/drawing/2014/main" id="{3F0CD478-FDD5-426E-8431-5F6988B1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34125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保留版本，按时间检索</a:t>
            </a:r>
          </a:p>
        </p:txBody>
      </p:sp>
      <p:sp>
        <p:nvSpPr>
          <p:cNvPr id="17" name="update-method-0">
            <a:extLst xmlns:a="http://schemas.openxmlformats.org/drawingml/2006/main">
              <a:ext uri="{FF2B5EF4-FFF2-40B4-BE49-F238E27FC236}">
                <a16:creationId xmlns:a16="http://schemas.microsoft.com/office/drawing/2014/main" id="{DF814CE6-0EEB-46BA-A598-2A94FC1C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961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Mem++</a:t>
            </a:r>
          </a:p>
        </p:txBody>
      </p:sp>
      <p:sp>
        <p:nvSpPr>
          <p:cNvPr id="18" name="update-idea-1">
            <a:extLst xmlns:a="http://schemas.openxmlformats.org/drawingml/2006/main">
              <a:ext uri="{FF2B5EF4-FFF2-40B4-BE49-F238E27FC236}">
                <a16:creationId xmlns:a16="http://schemas.microsoft.com/office/drawing/2014/main" id="{34AED373-A7F5-40C3-86E4-BC6FE73A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34125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标记旧事实失效</a:t>
            </a:r>
          </a:p>
        </p:txBody>
      </p:sp>
      <p:sp>
        <p:nvSpPr>
          <p:cNvPr id="19" name="update-method-1">
            <a:extLst xmlns:a="http://schemas.openxmlformats.org/drawingml/2006/main">
              <a:ext uri="{FF2B5EF4-FFF2-40B4-BE49-F238E27FC236}">
                <a16:creationId xmlns:a16="http://schemas.microsoft.com/office/drawing/2014/main" id="{7AE3AACF-AFA0-4A3F-B332-E8A8E7DA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8961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SodaMem</a:t>
            </a:r>
          </a:p>
        </p:txBody>
      </p:sp>
      <p:sp>
        <p:nvSpPr>
          <p:cNvPr id="20" name="update-idea-2">
            <a:extLst xmlns:a="http://schemas.openxmlformats.org/drawingml/2006/main">
              <a:ext uri="{FF2B5EF4-FFF2-40B4-BE49-F238E27FC236}">
                <a16:creationId xmlns:a16="http://schemas.microsoft.com/office/drawing/2014/main" id="{F7FB545E-67C7-486A-A56D-A893867D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334125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整合与遗忘冗余记忆</a:t>
            </a:r>
          </a:p>
        </p:txBody>
      </p:sp>
      <p:sp>
        <p:nvSpPr>
          <p:cNvPr id="21" name="update-method-2">
            <a:extLst xmlns:a="http://schemas.openxmlformats.org/drawingml/2006/main">
              <a:ext uri="{FF2B5EF4-FFF2-40B4-BE49-F238E27FC236}">
                <a16:creationId xmlns:a16="http://schemas.microsoft.com/office/drawing/2014/main" id="{00FF2826-1E39-4421-BBAB-C18819C6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8961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REALM</a:t>
            </a:r>
          </a:p>
        </p:txBody>
      </p:sp>
      <p:sp>
        <p:nvSpPr>
          <p:cNvPr id="22" name="update-conclusion">
            <a:extLst xmlns:a="http://schemas.openxmlformats.org/drawingml/2006/main">
              <a:ext uri="{FF2B5EF4-FFF2-40B4-BE49-F238E27FC236}">
                <a16:creationId xmlns:a16="http://schemas.microsoft.com/office/drawing/2014/main" id="{04B513EE-DAAD-4C00-835D-7D1C9CB9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91425"/>
            <a:ext cx="1341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更新需要保留时间和来源，并区分当前回答与历史查询。</a:t>
            </a:r>
          </a:p>
        </p:txBody>
      </p:sp>
    </p:spTree>
    <p:extLst>
      <p:ext uri="{BB962C8B-B14F-4D97-AF65-F5344CB8AC3E}">
        <p14:creationId xmlns:p14="http://schemas.microsoft.com/office/powerpoint/2010/main" val="14131422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直接箭头连接符 13">
            <a:extLst xmlns:a="http://schemas.openxmlformats.org/drawingml/2006/main">
              <a:ext uri="{FF2B5EF4-FFF2-40B4-BE49-F238E27FC236}">
                <a16:creationId xmlns:a16="http://schemas.microsoft.com/office/drawing/2014/main" id="{3D4F82EC-41AC-4E9E-9340-21557B9742B6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10725" y="616267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cxnSp>
        <p:nvCxnSpPr>
          <p:cNvPr id="13" name="直接箭头连接符 12">
            <a:extLst xmlns:a="http://schemas.openxmlformats.org/drawingml/2006/main">
              <a:ext uri="{FF2B5EF4-FFF2-40B4-BE49-F238E27FC236}">
                <a16:creationId xmlns:a16="http://schemas.microsoft.com/office/drawing/2014/main" id="{D89A9849-EF0B-4EF7-A00F-225148E1ECB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95850" y="616267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ABE1BE-5216-4BA3-A9AB-72654FB8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怎样检验记忆是否可靠？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7CB9A6E9-70C7-4644-8B3C-4AF0480B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97A3D68-C67C-42C8-B263-A61460E6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51C3EB-6036-4963-AA66-79A4A2D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5" name="evaluation-question">
            <a:extLst xmlns:a="http://schemas.openxmlformats.org/drawingml/2006/main">
              <a:ext uri="{FF2B5EF4-FFF2-40B4-BE49-F238E27FC236}">
                <a16:creationId xmlns:a16="http://schemas.microsoft.com/office/drawing/2014/main" id="{D635658F-9303-4ED9-88D5-F2EA52CB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3411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6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答对一次，能说明长期可靠吗？</a:t>
            </a:r>
          </a:p>
        </p:txBody>
      </p:sp>
      <p:graphicFrame>
        <p:nvGraphicFramePr>
          <p:cNvPr id="6" name="表格 5">
            <a:extLst xmlns:a="http://schemas.openxmlformats.org/drawingml/2006/main">
              <a:ext uri="{FF2B5EF4-FFF2-40B4-BE49-F238E27FC236}">
                <a16:creationId xmlns:a16="http://schemas.microsoft.com/office/drawing/2014/main" id="{9ECF9377-9E9D-4689-AF34-32D41D52AA5A}"/>
              </a:ext>
            </a:extLst>
          </p:cNvPr>
          <p:cNvGraphicFramePr/>
          <p:nvPr/>
        </p:nvGraphicFramePr>
        <p:xfrm>
          <a:off xmlns:a="http://schemas.openxmlformats.org/drawingml/2006/main" x="914400" y="2571750"/>
          <a:ext xmlns:a="http://schemas.openxmlformats.org/drawingml/2006/main" cx="13411200" cy="27432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0001250"/>
                <a:gridCol w="3409950"/>
              </a:tblGrid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检查的问题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代表基准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跨多次对话还能找回信息吗？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LoCoMo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信息更新后能答对，缺依据时能弃答吗？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LongMemEval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错误发生在抽取、更新，还是问答？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HaluMem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gnosis-0">
            <a:extLst xmlns:a="http://schemas.openxmlformats.org/drawingml/2006/main">
              <a:ext uri="{FF2B5EF4-FFF2-40B4-BE49-F238E27FC236}">
                <a16:creationId xmlns:a16="http://schemas.microsoft.com/office/drawing/2014/main" id="{99EB13F2-4C04-486F-805F-D3FDE5D7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398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抽取</a:t>
            </a:r>
          </a:p>
        </p:txBody>
      </p:sp>
      <p:sp>
        <p:nvSpPr>
          <p:cNvPr id="8" name="diagnosis-caption-0">
            <a:extLst xmlns:a="http://schemas.openxmlformats.org/drawingml/2006/main">
              <a:ext uri="{FF2B5EF4-FFF2-40B4-BE49-F238E27FC236}">
                <a16:creationId xmlns:a16="http://schemas.microsoft.com/office/drawing/2014/main" id="{069CBFB2-AB26-4D51-85D0-EF0C3B5B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81775"/>
            <a:ext cx="3981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检查写入的内容</a:t>
            </a:r>
          </a:p>
        </p:txBody>
      </p:sp>
      <p:sp>
        <p:nvSpPr>
          <p:cNvPr id="9" name="diagnosis-1">
            <a:extLst xmlns:a="http://schemas.openxmlformats.org/drawingml/2006/main">
              <a:ext uri="{FF2B5EF4-FFF2-40B4-BE49-F238E27FC236}">
                <a16:creationId xmlns:a16="http://schemas.microsoft.com/office/drawing/2014/main" id="{BF124633-B3EA-4B1D-9F77-6EC1E111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857875"/>
            <a:ext cx="398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</a:t>
            </a:r>
          </a:p>
        </p:txBody>
      </p:sp>
      <p:sp>
        <p:nvSpPr>
          <p:cNvPr id="10" name="diagnosis-caption-1">
            <a:extLst xmlns:a="http://schemas.openxmlformats.org/drawingml/2006/main">
              <a:ext uri="{FF2B5EF4-FFF2-40B4-BE49-F238E27FC236}">
                <a16:creationId xmlns:a16="http://schemas.microsoft.com/office/drawing/2014/main" id="{64D27A15-9B9C-4B4A-84BA-ED90A2CD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6581775"/>
            <a:ext cx="3981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检查新旧信息处理</a:t>
            </a:r>
          </a:p>
        </p:txBody>
      </p:sp>
      <p:sp>
        <p:nvSpPr>
          <p:cNvPr id="11" name="diagnosis-2">
            <a:extLst xmlns:a="http://schemas.openxmlformats.org/drawingml/2006/main">
              <a:ext uri="{FF2B5EF4-FFF2-40B4-BE49-F238E27FC236}">
                <a16:creationId xmlns:a16="http://schemas.microsoft.com/office/drawing/2014/main" id="{391E3E54-118A-4E60-BB5A-14D83C9E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857875"/>
            <a:ext cx="398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问答</a:t>
            </a:r>
          </a:p>
        </p:txBody>
      </p:sp>
      <p:sp>
        <p:nvSpPr>
          <p:cNvPr id="12" name="diagnosis-caption-2">
            <a:extLst xmlns:a="http://schemas.openxmlformats.org/drawingml/2006/main">
              <a:ext uri="{FF2B5EF4-FFF2-40B4-BE49-F238E27FC236}">
                <a16:creationId xmlns:a16="http://schemas.microsoft.com/office/drawing/2014/main" id="{FE7DF787-AB62-4651-83D7-AC9ABEB6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81775"/>
            <a:ext cx="3981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检查最终使用方式</a:t>
            </a:r>
          </a:p>
        </p:txBody>
      </p:sp>
      <p:sp>
        <p:nvSpPr>
          <p:cNvPr id="15" name="comparison-controls">
            <a:extLst xmlns:a="http://schemas.openxmlformats.org/drawingml/2006/main">
              <a:ext uri="{FF2B5EF4-FFF2-40B4-BE49-F238E27FC236}">
                <a16:creationId xmlns:a16="http://schemas.microsoft.com/office/drawing/2014/main" id="{22A32D7C-0601-476C-B8AD-1BF93725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29475"/>
            <a:ext cx="1341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比较方法还需对齐模型、输入证据、检索预算与评分方式。</a:t>
            </a:r>
          </a:p>
        </p:txBody>
      </p:sp>
      <p:sp>
        <p:nvSpPr>
          <p:cNvPr id="16" name="evaluation-challenge">
            <a:extLst xmlns:a="http://schemas.openxmlformats.org/drawingml/2006/main">
              <a:ext uri="{FF2B5EF4-FFF2-40B4-BE49-F238E27FC236}">
                <a16:creationId xmlns:a16="http://schemas.microsoft.com/office/drawing/2014/main" id="{E8CB966F-9837-423C-9D90-EACDF343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67625"/>
            <a:ext cx="1341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当前挑战：持续更新中的错误与代价，仍需要更可比较的评测。</a:t>
            </a:r>
          </a:p>
        </p:txBody>
      </p:sp>
    </p:spTree>
    <p:extLst>
      <p:ext uri="{BB962C8B-B14F-4D97-AF65-F5344CB8AC3E}">
        <p14:creationId xmlns:p14="http://schemas.microsoft.com/office/powerpoint/2010/main" val="11547316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BC3B1A-45B4-4C33-BD03-990BB040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这次综述，我们得到三个认识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0B0FE981-028D-4D93-AFAA-DF85ED25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CC96E6C-A7A2-42AA-95F2-3AE85F7B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EDBEDA-C7C3-4689-8FD3-4F3A29A6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5" name="synthesis-topic-0">
            <a:extLst xmlns:a="http://schemas.openxmlformats.org/drawingml/2006/main">
              <a:ext uri="{FF2B5EF4-FFF2-40B4-BE49-F238E27FC236}">
                <a16:creationId xmlns:a16="http://schemas.microsoft.com/office/drawing/2014/main" id="{C37D0755-C3F1-4AE0-96B3-FF3D158F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组织</a:t>
            </a:r>
          </a:p>
        </p:txBody>
      </p:sp>
      <p:sp>
        <p:nvSpPr>
          <p:cNvPr id="6" name="synthesis-body-0">
            <a:extLst xmlns:a="http://schemas.openxmlformats.org/drawingml/2006/main">
              <a:ext uri="{FF2B5EF4-FFF2-40B4-BE49-F238E27FC236}">
                <a16:creationId xmlns:a16="http://schemas.microsoft.com/office/drawing/2014/main" id="{B0034AA0-D4EB-4B87-8845-AC18AEAE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1059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不同表示解决不同问题</a:t>
            </a: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，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不能只凭结构复杂度判断效果</a:t>
            </a: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sp>
        <p:nvSpPr>
          <p:cNvPr id="7" name="synthesis-topic-1">
            <a:extLst xmlns:a="http://schemas.openxmlformats.org/drawingml/2006/main">
              <a:ext uri="{FF2B5EF4-FFF2-40B4-BE49-F238E27FC236}">
                <a16:creationId xmlns:a16="http://schemas.microsoft.com/office/drawing/2014/main" id="{EAE2131B-39F7-443D-9D6D-D20CA149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</a:t>
            </a:r>
          </a:p>
        </p:txBody>
      </p:sp>
      <p:sp>
        <p:nvSpPr>
          <p:cNvPr id="8" name="synthesis-body-1">
            <a:extLst xmlns:a="http://schemas.openxmlformats.org/drawingml/2006/main">
              <a:ext uri="{FF2B5EF4-FFF2-40B4-BE49-F238E27FC236}">
                <a16:creationId xmlns:a16="http://schemas.microsoft.com/office/drawing/2014/main" id="{70BCA1F3-5029-4762-B426-472BA27E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71875"/>
            <a:ext cx="1059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需要同时处理当前事实、历史版本与信息来源</a:t>
            </a: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sp>
        <p:nvSpPr>
          <p:cNvPr id="9" name="synthesis-topic-2">
            <a:extLst xmlns:a="http://schemas.openxmlformats.org/drawingml/2006/main">
              <a:ext uri="{FF2B5EF4-FFF2-40B4-BE49-F238E27FC236}">
                <a16:creationId xmlns:a16="http://schemas.microsoft.com/office/drawing/2014/main" id="{F6F62EF6-EDDD-427E-9AA9-F94B0A78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评测</a:t>
            </a:r>
          </a:p>
        </p:txBody>
      </p:sp>
      <p:sp>
        <p:nvSpPr>
          <p:cNvPr id="10" name="synthesis-body-2">
            <a:extLst xmlns:a="http://schemas.openxmlformats.org/drawingml/2006/main">
              <a:ext uri="{FF2B5EF4-FFF2-40B4-BE49-F238E27FC236}">
                <a16:creationId xmlns:a16="http://schemas.microsoft.com/office/drawing/2014/main" id="{B35E87E6-8F5F-4AE4-B1E0-463551B2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33950"/>
            <a:ext cx="1059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应结合任务表现、更新正确性、可靠性与成本</a:t>
            </a: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9ABED4A-DF77-4E24-B284-E28D208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2" name="writing-lesson">
            <a:extLst xmlns:a="http://schemas.openxmlformats.org/drawingml/2006/main">
              <a:ext uri="{FF2B5EF4-FFF2-40B4-BE49-F238E27FC236}">
                <a16:creationId xmlns:a16="http://schemas.microsoft.com/office/drawing/2014/main" id="{5C112E1A-7987-4B82-805F-048EE410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10375"/>
            <a:ext cx="1341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写作上的收获：区分论文报告的结果与本组综合</a:t>
            </a:r>
            <a:r>
              <a: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，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并让每个重要判断能回到证据</a:t>
            </a:r>
            <a:r>
              <a: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sp>
        <p:nvSpPr>
          <p:cNvPr id="13" name="limits">
            <a:extLst xmlns:a="http://schemas.openxmlformats.org/drawingml/2006/main">
              <a:ext uri="{FF2B5EF4-FFF2-40B4-BE49-F238E27FC236}">
                <a16:creationId xmlns:a16="http://schemas.microsoft.com/office/drawing/2014/main" id="{75366A62-17A6-4DC0-A900-26693AD7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15250"/>
            <a:ext cx="1341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局限：部分结论依赖单一设置，近期预印本较多，人工核验尚待完成。</a:t>
            </a:r>
          </a:p>
        </p:txBody>
      </p:sp>
    </p:spTree>
    <p:extLst>
      <p:ext uri="{BB962C8B-B14F-4D97-AF65-F5344CB8AC3E}">
        <p14:creationId xmlns:p14="http://schemas.microsoft.com/office/powerpoint/2010/main" val="545738080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5E4767-644D-40E7-904B-C63AD64E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小规模评估与失败案例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5D90513B-A147-4F92-B6EB-CED32827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7CB0F95-4497-4399-B7B4-55E068F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补充材料，不计入 8 分钟主讲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091F04-B013-4A9A-8381-4ADAA468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备份 1</a:t>
            </a:r>
          </a:p>
        </p:txBody>
      </p:sp>
      <p:sp>
        <p:nvSpPr>
          <p:cNvPr id="5" name="evaluation-scope">
            <a:extLst xmlns:a="http://schemas.openxmlformats.org/drawingml/2006/main">
              <a:ext uri="{FF2B5EF4-FFF2-40B4-BE49-F238E27FC236}">
                <a16:creationId xmlns:a16="http://schemas.microsoft.com/office/drawing/2014/main" id="{0E7E117C-285A-4DAE-80A4-1FA2FB41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341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12 个任务，覆盖会话恢复、失效记忆、不确定性保留与跨运行任务。</a:t>
            </a:r>
          </a:p>
        </p:txBody>
      </p:sp>
      <p:graphicFrame>
        <p:nvGraphicFramePr>
          <p:cNvPr id="6" name="表格 5">
            <a:extLst xmlns:a="http://schemas.openxmlformats.org/drawingml/2006/main">
              <a:ext uri="{FF2B5EF4-FFF2-40B4-BE49-F238E27FC236}">
                <a16:creationId xmlns:a16="http://schemas.microsoft.com/office/drawing/2014/main" id="{6DE70224-E99F-46CC-A6F8-008CBFAAC43A}"/>
              </a:ext>
            </a:extLst>
          </p:cNvPr>
          <p:cNvGraphicFramePr/>
          <p:nvPr/>
        </p:nvGraphicFramePr>
        <p:xfrm>
          <a:off xmlns:a="http://schemas.openxmlformats.org/drawingml/2006/main" x="914400" y="2790825"/>
          <a:ext xmlns:a="http://schemas.openxmlformats.org/drawingml/2006/main" cx="8477250" cy="303847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4000500"/>
                <a:gridCol w="1619250"/>
                <a:gridCol w="1428750"/>
                <a:gridCol w="1428750"/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当前成功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失败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待核验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无记忆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直接上下文注入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结构化持久记忆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6668" cmpd="sng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mpd="sng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bserved-capability">
            <a:extLst xmlns:a="http://schemas.openxmlformats.org/drawingml/2006/main">
              <a:ext uri="{FF2B5EF4-FFF2-40B4-BE49-F238E27FC236}">
                <a16:creationId xmlns:a16="http://schemas.microsoft.com/office/drawing/2014/main" id="{51A83DEB-CFF4-461D-A837-2D16C06F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76550"/>
            <a:ext cx="40576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已展示：跨运行状态恢复。</a:t>
            </a:r>
          </a:p>
        </p:txBody>
      </p:sp>
      <p:sp>
        <p:nvSpPr>
          <p:cNvPr id="8" name="observed-failure">
            <a:extLst xmlns:a="http://schemas.openxmlformats.org/drawingml/2006/main">
              <a:ext uri="{FF2B5EF4-FFF2-40B4-BE49-F238E27FC236}">
                <a16:creationId xmlns:a16="http://schemas.microsoft.com/office/drawing/2014/main" id="{0568D7AE-8987-4204-BE3D-14668F8E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57700"/>
            <a:ext cx="40576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仍有失败：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任务动作遗漏、过度确定。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69840CC6-70C3-46A5-9DB6-B7351125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0" name="no-superiority">
            <a:extLst xmlns:a="http://schemas.openxmlformats.org/drawingml/2006/main">
              <a:ext uri="{FF2B5EF4-FFF2-40B4-BE49-F238E27FC236}">
                <a16:creationId xmlns:a16="http://schemas.microsoft.com/office/drawing/2014/main" id="{5498DB7D-F5CE-4E45-872E-C148D252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96100"/>
            <a:ext cx="1341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本实验未显示结构化记忆优于直接上下文注入。</a:t>
            </a:r>
          </a:p>
        </p:txBody>
      </p:sp>
      <p:sp>
        <p:nvSpPr>
          <p:cNvPr id="11" name="score-limit">
            <a:extLst xmlns:a="http://schemas.openxmlformats.org/drawingml/2006/main">
              <a:ext uri="{FF2B5EF4-FFF2-40B4-BE49-F238E27FC236}">
                <a16:creationId xmlns:a16="http://schemas.microsoft.com/office/drawing/2014/main" id="{D7010DE4-77B5-40A3-9101-78223B58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53325"/>
            <a:ext cx="1341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语义判分仍待人工复核；小样本只用于展示能力与失败模式。</a:t>
            </a:r>
          </a:p>
        </p:txBody>
      </p:sp>
    </p:spTree>
    <p:extLst>
      <p:ext uri="{BB962C8B-B14F-4D97-AF65-F5344CB8AC3E}">
        <p14:creationId xmlns:p14="http://schemas.microsoft.com/office/powerpoint/2010/main" val="297196523"/>
      </p:ext>
    </p:extLst>
  </p:cSld>
</p:sld>
</file>

<file path=ppt/slides/slide1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2FB294-47C1-4824-BE6C-0BE752E3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真实核验案例：摘录存在，转述仍会出错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35354638-5123-4BCF-9529-04CC3940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EB4EFBF-2D8D-470C-9714-ACBE691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补充材料，不计入 8 分钟主讲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59B41EB-98FE-4794-A797-DCDE49AA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备份 2</a:t>
            </a:r>
          </a:p>
        </p:txBody>
      </p:sp>
      <p:sp>
        <p:nvSpPr>
          <p:cNvPr id="5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D4169038-EBF3-4162-8C16-61906CF1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19275"/>
            <a:ext cx="1341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论文原文中的防御效用代价</a:t>
            </a:r>
          </a:p>
        </p:txBody>
      </p:sp>
      <p:pic>
        <p:nvPicPr>
          <p:cNvPr id="6" name="图片 5">
            <a:extLst xmlns:a="http://schemas.openxmlformats.org/drawingml/2006/main">
              <a:ext uri="{FF2B5EF4-FFF2-40B4-BE49-F238E27FC236}">
                <a16:creationId xmlns:a16="http://schemas.microsoft.com/office/drawing/2014/main" id="{3F5AB4EE-1365-46B9-9B12-F139DEA92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51fa72ef94239"/>
          <a:stretch xmlns:a="http://schemas.openxmlformats.org/drawingml/2006/main"/>
        </p:blipFill>
        <p:spPr>
          <a:xfrm xmlns:a="http://schemas.openxmlformats.org/drawingml/2006/main">
            <a:off x="914400" y="2724536"/>
            <a:ext cx="7162800" cy="2513829"/>
          </a:xfrm>
          <a:prstGeom xmlns:a="http://schemas.openxmlformats.org/drawingml/2006/main" prst="rect">
            <a:avLst/>
          </a:prstGeom>
        </p:spPr>
      </p:pic>
      <p:sp>
        <p:nvSpPr>
          <p:cNvPr id="7" name="source-caption">
            <a:extLst xmlns:a="http://schemas.openxmlformats.org/drawingml/2006/main">
              <a:ext uri="{FF2B5EF4-FFF2-40B4-BE49-F238E27FC236}">
                <a16:creationId xmlns:a16="http://schemas.microsoft.com/office/drawing/2014/main" id="{A68C660E-7C36-4341-80FA-1416AFB2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716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arXiv:2609.22818，PDF 第 8 页，Table 3</a:t>
            </a:r>
          </a:p>
        </p:txBody>
      </p:sp>
      <p:sp>
        <p:nvSpPr>
          <p:cNvPr id="8" name="statistic">
            <a:extLst xmlns:a="http://schemas.openxmlformats.org/drawingml/2006/main">
              <a:ext uri="{FF2B5EF4-FFF2-40B4-BE49-F238E27FC236}">
                <a16:creationId xmlns:a16="http://schemas.microsoft.com/office/drawing/2014/main" id="{00BC3BA2-B6A0-4954-802A-2ED5F043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62675"/>
            <a:ext cx="716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−4.4 pp   [−9.0, −0.05]</a:t>
            </a:r>
          </a:p>
        </p:txBody>
      </p:sp>
      <p:sp>
        <p:nvSpPr>
          <p:cNvPr id="9" name="p-value">
            <a:extLst xmlns:a="http://schemas.openxmlformats.org/drawingml/2006/main">
              <a:ext uri="{FF2B5EF4-FFF2-40B4-BE49-F238E27FC236}">
                <a16:creationId xmlns:a16="http://schemas.microsoft.com/office/drawing/2014/main" id="{3BC44919-C4F3-4E3F-9599-959C7A84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716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95% bootstrap 区间；McNemar p = 0.064</a:t>
            </a:r>
          </a:p>
        </p:txBody>
      </p:sp>
      <p:sp>
        <p:nvSpPr>
          <p:cNvPr id="10" name="review-discovery">
            <a:extLst xmlns:a="http://schemas.openxmlformats.org/drawingml/2006/main">
              <a:ext uri="{FF2B5EF4-FFF2-40B4-BE49-F238E27FC236}">
                <a16:creationId xmlns:a16="http://schemas.microsoft.com/office/drawing/2014/main" id="{2365734E-B07D-4A3D-8FF1-B1CF1B1B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24150"/>
            <a:ext cx="55149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后续回查发现：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统计区间负号曾被误转述。</a:t>
            </a:r>
          </a:p>
        </p:txBody>
      </p:sp>
      <p:sp>
        <p:nvSpPr>
          <p:cNvPr id="11" name="why-semantic">
            <a:extLst xmlns:a="http://schemas.openxmlformats.org/drawingml/2006/main">
              <a:ext uri="{FF2B5EF4-FFF2-40B4-BE49-F238E27FC236}">
                <a16:creationId xmlns:a16="http://schemas.microsoft.com/office/drawing/2014/main" id="{5EB63300-9056-41AB-82BD-F9D02B4E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57700"/>
            <a:ext cx="55149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原文匹配检查摘录。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语义核验检查数值、条件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和统计解释是否准确。</a:t>
            </a:r>
          </a:p>
        </p:txBody>
      </p:sp>
      <p:sp>
        <p:nvSpPr>
          <p:cNvPr id="12" name="conditional-interpretation">
            <a:extLst xmlns:a="http://schemas.openxmlformats.org/drawingml/2006/main">
              <a:ext uri="{FF2B5EF4-FFF2-40B4-BE49-F238E27FC236}">
                <a16:creationId xmlns:a16="http://schemas.microsoft.com/office/drawing/2014/main" id="{F82DF086-ADDB-490E-B87D-D382FD56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638925"/>
            <a:ext cx="55149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区间上界接近零，且两种统计方法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的判断不同，应保留作者的谨慎解释。</a:t>
            </a:r>
          </a:p>
        </p:txBody>
      </p:sp>
    </p:spTree>
    <p:extLst>
      <p:ext uri="{BB962C8B-B14F-4D97-AF65-F5344CB8AC3E}">
        <p14:creationId xmlns:p14="http://schemas.microsoft.com/office/powerpoint/2010/main" val="1339860989"/>
      </p:ext>
    </p:extLst>
  </p:cSld>
</p:sld>
</file>

<file path=ppt/slides/slide1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FD9A58-A6CE-493C-AF4A-DB1474CA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阅读范围与精选参考文献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573F9F84-8E5F-4CDC-80B6-10D0501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140E1E9-4BF0-4A01-8043-3786F1C5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补充材料，不计入 8 分钟主讲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DA2D70-DC8C-4324-805E-F299B142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备份 3</a:t>
            </a:r>
          </a:p>
        </p:txBody>
      </p:sp>
      <p:sp>
        <p:nvSpPr>
          <p:cNvPr id="5" name="cutoff">
            <a:extLst xmlns:a="http://schemas.openxmlformats.org/drawingml/2006/main">
              <a:ext uri="{FF2B5EF4-FFF2-40B4-BE49-F238E27FC236}">
                <a16:creationId xmlns:a16="http://schemas.microsoft.com/office/drawing/2014/main" id="{2413E7B4-9884-48A3-B988-CBEA3C41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341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主检索截止日：2026-10-17。核心阅读池 40 篇，正文引用 39 篇。</a:t>
            </a:r>
          </a:p>
        </p:txBody>
      </p:sp>
      <p:sp>
        <p:nvSpPr>
          <p:cNvPr id="6" name="review-boundary">
            <a:extLst xmlns:a="http://schemas.openxmlformats.org/drawingml/2006/main">
              <a:ext uri="{FF2B5EF4-FFF2-40B4-BE49-F238E27FC236}">
                <a16:creationId xmlns:a16="http://schemas.microsoft.com/office/drawing/2014/main" id="{0F846975-30E7-4670-AB4C-B71365EA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341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范围：可写、可更新、跨会话的外部记忆；多模态工作仅在回答核心问题时纳入。</a:t>
            </a:r>
          </a:p>
        </p:txBody>
      </p:sp>
      <p:sp>
        <p:nvSpPr>
          <p:cNvPr id="7" name="reference-0">
            <a:extLst xmlns:a="http://schemas.openxmlformats.org/drawingml/2006/main">
              <a:ext uri="{FF2B5EF4-FFF2-40B4-BE49-F238E27FC236}">
                <a16:creationId xmlns:a16="http://schemas.microsoft.com/office/drawing/2014/main" id="{D0DE1353-D12B-40D3-8405-8BC75335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Park et al. (2023). Generative Agents: Interactive Simulacra of Human Behavior.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DOI: 10.1145/3586183.3606763</a:t>
            </a:r>
          </a:p>
        </p:txBody>
      </p:sp>
      <p:sp>
        <p:nvSpPr>
          <p:cNvPr id="8" name="reference-1">
            <a:extLst xmlns:a="http://schemas.openxmlformats.org/drawingml/2006/main">
              <a:ext uri="{FF2B5EF4-FFF2-40B4-BE49-F238E27FC236}">
                <a16:creationId xmlns:a16="http://schemas.microsoft.com/office/drawing/2014/main" id="{0B3F311C-A7C5-4EEA-93D3-9139A8C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Packer et al. (2023). MemGPT: Towards LLMs as Operating Systems.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arXiv:2310.08560</a:t>
            </a:r>
          </a:p>
        </p:txBody>
      </p:sp>
      <p:sp>
        <p:nvSpPr>
          <p:cNvPr id="9" name="reference-2">
            <a:extLst xmlns:a="http://schemas.openxmlformats.org/drawingml/2006/main">
              <a:ext uri="{FF2B5EF4-FFF2-40B4-BE49-F238E27FC236}">
                <a16:creationId xmlns:a16="http://schemas.microsoft.com/office/drawing/2014/main" id="{C7DB4564-6EFF-4C5E-BE0B-4DA22471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Zhao et al. (2024). ExpeL: LLM Agents Are Experiential Learners. AAAI.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DOI: 10.1609/aaai.v38i17.29936</a:t>
            </a:r>
          </a:p>
        </p:txBody>
      </p:sp>
      <p:sp>
        <p:nvSpPr>
          <p:cNvPr id="10" name="reference-3">
            <a:extLst xmlns:a="http://schemas.openxmlformats.org/drawingml/2006/main">
              <a:ext uri="{FF2B5EF4-FFF2-40B4-BE49-F238E27FC236}">
                <a16:creationId xmlns:a16="http://schemas.microsoft.com/office/drawing/2014/main" id="{D969BC01-E899-431B-BD05-A4590EFE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Yehia et al. (2026). Mem++: Non-Destructive Memory for Long-Term Organizational LLM Agents.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arXiv:2610.02002</a:t>
            </a:r>
          </a:p>
        </p:txBody>
      </p:sp>
      <p:sp>
        <p:nvSpPr>
          <p:cNvPr id="11" name="reference-4">
            <a:extLst xmlns:a="http://schemas.openxmlformats.org/drawingml/2006/main">
              <a:ext uri="{FF2B5EF4-FFF2-40B4-BE49-F238E27FC236}">
                <a16:creationId xmlns:a16="http://schemas.microsoft.com/office/drawing/2014/main" id="{8293BDC0-6B6B-441E-8223-118ECD90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10300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Wu et al. (2024). LongMemEval: Benchmarking Chat Assistants on Long-Term Interactive Memory.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arXiv:2410.10813</a:t>
            </a:r>
          </a:p>
        </p:txBody>
      </p:sp>
      <p:sp>
        <p:nvSpPr>
          <p:cNvPr id="12" name="reference-5">
            <a:extLst xmlns:a="http://schemas.openxmlformats.org/drawingml/2006/main">
              <a:ext uri="{FF2B5EF4-FFF2-40B4-BE49-F238E27FC236}">
                <a16:creationId xmlns:a16="http://schemas.microsoft.com/office/drawing/2014/main" id="{66B80DDA-1BD5-4D8F-BF22-334B2F9A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81825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Chen et al. (2025). HaluMem: Evaluating Hallucinations in Memory Systems of Agents.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arXiv:2511.03506</a:t>
            </a:r>
          </a:p>
        </p:txBody>
      </p:sp>
    </p:spTree>
    <p:extLst>
      <p:ext uri="{BB962C8B-B14F-4D97-AF65-F5344CB8AC3E}">
        <p14:creationId xmlns:p14="http://schemas.microsoft.com/office/powerpoint/2010/main" val="1333577761"/>
      </p:ext>
    </p:extLst>
  </p:cSld>
</p:sld>
</file>

<file path=ppt/theme/theme1.xml><?xml version="1.0" encoding="utf-8"?>
<a:theme xmlns:a="http://schemas.openxmlformats.org/drawingml/2006/main" name="ChatGPT">
  <a:themeElements>
    <a:clrScheme name="University Course">
      <a:dk1>
        <a:srgbClr val="000000"/>
      </a:dk1>
      <a:lt1>
        <a:srgbClr val="FFFFFF"/>
      </a:lt1>
      <a:dk2>
        <a:srgbClr val="1E2927"/>
      </a:dk2>
      <a:lt2>
        <a:srgbClr val="EFF3EF"/>
      </a:lt2>
      <a:accent1>
        <a:srgbClr val="087C71"/>
      </a:accent1>
      <a:accent2>
        <a:srgbClr val="B34F3D"/>
      </a:accent2>
      <a:accent3>
        <a:srgbClr val="B48B3D"/>
      </a:accent3>
      <a:accent4>
        <a:srgbClr val="5F7973"/>
      </a:accent4>
      <a:accent5>
        <a:srgbClr val="777969"/>
      </a:accent5>
      <a:accent6>
        <a:srgbClr val="A86659"/>
      </a:accent6>
      <a:hlink>
        <a:srgbClr val="087C71"/>
      </a:hlink>
      <a:folHlink>
        <a:srgbClr val="B34F3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University 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2026-10-20T14:43:58.7290000Z</dcterms:created>
  <dcterms:modified xsi:type="dcterms:W3CDTF">2026-10-20T14:43:58.7290000Z</dcterms:modified>
</coreProperties>
</file>