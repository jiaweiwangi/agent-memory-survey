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先生 刘" initials="先刘" lastIdx="6" clrIdx="0">
    <p:extLst>
      <p:ext uri="{19B8F6BF-5375-455C-9EA6-DF929625EA0E}">
        <p15:presenceInfo xmlns:p15="http://schemas.microsoft.com/office/powerpoint/2012/main" userId="051a333b569b6e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887" autoAdjust="0"/>
  </p:normalViewPr>
  <p:slideViewPr>
    <p:cSldViewPr snapToGrid="0">
      <p:cViewPr varScale="1">
        <p:scale>
          <a:sx n="49" d="100"/>
          <a:sy n="49" d="100"/>
        </p:scale>
        <p:origin x="5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8T23:51:12.391" idx="2">
    <p:pos x="3096" y="1070"/>
    <p:text>已做改动：在形式/更新/可靠性评测这几个词前加入“记忆"两字。理由：我自己读着更明白，更省脑子。</p:text>
    <p:extLst>
      <p:ext uri="{C676402C-5697-4E1C-873F-D02D1690AC5C}">
        <p15:threadingInfo xmlns:p15="http://schemas.microsoft.com/office/powerpoint/2012/main" timeZoneBias="-480"/>
      </p:ext>
    </p:extLst>
  </p:cm>
  <p:cm authorId="1" dt="2026-10-18T23:53:04.484" idx="3">
    <p:pos x="1925" y="1538"/>
    <p:text>建议：改为”一个易懂的例子是：“。理由：占在讲解者角度向听众说话，，感觉更自然。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9T00:15:56.775" idx="6">
    <p:pos x="4947" y="3680"/>
    <p:text>建议：改为”举个例子“。原因：”教学“例子感觉措辞不是在分享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9T00:05:22.407" idx="4">
    <p:pos x="1893" y="1079"/>
    <p:text>建议：改为”举一个虚构的例子：“。理由：在讲解者角度向听众说话，，感觉更自然。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主讲时段：0:00–0:35（35 秒）</a:t>
            </a:r>
          </a:p>
          <a:p>
            <a:endParaRPr dirty="0"/>
          </a:p>
          <a:p>
            <a:r>
              <a:rPr dirty="0"/>
              <a:t>先看一个课程作业场景。昨天，我们让助手记住综述范围和下一步任务；今天重新开始对话，只说“继续昨天的工作”。它需要知道昨天做到了哪里，还要分辨后来有没有修改要求。这是教学情境，并非系统的实验输出。我们综述的长期记忆，就是能跨会话保存、在后续任务中读取并更新的外部信息。课程作业有两项相连的任务：设计一个助手来完成综述，再梳理长期记忆研究。前四分钟先介绍助手，后四分钟介绍文献中的问题和进展。</a:t>
            </a:r>
          </a:p>
          <a:p>
            <a:endParaRPr dirty="0"/>
          </a:p>
          <a:p>
            <a:r>
              <a:rPr dirty="0" err="1"/>
              <a:t>来源与限定</a:t>
            </a:r>
            <a:r>
              <a:rPr dirty="0"/>
              <a:t>：</a:t>
            </a:r>
          </a:p>
          <a:p>
            <a:r>
              <a:rPr dirty="0"/>
              <a:t>ORIGINAL_TASK.md：三人小组，至少30篇文献；智能体4分钟、综述研究4分钟；工作流关注幻觉与人工验证。</a:t>
            </a:r>
          </a:p>
          <a:p>
            <a:r>
              <a:rPr dirty="0"/>
              <a:t>docs/</a:t>
            </a:r>
            <a:r>
              <a:rPr dirty="0" err="1"/>
              <a:t>protocol.md：本综述的跨会话可写外部记忆边界</a:t>
            </a:r>
            <a:r>
              <a:rPr dirty="0"/>
              <a:t>。</a:t>
            </a:r>
          </a:p>
          <a:p>
            <a:r>
              <a:rPr dirty="0" err="1"/>
              <a:t>页面中的跨天作业对话为教学情境，不是逐字运行记录</a:t>
            </a:r>
            <a:r>
              <a:rPr dirty="0"/>
              <a:t>。</a:t>
            </a:r>
          </a:p>
          <a:p>
            <a:r>
              <a:rPr dirty="0"/>
              <a:t>口径提醒：页面上“一个易懂的例子是：”后面那段跨天对话是虚构的教学情境，不是系统运行输出。若被追问，口头补一句“这是编的例子，不是实验数据”。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主讲时段：0:35–1:45（70 秒）</a:t>
            </a:r>
          </a:p>
          <a:p>
            <a:endParaRPr dirty="0"/>
          </a:p>
          <a:p>
            <a:r>
              <a:rPr dirty="0"/>
              <a:t>助手怎样把论文变成综述？我们让它先确定研究问题，再依次检索、去重、阅读原文、保存证据、形成陈述和组织草稿。关键是保留可检查的中间产物：论文身份、论文里的证据和我们综合后的判断，不能混成同一层。协调器会观察哪些问题的证据不足，再选择检索或回读工具。工具执行查询、版本归并、逐页提取和摘录检查。与此同时，研究范围、进度、证据和修改理由持久保存，下次可以从已有工作继续。更新保留历史，可以回查一个判断为何被修改。实际系统采用一个协调器加工具，批量环节也有脚本，并非多个智能体团队，也不声称整个研究过程都端到端自主完成。</a:t>
            </a:r>
          </a:p>
          <a:p>
            <a:endParaRPr dirty="0"/>
          </a:p>
          <a:p>
            <a:r>
              <a:rPr dirty="0" err="1"/>
              <a:t>来源与限定</a:t>
            </a:r>
            <a:r>
              <a:rPr dirty="0"/>
              <a:t>：</a:t>
            </a:r>
          </a:p>
          <a:p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litreview_agent</a:t>
            </a:r>
            <a:r>
              <a:rPr dirty="0"/>
              <a:t>/</a:t>
            </a:r>
            <a:r>
              <a:rPr dirty="0" err="1"/>
              <a:t>coordinator.py：一个协调器、自主工具选择</a:t>
            </a:r>
            <a:r>
              <a:rPr dirty="0"/>
              <a:t>。</a:t>
            </a:r>
          </a:p>
          <a:p>
            <a:r>
              <a:rPr dirty="0" err="1"/>
              <a:t>agent_report</a:t>
            </a:r>
            <a:r>
              <a:rPr dirty="0"/>
              <a:t>/</a:t>
            </a:r>
            <a:r>
              <a:rPr dirty="0" err="1"/>
              <a:t>main.tex：检索、去重、页级提取、证据与陈述、持久状态及批处理管线</a:t>
            </a:r>
            <a:r>
              <a:rPr dirty="0"/>
              <a:t>。</a:t>
            </a:r>
          </a:p>
          <a:p>
            <a:r>
              <a:rPr dirty="0" err="1"/>
              <a:t>流程图是系统实际工作环节的概括；不宣称所有环节均由自主协调器独立执行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主讲时段：1:45–2:50（65 秒）</a:t>
            </a:r>
          </a:p>
          <a:p>
            <a:endParaRPr/>
          </a:p>
          <a:p>
            <a:r>
              <a:t>这两条真实记录说明协调器什么时候需要自己决定。第一条是证据不足：它观察到研究边界和评测问题的覆盖不够，自主选择七条补充检索查询，而不是只把预先固定的步骤执行一遍。其中一类查询关注长期记忆与上下文、RAG、参数知识的边界。补检结果进入后续阅读和取证流程，但我们不据此声称所有缺口已自动解决。第二条是工具不足：当时工具不能枚举已有证据编号，协调器没有编造编号来完成输出，而是报告无法合规完成，并指出工具缺口。这里的自主性既是根据当前状态选择下一步，也是知道什么时候不能继续补写。页面内容是日志概述，不是仿造的聊天截图或逐字引文。</a:t>
            </a:r>
          </a:p>
          <a:p>
            <a:endParaRPr/>
          </a:p>
          <a:p>
            <a:r>
              <a:t>来源与限定：</a:t>
            </a:r>
          </a:p>
          <a:p>
            <a:r>
              <a:t>agent_report/main.tex：“缺口驱动补检”“诚实失败”；runs/中的对应协调器日志。</a:t>
            </a:r>
          </a:p>
          <a:p>
            <a:r>
              <a:t>查询示例原文：memory vs context window RAG parametric knowledge。</a:t>
            </a:r>
          </a:p>
          <a:p>
            <a:r>
              <a:t>两例均为实际运行行为的概述；不将后续工具改进误写为当时已具备的能力。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主讲时段：2:50–4:00（70 秒）</a:t>
            </a:r>
          </a:p>
          <a:p>
            <a:endParaRPr/>
          </a:p>
          <a:p>
            <a:r>
              <a:t>有原文不等于结论就正确。我们把论文版本、页码和摘录保存在原文层，把实验条件与局限保存在证据记录层，再让综述陈述关联支持它的证据。程序可以检查摘录是否与指定页面连续匹配，空白和版式连字符会先做归一化，但程序无法据此确认所有解释。例如，“在某个设置下有效”不能直接写成“所有任务都有效”。人工要复核原文是否支持解释，数字、比较对象和适用条件是否准确。有效状态与核验状态分开：记录仍在使用，不代表已经人工确认。现在有40篇核心文献、39篇正文引用和143条有效核心证据，但人工签字核验尚未完成。我们自己的助手需要保存进度，也遇到旧记录和未经核验陈述的问题。接下来回到文献：研究者如何组织记忆、处理变化，并判断它是否可靠？</a:t>
            </a:r>
          </a:p>
          <a:p>
            <a:endParaRPr/>
          </a:p>
          <a:p>
            <a:r>
              <a:t>来源与限定：</a:t>
            </a:r>
          </a:p>
          <a:p>
            <a:r>
              <a:t>agent_report/main.tex：连续原文匹配；validity与trust状态分开，修订保留历史。</a:t>
            </a:r>
          </a:p>
          <a:p>
            <a:r>
              <a:t>paper/main.tex、核心阅读池及当前证据记录：40/39/143统计口径。</a:t>
            </a:r>
          </a:p>
          <a:p>
            <a:r>
              <a:t>教学例子用于解释概括范围，不是某条实验输出。</a:t>
            </a:r>
          </a:p>
          <a:p>
            <a:r>
              <a:t>人工签字核验仍待完成；模型复核与自动检查不冒充小组成员人工签字。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主讲时段：4:00–4:35（35 秒）</a:t>
            </a:r>
          </a:p>
          <a:p>
            <a:endParaRPr/>
          </a:p>
          <a:p>
            <a:r>
              <a:t>我们把五个正式研究问题归并成课堂上便于理解的三类。第一是组织，过去的信息存成什么形式，之后怎样找回；第二是更新，新信息到来后，旧信息如何处理；第三是评测，答对一次是否足以说明长期可靠。这是汇报中的归并，没有改动研究协议。研究范围仍然是可写、可更新、跨会话的外部记忆。长上下文、静态知识检索和参数知识作为相关机制对照，这些技术可以与外部记忆组合。</a:t>
            </a:r>
          </a:p>
          <a:p>
            <a:endParaRPr/>
          </a:p>
          <a:p>
            <a:r>
              <a:t>来源与限定：</a:t>
            </a:r>
          </a:p>
          <a:p>
            <a:r>
              <a:t>docs/protocol.md：RQ1概念边界、RQ2组织使用、RQ3更新、RQ4可靠性、RQ5评测。</a:t>
            </a:r>
          </a:p>
          <a:p>
            <a:r>
              <a:t>课堂归并：组织对应RQ2，更新对应RQ3，评测讨论RQ4与RQ5；RQ1在范围说明中交代。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主讲时段：4:35–5:40（65 秒）</a:t>
            </a:r>
          </a:p>
          <a:p>
            <a:endParaRPr dirty="0"/>
          </a:p>
          <a:p>
            <a:r>
              <a:rPr dirty="0" err="1"/>
              <a:t>先看研究者选择记住什么。Generative</a:t>
            </a:r>
            <a:r>
              <a:rPr dirty="0"/>
              <a:t> Agents保存经历和事件，通过检索与反思形成高层信息。MemGPT关注工作上下文和外部存储之间的管理，让系统决定何时读取和写入。Reflexion和ExpeL则把任务反馈与经历提炼成后续经验。可以借课程作业理解差别：经历可能是“上次读到了论文哪一页”，经验可能是“核对数字要回原表”，这里只是解释概念的教学例子。这些工作构成早期并行路线，并非相互替代的三个时代。后续工作继续扩展：A-Mem探索关联笔记，Zep采用时序图，MemBuilder研究学习式构建。表示形式不同并不自动意味着谁更好，效果还取决于任务、检索和资源条件，因此我们不把不同论文的分数放成一个排行榜。</a:t>
            </a:r>
          </a:p>
          <a:p>
            <a:endParaRPr dirty="0"/>
          </a:p>
          <a:p>
            <a:r>
              <a:rPr dirty="0" err="1"/>
              <a:t>来源与限定</a:t>
            </a:r>
            <a:r>
              <a:rPr dirty="0"/>
              <a:t>：</a:t>
            </a:r>
          </a:p>
          <a:p>
            <a:r>
              <a:rPr dirty="0"/>
              <a:t>Park et al. (2023). Generative Agents: Interactive Simulacra of Human Behavior. DOI:10.1145/3586183.3606763。W0001。</a:t>
            </a:r>
          </a:p>
          <a:p>
            <a:r>
              <a:rPr dirty="0"/>
              <a:t>Packer et al. (2023). </a:t>
            </a:r>
            <a:r>
              <a:rPr dirty="0" err="1"/>
              <a:t>MemGPT</a:t>
            </a:r>
            <a:r>
              <a:rPr dirty="0"/>
              <a:t>: Towards LLMs as Operating Systems. arXiv:2310.08560。W0002。</a:t>
            </a:r>
          </a:p>
          <a:p>
            <a:r>
              <a:rPr dirty="0"/>
              <a:t>Shinn et al. (2023). </a:t>
            </a:r>
            <a:r>
              <a:rPr dirty="0" err="1"/>
              <a:t>Reflexion</a:t>
            </a:r>
            <a:r>
              <a:rPr dirty="0"/>
              <a:t>: Language Agents with Verbal Reinforcement Learning. arXiv:2303.11366。W0004。</a:t>
            </a:r>
          </a:p>
          <a:p>
            <a:r>
              <a:rPr dirty="0"/>
              <a:t>Zhao et al. (2024). </a:t>
            </a:r>
            <a:r>
              <a:rPr dirty="0" err="1"/>
              <a:t>ExpeL</a:t>
            </a:r>
            <a:r>
              <a:rPr dirty="0"/>
              <a:t>: LLM Agents Are Experiential Learners. AAAI. DOI:10.1609/aaai.v38i17.29936。W0618。</a:t>
            </a:r>
          </a:p>
          <a:p>
            <a:r>
              <a:rPr dirty="0"/>
              <a:t>Xu et al. (2025). A-Mem. arXiv:2502.12110；Rasmussen et al. (2025). Zep. arXiv:2501.13956；Shen et al. (2026). </a:t>
            </a:r>
            <a:r>
              <a:rPr dirty="0" err="1"/>
              <a:t>MemBuilder</a:t>
            </a:r>
            <a:r>
              <a:rPr dirty="0"/>
              <a:t>。</a:t>
            </a:r>
          </a:p>
          <a:p>
            <a:r>
              <a:rPr dirty="0" err="1"/>
              <a:t>图示解释机制，不表示所有系统只有图中两个步骤，也不建立未经证据确认的继承谱系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主讲时段：5:40–6:35（55 秒）</a:t>
            </a:r>
          </a:p>
          <a:p>
            <a:endParaRPr/>
          </a:p>
          <a:p>
            <a:r>
              <a:t>看一个简单的课程通知。第一次说周五提交，之后改成下周一。现在问什么时候交，需要最新有效的信息；问最初通知哪天交，仍然需要历史版本。因此更新不只是把新句子追加到旧句子旁边，过时也不等于历史上没有发生过。文献提供了不同处理思路：Mem++保留版本并按时间检索，SodaMem标记旧事实失效，REALM把插入、合并与遗忘放进整合过程。这些是代表思路，不是互斥或穷尽的分类。删除有节省成本的动机，也有误删有用信息的风险。如果两个来源冲突，时间更新并不自动说明来源更可信，所以更新还需要保留来源与适用条件。</a:t>
            </a:r>
          </a:p>
          <a:p>
            <a:endParaRPr/>
          </a:p>
          <a:p>
            <a:r>
              <a:t>来源与限定：</a:t>
            </a:r>
          </a:p>
          <a:p>
            <a:r>
              <a:t>Yehia et al. (2026). Mem++: Non-Destructive Memory for Long-Term Organizational LLM Agents. arXiv:2610.02002。W0028。</a:t>
            </a:r>
          </a:p>
          <a:p>
            <a:r>
              <a:t>Wan et al. (2026). SodaMem: Evidence-Grounded Temporal Graph Memory for LLM Agents. arXiv:2608.08055。W0222。</a:t>
            </a:r>
          </a:p>
          <a:p>
            <a:r>
              <a:t>Song et al. (2026). Retrieval-Driven Memory Reconsolidation for Long-Term LLM Agents. arXiv:2609.16053。W0012。</a:t>
            </a:r>
          </a:p>
          <a:p>
            <a:r>
              <a:t>课程通知与问题答案均为教学情境，不是这些论文的数据集或我们系统的实测输出。</a:t>
            </a:r>
          </a:p>
          <a:p>
            <a:r>
              <a:t>遗忘代价的条件性案例见W0034；不从单次剪枝推出普遍有效或低成本结论。</a:t>
            </a:r>
          </a:p>
          <a:p>
            <a:r>
              <a:t>口径提醒：页面上“举一个虚构的例子：”后面讲的周五／下周一通知是虚构的教学情境，不是这些论文的数据集，也不是我们系统的实测输出。若被追问，口头补一句“这是编的例子，不是实验数据”。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主讲时段：6:35–7:30（55 秒）</a:t>
            </a:r>
          </a:p>
          <a:p>
            <a:endParaRPr/>
          </a:p>
          <a:p>
            <a:r>
              <a:t>不同基准测量的对象并不完全一样。LoCoMo关注长对话中的记忆，LongMemEval把知识更新和弃答纳入五类能力，HaluMem进一步区分错误出在抽取、更新还是问答。因此不能说现有研究完全没有更新评测。最终答案是否正确，以及错误发生在哪个环节，是两个不同问题。比较方法时还需要对齐回答模型、输入证据、检索预算和评分方式。成本也不只是存储，还包括写入、检索与更新；安全过滤可能同时损害正常信息可用性。我们综合认为，持续多轮更新中的错误和代价，仍需要更可比较的评测。</a:t>
            </a:r>
          </a:p>
          <a:p>
            <a:endParaRPr/>
          </a:p>
          <a:p>
            <a:r>
              <a:t>来源与限定：</a:t>
            </a:r>
          </a:p>
          <a:p>
            <a:r>
              <a:t>Maharana et al. (2024). Evaluating Very Long-Term Conversational Memory of LLM Agents. ACL. DOI:10.18653/v1/2024.acl-long.747。LoCoMo，W0005。</a:t>
            </a:r>
          </a:p>
          <a:p>
            <a:r>
              <a:t>Wu et al. LongMemEval: Benchmarking Chat Assistants on Long-Term Interactive Memory. arXiv:2410.10813。W0006。</a:t>
            </a:r>
          </a:p>
          <a:p>
            <a:r>
              <a:t>Chen et al. (2025). HaluMem: Evaluating Hallucinations in Memory Systems of Agents. arXiv:2511.03506。W0261。</a:t>
            </a:r>
          </a:p>
          <a:p>
            <a:r>
              <a:t>本组综合：持续更新、错误归因、条件可比性和成本报告。并非宣称已有基准完全不覆盖这些能力。</a:t>
            </a:r>
          </a:p>
          <a:p>
            <a:r>
              <a:t>下方三阶段图用于说明操作级诊断，不是将所有系统限定为三个步骤。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主讲时段：7:30–8:00（30 秒）</a:t>
            </a:r>
          </a:p>
          <a:p>
            <a:endParaRPr/>
          </a:p>
          <a:p>
            <a:r>
              <a:t>最后回到三个认识。组织形式应当适配任务，不能只凭结构复杂度判断效果。更新需要同时处理当前事实、历史版本和来源。评测需要结合任务表现、更新正确性、可靠性和成本。对学术写作而言，我们的收获是区分论文报告的结果与本组综合，并让重要判断能够回到证据。部分结论仍依赖单一设置，关键证据还需要完成小组成员的人工核验。谢谢。</a:t>
            </a:r>
          </a:p>
          <a:p>
            <a:endParaRPr/>
          </a:p>
          <a:p>
            <a:r>
              <a:t>来源与限定：</a:t>
            </a:r>
          </a:p>
          <a:p>
            <a:r>
              <a:t>本页是本组跨文献综合，不是某一篇论文的原文结论。</a:t>
            </a:r>
          </a:p>
          <a:p>
            <a:r>
              <a:t>主要依据：W0001、W0002、W0028、W0222、W0261、W0034，以及防御效用代价的W0076/W0312。</a:t>
            </a:r>
          </a:p>
          <a:p>
            <a:r>
              <a:t>ORIGINAL_TASK.md：回扣学术写作课程中综述、研究脉络与人工验证的要求。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备份页，不计入主讲时间</a:t>
            </a:r>
          </a:p>
          <a:p>
            <a:endParaRPr/>
          </a:p>
          <a:p>
            <a:r>
              <a:t>用于回答“系统是否做过测试”。每种配置12个任务，共36次输出。当前三态结果为2/10/0、11/0/1、9/3/0。前三类任务语义评分来自智能体侧审计，仍需人工复核；M4-03/B为显式待核验。跨运行任务采用真实两阶段过程，在第一阶段持久化后，由新实例恢复第二阶段。其中M4-02展示持久化恢复有效。C条件的失败包括动作遗漏与过度确定，不能声称优于直接上下文。</a:t>
            </a:r>
          </a:p>
          <a:p>
            <a:endParaRPr/>
          </a:p>
          <a:p>
            <a:r>
              <a:t>来源与限定：</a:t>
            </a:r>
          </a:p>
          <a:p>
            <a:r>
              <a:t>evaluation/report.md，v6；evaluation/results.jsonl；evaluation/rubric.md。</a:t>
            </a:r>
          </a:p>
          <a:p>
            <a:r>
              <a:t>每行成功、失败、待核验之和均为12；结果不是人工核验完成后的准确率。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备份页，不计入主讲时间</a:t>
            </a:r>
          </a:p>
          <a:p>
            <a:endParaRPr/>
          </a:p>
          <a:p>
            <a:r>
              <a:t>用于回答“为什么自动摘录验证还不够”。W0312采用良性LoCoMo流量，五段对话、每种条件三次重复，后端、检索和判断器保持一致。Rerank准确率变化为−4.4个百分点，bootstrap 95%区间[−9.0,−0.05]，McNemar p=.064。区间仅略排除零，而另一检验未达.05，作者将准确率变化解释为统计分辨率边缘。后续回查修正了转述中的区间负号，不能把发现此问题归功于自动摘录匹配。该实验也不能直接推断攻击场景下的收益。</a:t>
            </a:r>
          </a:p>
          <a:p>
            <a:endParaRPr/>
          </a:p>
          <a:p>
            <a:r>
              <a:t>来源与限定：</a:t>
            </a:r>
          </a:p>
          <a:p>
            <a:r>
              <a:t>sources/2609.22818.pdf，第8页Table 3、第9页解释；W0312。</a:t>
            </a:r>
          </a:p>
          <a:p>
            <a:r>
              <a:t>paper/sections/update_reliability.tex：经修正的数值、条件与谨慎解释。</a:t>
            </a:r>
          </a:p>
          <a:p>
            <a:r>
              <a:t>截图为真实原始表格，中文解释可编辑。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备份页，不计入主讲时间</a:t>
            </a:r>
          </a:p>
          <a:p>
            <a:endParaRPr/>
          </a:p>
          <a:p>
            <a:r>
              <a:t>主检索范围与文献选择以冻结协议为准。主检索截止日为2026年10月17日；后续新增应单独记录。页面展示精选参考文献，完整文献见论文参考文献部分。ExpeL这里采用项目bibliography中的AAAI 2024年份；LongMemEval采用arXiv 2024记录。选取这些论文用于回答不同问题，不代表它们构成统一的性能排名。</a:t>
            </a:r>
          </a:p>
          <a:p>
            <a:endParaRPr/>
          </a:p>
          <a:p>
            <a:r>
              <a:t>来源与限定：</a:t>
            </a:r>
          </a:p>
          <a:p>
            <a:r>
              <a:t>docs/protocol.md，第2节：主检索截止日；第11节修正案：模态边界。</a:t>
            </a:r>
          </a:p>
          <a:p>
            <a:r>
              <a:t>paper/references.bib、paper/main.tex。</a:t>
            </a:r>
          </a:p>
          <a:p>
            <a:r>
              <a:t>近期预印本的研究状态与条件限制应在引用时保留。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1615BEA-6083-4371-928E-240C20B8F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6DC0143-0403-45E2-80B3-FBAD55AC3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3AA4E80-539C-403E-AE16-EC6D6602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3082B2A-32DC-4083-B8FC-419D5AFA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1EDC6F0-26C5-4A4C-AEAC-669D07A85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60C5E9E-B8D9-44D9-A4C0-F0A313045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558B7DF-F9E4-4FD5-9CF4-64103F993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DFB25C1-9C31-4214-A1D9-BA1EAE4EFF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3D9E0B-9067-4D66-89E6-58EFA446E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A94C5D3-779C-4CEF-961E-5C92696F1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41EA39B-8ADE-402F-AB61-D9FCFEFEDC43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8648700" y="4386263"/>
            <a:ext cx="371475" cy="14288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D852E3A-BC7C-4A29-8424-C5A65C5CF291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6324600" y="4386263"/>
            <a:ext cx="390525" cy="14288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sp>
        <p:nvSpPr>
          <p:cNvPr id="19" name="slide-title">
            <a:extLst>
              <a:ext uri="{FF2B5EF4-FFF2-40B4-BE49-F238E27FC236}">
                <a16:creationId xmlns:a16="http://schemas.microsoft.com/office/drawing/2014/main" id="{00C3A6F8-9015-4758-BA73-A70B91EFB814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如果明天继续，它还记得什么？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40423E69-46F3-4BD7-8E69-6F49FA918FB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8B21386-F359-4795-BBF7-24536A65E48E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学术写作课程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D824A5A-7F8A-47D4-AD20-BA4151A37EF3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topic">
            <a:extLst>
              <a:ext uri="{FF2B5EF4-FFF2-40B4-BE49-F238E27FC236}">
                <a16:creationId xmlns:a16="http://schemas.microsoft.com/office/drawing/2014/main" id="{18507090-6A79-4EE2-9C14-CA1A69170839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13411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 dirty="0" err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大模型智能体的长期记忆</a:t>
            </a:r>
            <a:r>
              <a:rPr sz="2250" b="0" dirty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lang="zh-CN" altLang="en-US" sz="2250" b="0" dirty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记忆形式</a:t>
            </a:r>
            <a:r>
              <a:rPr sz="2250" b="0" dirty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lang="zh-CN" altLang="en-US" sz="2250" b="0" dirty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记忆</a:t>
            </a:r>
            <a:r>
              <a:rPr sz="2250" b="0" dirty="0" err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更新与</a:t>
            </a:r>
            <a:r>
              <a:rPr lang="zh-CN" altLang="en-US" sz="2250" b="0" dirty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记忆</a:t>
            </a:r>
            <a:r>
              <a:rPr sz="2250" b="0" dirty="0" err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可靠性评测综述</a:t>
            </a:r>
            <a:endParaRPr sz="2250" b="0" dirty="0">
              <a:solidFill>
                <a:srgbClr val="087C71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example-disclosure">
            <a:extLst>
              <a:ext uri="{FF2B5EF4-FFF2-40B4-BE49-F238E27FC236}">
                <a16:creationId xmlns:a16="http://schemas.microsoft.com/office/drawing/2014/main" id="{F413E994-1C0D-449B-B093-93C5C8C1A914}"/>
              </a:ext>
            </a:extLst>
          </p:cNvPr>
          <p:cNvSpPr>
            <a:spLocks noGrp="1"/>
          </p:cNvSpPr>
          <p:nvPr/>
        </p:nvSpPr>
        <p:spPr>
          <a:xfrm>
            <a:off x="914400" y="2447925"/>
            <a:ext cx="13411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dirty="0" err="1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一个易懂的例子是：</a:t>
            </a:r>
            <a:endParaRPr sz="1650" b="0" dirty="0">
              <a:solidFill>
                <a:srgbClr val="5B696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yesterday-label">
            <a:extLst>
              <a:ext uri="{FF2B5EF4-FFF2-40B4-BE49-F238E27FC236}">
                <a16:creationId xmlns:a16="http://schemas.microsoft.com/office/drawing/2014/main" id="{A48B262C-4EDC-4D01-88DB-6AEA84355D08}"/>
              </a:ext>
            </a:extLst>
          </p:cNvPr>
          <p:cNvSpPr>
            <a:spLocks noGrp="1"/>
          </p:cNvSpPr>
          <p:nvPr/>
        </p:nvSpPr>
        <p:spPr>
          <a:xfrm>
            <a:off x="914400" y="3086100"/>
            <a:ext cx="6000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昨天</a:t>
            </a:r>
          </a:p>
        </p:txBody>
      </p:sp>
      <p:sp>
        <p:nvSpPr>
          <p:cNvPr id="8" name="yesterday-text">
            <a:extLst>
              <a:ext uri="{FF2B5EF4-FFF2-40B4-BE49-F238E27FC236}">
                <a16:creationId xmlns:a16="http://schemas.microsoft.com/office/drawing/2014/main" id="{6804EA0F-634D-4138-8721-4BA50867C65B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585787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“综述只讨论文本任务。</a:t>
            </a:r>
          </a:p>
          <a:p>
            <a: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下一步补读更新机制。”</a:t>
            </a:r>
          </a:p>
        </p:txBody>
      </p:sp>
      <p:sp>
        <p:nvSpPr>
          <p:cNvPr id="9" name="today-label">
            <a:extLst>
              <a:ext uri="{FF2B5EF4-FFF2-40B4-BE49-F238E27FC236}">
                <a16:creationId xmlns:a16="http://schemas.microsoft.com/office/drawing/2014/main" id="{23D72A62-219C-4084-938C-47070984D2FE}"/>
              </a:ext>
            </a:extLst>
          </p:cNvPr>
          <p:cNvSpPr>
            <a:spLocks noGrp="1"/>
          </p:cNvSpPr>
          <p:nvPr/>
        </p:nvSpPr>
        <p:spPr>
          <a:xfrm>
            <a:off x="9172575" y="3086100"/>
            <a:ext cx="51530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今天，重新开始对话</a:t>
            </a:r>
          </a:p>
        </p:txBody>
      </p:sp>
      <p:sp>
        <p:nvSpPr>
          <p:cNvPr id="10" name="today-text">
            <a:extLst>
              <a:ext uri="{FF2B5EF4-FFF2-40B4-BE49-F238E27FC236}">
                <a16:creationId xmlns:a16="http://schemas.microsoft.com/office/drawing/2014/main" id="{9A9BFADF-02EB-40DE-8C6A-2B67BFCB47D6}"/>
              </a:ext>
            </a:extLst>
          </p:cNvPr>
          <p:cNvSpPr>
            <a:spLocks noGrp="1"/>
          </p:cNvSpPr>
          <p:nvPr/>
        </p:nvSpPr>
        <p:spPr>
          <a:xfrm>
            <a:off x="9172575" y="3829050"/>
            <a:ext cx="515302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“继续昨天的工作。”</a:t>
            </a:r>
          </a:p>
        </p:txBody>
      </p:sp>
      <p:sp>
        <p:nvSpPr>
          <p:cNvPr id="11" name="external-note">
            <a:extLst>
              <a:ext uri="{FF2B5EF4-FFF2-40B4-BE49-F238E27FC236}">
                <a16:creationId xmlns:a16="http://schemas.microsoft.com/office/drawing/2014/main" id="{EBFF8FA6-2B77-4FE4-A9BC-F658A2D920AD}"/>
              </a:ext>
            </a:extLst>
          </p:cNvPr>
          <p:cNvSpPr>
            <a:spLocks noGrp="1"/>
          </p:cNvSpPr>
          <p:nvPr/>
        </p:nvSpPr>
        <p:spPr>
          <a:xfrm>
            <a:off x="6715125" y="3876675"/>
            <a:ext cx="1933575" cy="104775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研究记录</a:t>
            </a:r>
          </a:p>
        </p:txBody>
      </p:sp>
      <p:sp>
        <p:nvSpPr>
          <p:cNvPr id="12" name="left-anchor">
            <a:extLst>
              <a:ext uri="{FF2B5EF4-FFF2-40B4-BE49-F238E27FC236}">
                <a16:creationId xmlns:a16="http://schemas.microsoft.com/office/drawing/2014/main" id="{BDE8EAB2-6314-4852-AE19-1AC4C0F77B8A}"/>
              </a:ext>
            </a:extLst>
          </p:cNvPr>
          <p:cNvSpPr>
            <a:spLocks noGrp="1"/>
          </p:cNvSpPr>
          <p:nvPr/>
        </p:nvSpPr>
        <p:spPr>
          <a:xfrm>
            <a:off x="6315075" y="4381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" name="right-anchor">
            <a:extLst>
              <a:ext uri="{FF2B5EF4-FFF2-40B4-BE49-F238E27FC236}">
                <a16:creationId xmlns:a16="http://schemas.microsoft.com/office/drawing/2014/main" id="{324D9050-413E-4AE4-9B8D-04DA5DC40B44}"/>
              </a:ext>
            </a:extLst>
          </p:cNvPr>
          <p:cNvSpPr>
            <a:spLocks noGrp="1"/>
          </p:cNvSpPr>
          <p:nvPr/>
        </p:nvSpPr>
        <p:spPr>
          <a:xfrm>
            <a:off x="9020175" y="4381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C26BF683-FB0B-400E-90D8-77EB36D03644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7" name="definition">
            <a:extLst>
              <a:ext uri="{FF2B5EF4-FFF2-40B4-BE49-F238E27FC236}">
                <a16:creationId xmlns:a16="http://schemas.microsoft.com/office/drawing/2014/main" id="{8574602A-D8C7-47F9-97AE-D62B0E68CE9C}"/>
              </a:ext>
            </a:extLst>
          </p:cNvPr>
          <p:cNvSpPr>
            <a:spLocks noGrp="1"/>
          </p:cNvSpPr>
          <p:nvPr/>
        </p:nvSpPr>
        <p:spPr>
          <a:xfrm>
            <a:off x="914400" y="6200775"/>
            <a:ext cx="134112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本文关注的长期记忆：</a:t>
            </a:r>
          </a:p>
          <a:p>
            <a:pPr algn="l">
              <a:def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可以跨会话保存，并在后续任务中读取、更新的外部信息。</a:t>
            </a:r>
          </a:p>
        </p:txBody>
      </p:sp>
      <p:sp>
        <p:nvSpPr>
          <p:cNvPr id="18" name="two-deliverables">
            <a:extLst>
              <a:ext uri="{FF2B5EF4-FFF2-40B4-BE49-F238E27FC236}">
                <a16:creationId xmlns:a16="http://schemas.microsoft.com/office/drawing/2014/main" id="{6F089AC3-100A-4449-95E5-99E53DC709DD}"/>
              </a:ext>
            </a:extLst>
          </p:cNvPr>
          <p:cNvSpPr>
            <a:spLocks noGrp="1"/>
          </p:cNvSpPr>
          <p:nvPr/>
        </p:nvSpPr>
        <p:spPr>
          <a:xfrm>
            <a:off x="914400" y="7486650"/>
            <a:ext cx="134112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我们做了两件事：设计综述助手；梳理长期记忆研究。</a:t>
            </a:r>
          </a:p>
        </p:txBody>
      </p:sp>
    </p:spTree>
    <p:extLst>
      <p:ext uri="{BB962C8B-B14F-4D97-AF65-F5344CB8AC3E}">
        <p14:creationId xmlns:p14="http://schemas.microsoft.com/office/powerpoint/2010/main" val="120148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2CA2D61-AF30-44DA-851A-BD9357287501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11563350" y="4029075"/>
            <a:ext cx="400050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53C9031-0919-4897-A55A-A694457A48E0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8801100" y="4029075"/>
            <a:ext cx="400050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6093474-4873-4D0C-AD94-A72ED5AE453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6038850" y="4029075"/>
            <a:ext cx="400050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6D09B6B-C02E-41CD-B390-CD8629CDF72E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276600" y="4029075"/>
            <a:ext cx="400050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sp>
        <p:nvSpPr>
          <p:cNvPr id="27" name="slide-title">
            <a:extLst>
              <a:ext uri="{FF2B5EF4-FFF2-40B4-BE49-F238E27FC236}">
                <a16:creationId xmlns:a16="http://schemas.microsoft.com/office/drawing/2014/main" id="{9BF5F547-68B4-43BE-A6F1-EB401705F343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让助手沿着证据完成综述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F2CEBAE-93A1-458F-8322-9F8943074F0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91569DCB-C760-469F-BD85-F21BDB7BC24C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DBBB0C7-BB48-4B73-BD62-E5A14C67CA2F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research-start">
            <a:extLst>
              <a:ext uri="{FF2B5EF4-FFF2-40B4-BE49-F238E27FC236}">
                <a16:creationId xmlns:a16="http://schemas.microsoft.com/office/drawing/2014/main" id="{92002747-002B-432A-8840-8098215F3050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13411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从研究问题出发</a:t>
            </a:r>
          </a:p>
        </p:txBody>
      </p:sp>
      <p:sp>
        <p:nvSpPr>
          <p:cNvPr id="6" name="coordinator">
            <a:extLst>
              <a:ext uri="{FF2B5EF4-FFF2-40B4-BE49-F238E27FC236}">
                <a16:creationId xmlns:a16="http://schemas.microsoft.com/office/drawing/2014/main" id="{2455EAF4-F924-483F-80D7-B38FAA9E893A}"/>
              </a:ext>
            </a:extLst>
          </p:cNvPr>
          <p:cNvSpPr>
            <a:spLocks noGrp="1"/>
          </p:cNvSpPr>
          <p:nvPr/>
        </p:nvSpPr>
        <p:spPr>
          <a:xfrm>
            <a:off x="914400" y="2562225"/>
            <a:ext cx="13411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协调器决定下一步：哪里缺证据？继续检索，还是回读原文？</a:t>
            </a:r>
          </a:p>
        </p:txBody>
      </p:sp>
      <p:sp>
        <p:nvSpPr>
          <p:cNvPr id="7" name="evidence-flow-0">
            <a:extLst>
              <a:ext uri="{FF2B5EF4-FFF2-40B4-BE49-F238E27FC236}">
                <a16:creationId xmlns:a16="http://schemas.microsoft.com/office/drawing/2014/main" id="{2A21EFD8-92A7-45F4-95A9-A47CD816D9A6}"/>
              </a:ext>
            </a:extLst>
          </p:cNvPr>
          <p:cNvSpPr>
            <a:spLocks noGrp="1"/>
          </p:cNvSpPr>
          <p:nvPr/>
        </p:nvSpPr>
        <p:spPr>
          <a:xfrm>
            <a:off x="914400" y="3609975"/>
            <a:ext cx="2362200" cy="8382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检索与去重</a:t>
            </a:r>
          </a:p>
        </p:txBody>
      </p:sp>
      <p:sp>
        <p:nvSpPr>
          <p:cNvPr id="8" name="flow-detail-0">
            <a:extLst>
              <a:ext uri="{FF2B5EF4-FFF2-40B4-BE49-F238E27FC236}">
                <a16:creationId xmlns:a16="http://schemas.microsoft.com/office/drawing/2014/main" id="{AF4BA49C-BC9F-4212-8386-E6687BFAEBF8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236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确认论文身份</a:t>
            </a:r>
          </a:p>
        </p:txBody>
      </p:sp>
      <p:sp>
        <p:nvSpPr>
          <p:cNvPr id="9" name="evidence-flow-1">
            <a:extLst>
              <a:ext uri="{FF2B5EF4-FFF2-40B4-BE49-F238E27FC236}">
                <a16:creationId xmlns:a16="http://schemas.microsoft.com/office/drawing/2014/main" id="{3A2C869F-39D0-4CB8-B1D5-2F3E0283718D}"/>
              </a:ext>
            </a:extLst>
          </p:cNvPr>
          <p:cNvSpPr>
            <a:spLocks noGrp="1"/>
          </p:cNvSpPr>
          <p:nvPr/>
        </p:nvSpPr>
        <p:spPr>
          <a:xfrm>
            <a:off x="3676650" y="3609975"/>
            <a:ext cx="2362200" cy="8382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阅读原文</a:t>
            </a:r>
          </a:p>
        </p:txBody>
      </p:sp>
      <p:sp>
        <p:nvSpPr>
          <p:cNvPr id="10" name="flow-detail-1">
            <a:extLst>
              <a:ext uri="{FF2B5EF4-FFF2-40B4-BE49-F238E27FC236}">
                <a16:creationId xmlns:a16="http://schemas.microsoft.com/office/drawing/2014/main" id="{EA613652-B781-47B4-961C-CE2D5B0A9ECA}"/>
              </a:ext>
            </a:extLst>
          </p:cNvPr>
          <p:cNvSpPr>
            <a:spLocks noGrp="1"/>
          </p:cNvSpPr>
          <p:nvPr/>
        </p:nvSpPr>
        <p:spPr>
          <a:xfrm>
            <a:off x="3676650" y="4686300"/>
            <a:ext cx="236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定位原文页面</a:t>
            </a:r>
          </a:p>
        </p:txBody>
      </p:sp>
      <p:sp>
        <p:nvSpPr>
          <p:cNvPr id="11" name="evidence-flow-2">
            <a:extLst>
              <a:ext uri="{FF2B5EF4-FFF2-40B4-BE49-F238E27FC236}">
                <a16:creationId xmlns:a16="http://schemas.microsoft.com/office/drawing/2014/main" id="{99D5F1F2-E201-4884-AD6F-B6D217750E3D}"/>
              </a:ext>
            </a:extLst>
          </p:cNvPr>
          <p:cNvSpPr>
            <a:spLocks noGrp="1"/>
          </p:cNvSpPr>
          <p:nvPr/>
        </p:nvSpPr>
        <p:spPr>
          <a:xfrm>
            <a:off x="6438900" y="3609975"/>
            <a:ext cx="2362200" cy="83820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保存证据</a:t>
            </a:r>
          </a:p>
        </p:txBody>
      </p:sp>
      <p:sp>
        <p:nvSpPr>
          <p:cNvPr id="12" name="flow-detail-2">
            <a:extLst>
              <a:ext uri="{FF2B5EF4-FFF2-40B4-BE49-F238E27FC236}">
                <a16:creationId xmlns:a16="http://schemas.microsoft.com/office/drawing/2014/main" id="{D5341B8C-CECA-48BB-935B-133B158B2907}"/>
              </a:ext>
            </a:extLst>
          </p:cNvPr>
          <p:cNvSpPr>
            <a:spLocks noGrp="1"/>
          </p:cNvSpPr>
          <p:nvPr/>
        </p:nvSpPr>
        <p:spPr>
          <a:xfrm>
            <a:off x="6438900" y="4686300"/>
            <a:ext cx="236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摘录、条件与局限</a:t>
            </a:r>
          </a:p>
        </p:txBody>
      </p:sp>
      <p:sp>
        <p:nvSpPr>
          <p:cNvPr id="13" name="evidence-flow-3">
            <a:extLst>
              <a:ext uri="{FF2B5EF4-FFF2-40B4-BE49-F238E27FC236}">
                <a16:creationId xmlns:a16="http://schemas.microsoft.com/office/drawing/2014/main" id="{3B1978FA-4819-4B5C-A26A-42B3BC50C59E}"/>
              </a:ext>
            </a:extLst>
          </p:cNvPr>
          <p:cNvSpPr>
            <a:spLocks noGrp="1"/>
          </p:cNvSpPr>
          <p:nvPr/>
        </p:nvSpPr>
        <p:spPr>
          <a:xfrm>
            <a:off x="9201150" y="3609975"/>
            <a:ext cx="2362200" cy="8382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形成陈述</a:t>
            </a:r>
          </a:p>
        </p:txBody>
      </p:sp>
      <p:sp>
        <p:nvSpPr>
          <p:cNvPr id="14" name="flow-detail-3">
            <a:extLst>
              <a:ext uri="{FF2B5EF4-FFF2-40B4-BE49-F238E27FC236}">
                <a16:creationId xmlns:a16="http://schemas.microsoft.com/office/drawing/2014/main" id="{0C2D6BDD-4B65-4FFF-B1F9-A2950B953DFD}"/>
              </a:ext>
            </a:extLst>
          </p:cNvPr>
          <p:cNvSpPr>
            <a:spLocks noGrp="1"/>
          </p:cNvSpPr>
          <p:nvPr/>
        </p:nvSpPr>
        <p:spPr>
          <a:xfrm>
            <a:off x="9201150" y="4686300"/>
            <a:ext cx="236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关联支持证据</a:t>
            </a:r>
          </a:p>
        </p:txBody>
      </p:sp>
      <p:sp>
        <p:nvSpPr>
          <p:cNvPr id="15" name="evidence-flow-4">
            <a:extLst>
              <a:ext uri="{FF2B5EF4-FFF2-40B4-BE49-F238E27FC236}">
                <a16:creationId xmlns:a16="http://schemas.microsoft.com/office/drawing/2014/main" id="{57713A9A-36E1-4CFB-86EB-838E510C9015}"/>
              </a:ext>
            </a:extLst>
          </p:cNvPr>
          <p:cNvSpPr>
            <a:spLocks noGrp="1"/>
          </p:cNvSpPr>
          <p:nvPr/>
        </p:nvSpPr>
        <p:spPr>
          <a:xfrm>
            <a:off x="11963400" y="3609975"/>
            <a:ext cx="2362200" cy="8382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生成草稿</a:t>
            </a:r>
          </a:p>
        </p:txBody>
      </p:sp>
      <p:sp>
        <p:nvSpPr>
          <p:cNvPr id="16" name="flow-detail-4">
            <a:extLst>
              <a:ext uri="{FF2B5EF4-FFF2-40B4-BE49-F238E27FC236}">
                <a16:creationId xmlns:a16="http://schemas.microsoft.com/office/drawing/2014/main" id="{DE599888-A1E7-403E-8AFB-5664499D0D58}"/>
              </a:ext>
            </a:extLst>
          </p:cNvPr>
          <p:cNvSpPr>
            <a:spLocks noGrp="1"/>
          </p:cNvSpPr>
          <p:nvPr/>
        </p:nvSpPr>
        <p:spPr>
          <a:xfrm>
            <a:off x="11963400" y="4686300"/>
            <a:ext cx="2362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组织与综合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597FA9A9-4775-4894-9A96-4103214CCE37}"/>
              </a:ext>
            </a:extLst>
          </p:cNvPr>
          <p:cNvSpPr>
            <a:spLocks noGrp="1"/>
          </p:cNvSpPr>
          <p:nvPr/>
        </p:nvSpPr>
        <p:spPr>
          <a:xfrm>
            <a:off x="914400" y="5705475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22" name="tool-label">
            <a:extLst>
              <a:ext uri="{FF2B5EF4-FFF2-40B4-BE49-F238E27FC236}">
                <a16:creationId xmlns:a16="http://schemas.microsoft.com/office/drawing/2014/main" id="{D3C80028-B73B-4B8D-BBC3-FCCE34AB7520}"/>
              </a:ext>
            </a:extLst>
          </p:cNvPr>
          <p:cNvSpPr>
            <a:spLocks noGrp="1"/>
          </p:cNvSpPr>
          <p:nvPr/>
        </p:nvSpPr>
        <p:spPr>
          <a:xfrm>
            <a:off x="914400" y="6067425"/>
            <a:ext cx="228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工具执行</a:t>
            </a:r>
          </a:p>
        </p:txBody>
      </p:sp>
      <p:sp>
        <p:nvSpPr>
          <p:cNvPr id="23" name="tool-body">
            <a:extLst>
              <a:ext uri="{FF2B5EF4-FFF2-40B4-BE49-F238E27FC236}">
                <a16:creationId xmlns:a16="http://schemas.microsoft.com/office/drawing/2014/main" id="{0DA57555-BB9D-46E5-927B-D35A8AB64A44}"/>
              </a:ext>
            </a:extLst>
          </p:cNvPr>
          <p:cNvSpPr>
            <a:spLocks noGrp="1"/>
          </p:cNvSpPr>
          <p:nvPr/>
        </p:nvSpPr>
        <p:spPr>
          <a:xfrm>
            <a:off x="3371850" y="606742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查询文献、归并版本、提取页面、检查摘录。</a:t>
            </a:r>
          </a:p>
        </p:txBody>
      </p:sp>
      <p:sp>
        <p:nvSpPr>
          <p:cNvPr id="24" name="state-label">
            <a:extLst>
              <a:ext uri="{FF2B5EF4-FFF2-40B4-BE49-F238E27FC236}">
                <a16:creationId xmlns:a16="http://schemas.microsoft.com/office/drawing/2014/main" id="{B270DDB5-E550-44C7-A676-FBB4549D7069}"/>
              </a:ext>
            </a:extLst>
          </p:cNvPr>
          <p:cNvSpPr>
            <a:spLocks noGrp="1"/>
          </p:cNvSpPr>
          <p:nvPr/>
        </p:nvSpPr>
        <p:spPr>
          <a:xfrm>
            <a:off x="914400" y="6896100"/>
            <a:ext cx="2286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持久记录</a:t>
            </a:r>
          </a:p>
        </p:txBody>
      </p:sp>
      <p:sp>
        <p:nvSpPr>
          <p:cNvPr id="25" name="state-body">
            <a:extLst>
              <a:ext uri="{FF2B5EF4-FFF2-40B4-BE49-F238E27FC236}">
                <a16:creationId xmlns:a16="http://schemas.microsoft.com/office/drawing/2014/main" id="{DC1A199B-9322-4C4E-BCAE-71374E8E5F7B}"/>
              </a:ext>
            </a:extLst>
          </p:cNvPr>
          <p:cNvSpPr>
            <a:spLocks noGrp="1"/>
          </p:cNvSpPr>
          <p:nvPr/>
        </p:nvSpPr>
        <p:spPr>
          <a:xfrm>
            <a:off x="3371850" y="6896100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研究范围、阅读进度、来源证据、修改理由。</a:t>
            </a:r>
          </a:p>
        </p:txBody>
      </p:sp>
      <p:sp>
        <p:nvSpPr>
          <p:cNvPr id="26" name="implementation-limit">
            <a:extLst>
              <a:ext uri="{FF2B5EF4-FFF2-40B4-BE49-F238E27FC236}">
                <a16:creationId xmlns:a16="http://schemas.microsoft.com/office/drawing/2014/main" id="{A4DE2F27-47E2-436B-A3DA-CF320D99FEB3}"/>
              </a:ext>
            </a:extLst>
          </p:cNvPr>
          <p:cNvSpPr>
            <a:spLocks noGrp="1"/>
          </p:cNvSpPr>
          <p:nvPr/>
        </p:nvSpPr>
        <p:spPr>
          <a:xfrm>
            <a:off x="914400" y="7677150"/>
            <a:ext cx="13411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协调器负责自主选择工具；批量阅读与归档也使用脚本。</a:t>
            </a:r>
          </a:p>
        </p:txBody>
      </p:sp>
    </p:spTree>
    <p:extLst>
      <p:ext uri="{BB962C8B-B14F-4D97-AF65-F5344CB8AC3E}">
        <p14:creationId xmlns:p14="http://schemas.microsoft.com/office/powerpoint/2010/main" val="180170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4E005E6B-0D60-4C98-8548-C42164FAEAEE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它什么时候需要自己作决定？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FAE8EA1-0930-4089-A1EF-0D99348A704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686A63C-D78A-4A27-A532-16B91E074E4D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7AB05BD-38A1-40D0-9DF1-E25A5D8B68A3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5" name="run-label">
            <a:extLst>
              <a:ext uri="{FF2B5EF4-FFF2-40B4-BE49-F238E27FC236}">
                <a16:creationId xmlns:a16="http://schemas.microsoft.com/office/drawing/2014/main" id="{3B6EF8C2-EA2F-4157-ADF8-ED8A6B02A826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13411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0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真实运行记录的概述</a:t>
            </a:r>
          </a:p>
        </p:txBody>
      </p:sp>
      <p:sp>
        <p:nvSpPr>
          <p:cNvPr id="6" name="gap-example">
            <a:extLst>
              <a:ext uri="{FF2B5EF4-FFF2-40B4-BE49-F238E27FC236}">
                <a16:creationId xmlns:a16="http://schemas.microsoft.com/office/drawing/2014/main" id="{1349E5C5-7519-4C27-AA3F-45BD66AA60C0}"/>
              </a:ext>
            </a:extLst>
          </p:cNvPr>
          <p:cNvSpPr>
            <a:spLocks noGrp="1"/>
          </p:cNvSpPr>
          <p:nvPr/>
        </p:nvSpPr>
        <p:spPr>
          <a:xfrm>
            <a:off x="914400" y="2524125"/>
            <a:ext cx="61912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证据不足时，补充检索</a:t>
            </a:r>
          </a:p>
        </p:txBody>
      </p:sp>
      <p:sp>
        <p:nvSpPr>
          <p:cNvPr id="7" name="tool-example">
            <a:extLst>
              <a:ext uri="{FF2B5EF4-FFF2-40B4-BE49-F238E27FC236}">
                <a16:creationId xmlns:a16="http://schemas.microsoft.com/office/drawing/2014/main" id="{ACEA3BB2-D439-4DC7-B348-AAF640932DD8}"/>
              </a:ext>
            </a:extLst>
          </p:cNvPr>
          <p:cNvSpPr>
            <a:spLocks noGrp="1"/>
          </p:cNvSpPr>
          <p:nvPr/>
        </p:nvSpPr>
        <p:spPr>
          <a:xfrm>
            <a:off x="8639175" y="2524125"/>
            <a:ext cx="56864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工具不足时，报告限制</a:t>
            </a:r>
          </a:p>
        </p:txBody>
      </p:sp>
      <p:sp>
        <p:nvSpPr>
          <p:cNvPr id="8" name="decision-title-0">
            <a:extLst>
              <a:ext uri="{FF2B5EF4-FFF2-40B4-BE49-F238E27FC236}">
                <a16:creationId xmlns:a16="http://schemas.microsoft.com/office/drawing/2014/main" id="{3D3D4384-C9C8-4A3F-BF2D-39636648E868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发现缺口</a:t>
            </a:r>
          </a:p>
        </p:txBody>
      </p:sp>
      <p:sp>
        <p:nvSpPr>
          <p:cNvPr id="9" name="decision-body-0">
            <a:extLst>
              <a:ext uri="{FF2B5EF4-FFF2-40B4-BE49-F238E27FC236}">
                <a16:creationId xmlns:a16="http://schemas.microsoft.com/office/drawing/2014/main" id="{297A5D19-566C-421F-9554-43442551185F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619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研究边界与评测问题的证据不足。</a:t>
            </a:r>
          </a:p>
        </p:txBody>
      </p:sp>
      <p:sp>
        <p:nvSpPr>
          <p:cNvPr id="10" name="decision-title-1">
            <a:extLst>
              <a:ext uri="{FF2B5EF4-FFF2-40B4-BE49-F238E27FC236}">
                <a16:creationId xmlns:a16="http://schemas.microsoft.com/office/drawing/2014/main" id="{43715559-DCC0-45B5-80EE-53ED350DC27C}"/>
              </a:ext>
            </a:extLst>
          </p:cNvPr>
          <p:cNvSpPr>
            <a:spLocks noGrp="1"/>
          </p:cNvSpPr>
          <p:nvPr/>
        </p:nvSpPr>
        <p:spPr>
          <a:xfrm>
            <a:off x="914400" y="4695825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选择行动</a:t>
            </a:r>
          </a:p>
        </p:txBody>
      </p:sp>
      <p:sp>
        <p:nvSpPr>
          <p:cNvPr id="11" name="decision-body-1">
            <a:extLst>
              <a:ext uri="{FF2B5EF4-FFF2-40B4-BE49-F238E27FC236}">
                <a16:creationId xmlns:a16="http://schemas.microsoft.com/office/drawing/2014/main" id="{C8C86679-AA55-430B-B205-A55970CA2547}"/>
              </a:ext>
            </a:extLst>
          </p:cNvPr>
          <p:cNvSpPr>
            <a:spLocks noGrp="1"/>
          </p:cNvSpPr>
          <p:nvPr/>
        </p:nvSpPr>
        <p:spPr>
          <a:xfrm>
            <a:off x="914400" y="5191125"/>
            <a:ext cx="619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自主选择 7 条补充检索查询。</a:t>
            </a:r>
          </a:p>
        </p:txBody>
      </p:sp>
      <p:sp>
        <p:nvSpPr>
          <p:cNvPr id="12" name="decision-title-2">
            <a:extLst>
              <a:ext uri="{FF2B5EF4-FFF2-40B4-BE49-F238E27FC236}">
                <a16:creationId xmlns:a16="http://schemas.microsoft.com/office/drawing/2014/main" id="{325F754F-58F4-4876-BF83-B637B61A26CF}"/>
              </a:ext>
            </a:extLst>
          </p:cNvPr>
          <p:cNvSpPr>
            <a:spLocks noGrp="1"/>
          </p:cNvSpPr>
          <p:nvPr/>
        </p:nvSpPr>
        <p:spPr>
          <a:xfrm>
            <a:off x="914400" y="5867400"/>
            <a:ext cx="619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继续取证</a:t>
            </a:r>
          </a:p>
        </p:txBody>
      </p:sp>
      <p:sp>
        <p:nvSpPr>
          <p:cNvPr id="13" name="decision-body-2">
            <a:extLst>
              <a:ext uri="{FF2B5EF4-FFF2-40B4-BE49-F238E27FC236}">
                <a16:creationId xmlns:a16="http://schemas.microsoft.com/office/drawing/2014/main" id="{A250248B-F2AA-42E8-9C39-97ACE737BAD6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61912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补检结果进入后续阅读与证据流程。</a:t>
            </a:r>
          </a:p>
        </p:txBody>
      </p:sp>
      <p:sp>
        <p:nvSpPr>
          <p:cNvPr id="14" name="missing-tool-title">
            <a:extLst>
              <a:ext uri="{FF2B5EF4-FFF2-40B4-BE49-F238E27FC236}">
                <a16:creationId xmlns:a16="http://schemas.microsoft.com/office/drawing/2014/main" id="{C997949F-BF38-442F-986A-4F4C76347426}"/>
              </a:ext>
            </a:extLst>
          </p:cNvPr>
          <p:cNvSpPr>
            <a:spLocks noGrp="1"/>
          </p:cNvSpPr>
          <p:nvPr/>
        </p:nvSpPr>
        <p:spPr>
          <a:xfrm>
            <a:off x="8639175" y="3524250"/>
            <a:ext cx="5686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遇到工具缺口</a:t>
            </a:r>
          </a:p>
        </p:txBody>
      </p:sp>
      <p:sp>
        <p:nvSpPr>
          <p:cNvPr id="15" name="missing-tool-body">
            <a:extLst>
              <a:ext uri="{FF2B5EF4-FFF2-40B4-BE49-F238E27FC236}">
                <a16:creationId xmlns:a16="http://schemas.microsoft.com/office/drawing/2014/main" id="{8BCD2300-948A-4FB9-805E-F76497C19691}"/>
              </a:ext>
            </a:extLst>
          </p:cNvPr>
          <p:cNvSpPr>
            <a:spLocks noGrp="1"/>
          </p:cNvSpPr>
          <p:nvPr/>
        </p:nvSpPr>
        <p:spPr>
          <a:xfrm>
            <a:off x="8639175" y="4019550"/>
            <a:ext cx="56864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无法列出已有证据编号。</a:t>
            </a:r>
          </a:p>
        </p:txBody>
      </p:sp>
      <p:sp>
        <p:nvSpPr>
          <p:cNvPr id="16" name="honest-response-title">
            <a:extLst>
              <a:ext uri="{FF2B5EF4-FFF2-40B4-BE49-F238E27FC236}">
                <a16:creationId xmlns:a16="http://schemas.microsoft.com/office/drawing/2014/main" id="{1B4A6136-A9AF-441C-980C-06CBA802A7E2}"/>
              </a:ext>
            </a:extLst>
          </p:cNvPr>
          <p:cNvSpPr>
            <a:spLocks noGrp="1"/>
          </p:cNvSpPr>
          <p:nvPr/>
        </p:nvSpPr>
        <p:spPr>
          <a:xfrm>
            <a:off x="8639175" y="5105400"/>
            <a:ext cx="5686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报告限制</a:t>
            </a:r>
          </a:p>
        </p:txBody>
      </p:sp>
      <p:sp>
        <p:nvSpPr>
          <p:cNvPr id="17" name="honest-response-body">
            <a:extLst>
              <a:ext uri="{FF2B5EF4-FFF2-40B4-BE49-F238E27FC236}">
                <a16:creationId xmlns:a16="http://schemas.microsoft.com/office/drawing/2014/main" id="{C337F3E6-C547-4236-B964-D0DA9EA9D029}"/>
              </a:ext>
            </a:extLst>
          </p:cNvPr>
          <p:cNvSpPr>
            <a:spLocks noGrp="1"/>
          </p:cNvSpPr>
          <p:nvPr/>
        </p:nvSpPr>
        <p:spPr>
          <a:xfrm>
            <a:off x="8639175" y="5600700"/>
            <a:ext cx="568642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不编造编号，</a:t>
            </a:r>
          </a:p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明确说明无法合规完成。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2F46D970-1860-4661-A21D-6E7E6668946D}"/>
              </a:ext>
            </a:extLst>
          </p:cNvPr>
          <p:cNvSpPr>
            <a:spLocks noGrp="1"/>
          </p:cNvSpPr>
          <p:nvPr/>
        </p:nvSpPr>
        <p:spPr>
          <a:xfrm>
            <a:off x="914400" y="7229475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9" name="autonomy-lesson">
            <a:extLst>
              <a:ext uri="{FF2B5EF4-FFF2-40B4-BE49-F238E27FC236}">
                <a16:creationId xmlns:a16="http://schemas.microsoft.com/office/drawing/2014/main" id="{23574D29-4EDC-4076-8B2D-DB4D1A4693C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3411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自主性体现在根据状态选择行动，也体现在依据不足时停止补写。</a:t>
            </a:r>
          </a:p>
        </p:txBody>
      </p:sp>
    </p:spTree>
    <p:extLst>
      <p:ext uri="{BB962C8B-B14F-4D97-AF65-F5344CB8AC3E}">
        <p14:creationId xmlns:p14="http://schemas.microsoft.com/office/powerpoint/2010/main" val="197986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5330EE4-C6EA-45BD-A851-F3D4AF6EFDE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462338" y="4762500"/>
            <a:ext cx="0" cy="390525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162EB5A-F702-4EC9-8606-272225F5F29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462338" y="3305175"/>
            <a:ext cx="0" cy="390525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sp>
        <p:nvSpPr>
          <p:cNvPr id="19" name="slide-title">
            <a:extLst>
              <a:ext uri="{FF2B5EF4-FFF2-40B4-BE49-F238E27FC236}">
                <a16:creationId xmlns:a16="http://schemas.microsoft.com/office/drawing/2014/main" id="{77F60ABF-C45E-4C7D-AC79-86D2B95AFC62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有原文，还需要核对结论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C31A52B1-66C1-417F-B76B-1F9820526AF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70D026C-E74E-4992-92FF-FAC9FD910086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第一部分：综述智能体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D0608FB8-2B9B-4BBA-8083-B46617E26E1B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trace-0">
            <a:extLst>
              <a:ext uri="{FF2B5EF4-FFF2-40B4-BE49-F238E27FC236}">
                <a16:creationId xmlns:a16="http://schemas.microsoft.com/office/drawing/2014/main" id="{9FA75D96-EBEE-4142-A8AB-74B2846C905E}"/>
              </a:ext>
            </a:extLst>
          </p:cNvPr>
          <p:cNvSpPr>
            <a:spLocks noGrp="1"/>
          </p:cNvSpPr>
          <p:nvPr/>
        </p:nvSpPr>
        <p:spPr>
          <a:xfrm>
            <a:off x="914400" y="2238375"/>
            <a:ext cx="5095875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</a:t>
            </a:r>
          </a:p>
          <a:p>
            <a: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论文版本、页码、摘录</a:t>
            </a:r>
          </a:p>
        </p:txBody>
      </p:sp>
      <p:sp>
        <p:nvSpPr>
          <p:cNvPr id="6" name="trace-1">
            <a:extLst>
              <a:ext uri="{FF2B5EF4-FFF2-40B4-BE49-F238E27FC236}">
                <a16:creationId xmlns:a16="http://schemas.microsoft.com/office/drawing/2014/main" id="{1F5568C4-A0BB-481D-A779-940C33BC283F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5095875" cy="106680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证据记录</a:t>
            </a:r>
          </a:p>
          <a:p>
            <a:pPr algn="ctr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实验条件与局限</a:t>
            </a:r>
          </a:p>
        </p:txBody>
      </p:sp>
      <p:sp>
        <p:nvSpPr>
          <p:cNvPr id="7" name="trace-2">
            <a:extLst>
              <a:ext uri="{FF2B5EF4-FFF2-40B4-BE49-F238E27FC236}">
                <a16:creationId xmlns:a16="http://schemas.microsoft.com/office/drawing/2014/main" id="{8638EAD5-67D7-4450-88D9-BF45F30B3397}"/>
              </a:ext>
            </a:extLst>
          </p:cNvPr>
          <p:cNvSpPr>
            <a:spLocks noGrp="1"/>
          </p:cNvSpPr>
          <p:nvPr/>
        </p:nvSpPr>
        <p:spPr>
          <a:xfrm>
            <a:off x="914400" y="5153025"/>
            <a:ext cx="5095875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综述陈述</a:t>
            </a:r>
          </a:p>
          <a:p>
            <a:pPr algn="ctr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关联支持它的证据</a:t>
            </a:r>
          </a:p>
        </p:txBody>
      </p:sp>
      <p:sp>
        <p:nvSpPr>
          <p:cNvPr id="10" name="automatic-title">
            <a:extLst>
              <a:ext uri="{FF2B5EF4-FFF2-40B4-BE49-F238E27FC236}">
                <a16:creationId xmlns:a16="http://schemas.microsoft.com/office/drawing/2014/main" id="{537118C5-62D4-466D-ACD4-DB8D18BB1143}"/>
              </a:ext>
            </a:extLst>
          </p:cNvPr>
          <p:cNvSpPr>
            <a:spLocks noGrp="1"/>
          </p:cNvSpPr>
          <p:nvPr/>
        </p:nvSpPr>
        <p:spPr>
          <a:xfrm>
            <a:off x="7258050" y="2238375"/>
            <a:ext cx="70675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程序检查</a:t>
            </a:r>
          </a:p>
        </p:txBody>
      </p:sp>
      <p:sp>
        <p:nvSpPr>
          <p:cNvPr id="11" name="automatic-body">
            <a:extLst>
              <a:ext uri="{FF2B5EF4-FFF2-40B4-BE49-F238E27FC236}">
                <a16:creationId xmlns:a16="http://schemas.microsoft.com/office/drawing/2014/main" id="{48603441-0F46-463A-8D14-93DEAB5BE6B4}"/>
              </a:ext>
            </a:extLst>
          </p:cNvPr>
          <p:cNvSpPr>
            <a:spLocks noGrp="1"/>
          </p:cNvSpPr>
          <p:nvPr/>
        </p:nvSpPr>
        <p:spPr>
          <a:xfrm>
            <a:off x="7258050" y="2867025"/>
            <a:ext cx="7067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摘录是否与指定页面连续匹配。</a:t>
            </a:r>
          </a:p>
        </p:txBody>
      </p:sp>
      <p:sp>
        <p:nvSpPr>
          <p:cNvPr id="12" name="human-title">
            <a:extLst>
              <a:ext uri="{FF2B5EF4-FFF2-40B4-BE49-F238E27FC236}">
                <a16:creationId xmlns:a16="http://schemas.microsoft.com/office/drawing/2014/main" id="{9956C480-2B3D-48AA-A49D-990417AFD34C}"/>
              </a:ext>
            </a:extLst>
          </p:cNvPr>
          <p:cNvSpPr>
            <a:spLocks noGrp="1"/>
          </p:cNvSpPr>
          <p:nvPr/>
        </p:nvSpPr>
        <p:spPr>
          <a:xfrm>
            <a:off x="7258050" y="3914775"/>
            <a:ext cx="70675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人工核验</a:t>
            </a:r>
          </a:p>
        </p:txBody>
      </p:sp>
      <p:sp>
        <p:nvSpPr>
          <p:cNvPr id="13" name="human-body">
            <a:extLst>
              <a:ext uri="{FF2B5EF4-FFF2-40B4-BE49-F238E27FC236}">
                <a16:creationId xmlns:a16="http://schemas.microsoft.com/office/drawing/2014/main" id="{20F72540-93E0-47C6-B48B-17D9CA0DCB07}"/>
              </a:ext>
            </a:extLst>
          </p:cNvPr>
          <p:cNvSpPr>
            <a:spLocks noGrp="1"/>
          </p:cNvSpPr>
          <p:nvPr/>
        </p:nvSpPr>
        <p:spPr>
          <a:xfrm>
            <a:off x="7258050" y="4543425"/>
            <a:ext cx="70675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原文是否真正支持我们的解释？</a:t>
            </a:r>
          </a:p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数字、比较对象和适用条件是否准确？</a:t>
            </a:r>
          </a:p>
        </p:txBody>
      </p:sp>
      <p:sp>
        <p:nvSpPr>
          <p:cNvPr id="14" name="teaching-label">
            <a:extLst>
              <a:ext uri="{FF2B5EF4-FFF2-40B4-BE49-F238E27FC236}">
                <a16:creationId xmlns:a16="http://schemas.microsoft.com/office/drawing/2014/main" id="{D1F1A45C-8CE4-442F-BE4A-563EE601A889}"/>
              </a:ext>
            </a:extLst>
          </p:cNvPr>
          <p:cNvSpPr>
            <a:spLocks noGrp="1"/>
          </p:cNvSpPr>
          <p:nvPr/>
        </p:nvSpPr>
        <p:spPr>
          <a:xfrm>
            <a:off x="7258050" y="5838825"/>
            <a:ext cx="7067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5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 dirty="0" err="1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举个例子</a:t>
            </a:r>
            <a:endParaRPr sz="1575" b="0" dirty="0">
              <a:solidFill>
                <a:srgbClr val="5B696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overgeneralization">
            <a:extLst>
              <a:ext uri="{FF2B5EF4-FFF2-40B4-BE49-F238E27FC236}">
                <a16:creationId xmlns:a16="http://schemas.microsoft.com/office/drawing/2014/main" id="{449A98AF-237F-4B4B-BA36-CA9D79EF8DA9}"/>
              </a:ext>
            </a:extLst>
          </p:cNvPr>
          <p:cNvSpPr>
            <a:spLocks noGrp="1"/>
          </p:cNvSpPr>
          <p:nvPr/>
        </p:nvSpPr>
        <p:spPr>
          <a:xfrm>
            <a:off x="7258050" y="6257925"/>
            <a:ext cx="7067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“在某个设置下有效”</a:t>
            </a:r>
          </a:p>
          <a:p>
            <a:pPr algn="l">
              <a:def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不能直接概括为“在所有任务中有效”。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31A86795-341B-43DE-8EA2-B8BB61AC34DF}"/>
              </a:ext>
            </a:extLst>
          </p:cNvPr>
          <p:cNvSpPr>
            <a:spLocks noGrp="1"/>
          </p:cNvSpPr>
          <p:nvPr/>
        </p:nvSpPr>
        <p:spPr>
          <a:xfrm>
            <a:off x="914400" y="723900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7" name="progress">
            <a:extLst>
              <a:ext uri="{FF2B5EF4-FFF2-40B4-BE49-F238E27FC236}">
                <a16:creationId xmlns:a16="http://schemas.microsoft.com/office/drawing/2014/main" id="{5DC515BD-5D1D-4173-BE7D-6A42C1DB2271}"/>
              </a:ext>
            </a:extLst>
          </p:cNvPr>
          <p:cNvSpPr>
            <a:spLocks noGrp="1"/>
          </p:cNvSpPr>
          <p:nvPr/>
        </p:nvSpPr>
        <p:spPr>
          <a:xfrm>
            <a:off x="914400" y="7429500"/>
            <a:ext cx="13411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当前：40 篇核心文献，39 篇进入正文引用，143 </a:t>
            </a:r>
            <a:r>
              <a:rPr sz="1875" b="0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条有效核心证据</a:t>
            </a:r>
            <a:r>
              <a:rPr sz="1875" b="0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18" name="verification-status">
            <a:extLst>
              <a:ext uri="{FF2B5EF4-FFF2-40B4-BE49-F238E27FC236}">
                <a16:creationId xmlns:a16="http://schemas.microsoft.com/office/drawing/2014/main" id="{E1E86B72-A6CD-4F4C-8AB0-C784CBCAB1B9}"/>
              </a:ext>
            </a:extLst>
          </p:cNvPr>
          <p:cNvSpPr>
            <a:spLocks noGrp="1"/>
          </p:cNvSpPr>
          <p:nvPr/>
        </p:nvSpPr>
        <p:spPr>
          <a:xfrm>
            <a:off x="914400" y="7800975"/>
            <a:ext cx="134112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dirty="0" err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人工签字核验尚未完成；自动检查不能替代语义复核</a:t>
            </a:r>
            <a:r>
              <a:rPr sz="1650" b="0" dirty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3675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507A16BD-24FE-470F-AED7-E92BF5874994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我们把研究问题归为三类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33D8FD34-3457-480B-A442-0A6786DA4A1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80F872F-5759-45F9-B886-73C29BC8C900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989EFDA2-C560-48E0-8125-CF23600EB1ED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central-question">
            <a:extLst>
              <a:ext uri="{FF2B5EF4-FFF2-40B4-BE49-F238E27FC236}">
                <a16:creationId xmlns:a16="http://schemas.microsoft.com/office/drawing/2014/main" id="{CCD362ED-D0FF-4AC5-AA7B-9F4A51441BEB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34112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智能体怎样持续保留有用信息，</a:t>
            </a:r>
          </a:p>
          <a:p>
            <a:pPr algn="l">
              <a:def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并在信息变化后可靠地使用它？</a:t>
            </a:r>
          </a:p>
        </p:txBody>
      </p:sp>
      <p:sp>
        <p:nvSpPr>
          <p:cNvPr id="6" name="question-topic-0">
            <a:extLst>
              <a:ext uri="{FF2B5EF4-FFF2-40B4-BE49-F238E27FC236}">
                <a16:creationId xmlns:a16="http://schemas.microsoft.com/office/drawing/2014/main" id="{619E0066-CB30-4445-BFD2-A2A09896A699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2590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7" name="question-description-0">
            <a:extLst>
              <a:ext uri="{FF2B5EF4-FFF2-40B4-BE49-F238E27FC236}">
                <a16:creationId xmlns:a16="http://schemas.microsoft.com/office/drawing/2014/main" id="{90398235-3DB2-494E-AED2-FF35C4B9C78F}"/>
              </a:ext>
            </a:extLst>
          </p:cNvPr>
          <p:cNvSpPr>
            <a:spLocks noGrp="1"/>
          </p:cNvSpPr>
          <p:nvPr/>
        </p:nvSpPr>
        <p:spPr>
          <a:xfrm>
            <a:off x="3733800" y="3743325"/>
            <a:ext cx="10591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保存成什么形式，怎样找得到？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0976320B-29F7-4D7C-BE3F-83EF4BF798CD}"/>
              </a:ext>
            </a:extLst>
          </p:cNvPr>
          <p:cNvSpPr>
            <a:spLocks noGrp="1"/>
          </p:cNvSpPr>
          <p:nvPr/>
        </p:nvSpPr>
        <p:spPr>
          <a:xfrm>
            <a:off x="914400" y="4505325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9" name="question-topic-1">
            <a:extLst>
              <a:ext uri="{FF2B5EF4-FFF2-40B4-BE49-F238E27FC236}">
                <a16:creationId xmlns:a16="http://schemas.microsoft.com/office/drawing/2014/main" id="{B00EBF45-A73D-4E22-A886-5826C1E84C99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2590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10" name="question-description-1">
            <a:extLst>
              <a:ext uri="{FF2B5EF4-FFF2-40B4-BE49-F238E27FC236}">
                <a16:creationId xmlns:a16="http://schemas.microsoft.com/office/drawing/2014/main" id="{5F699978-57AD-4CF2-AABF-7F2CECF1594E}"/>
              </a:ext>
            </a:extLst>
          </p:cNvPr>
          <p:cNvSpPr>
            <a:spLocks noGrp="1"/>
          </p:cNvSpPr>
          <p:nvPr/>
        </p:nvSpPr>
        <p:spPr>
          <a:xfrm>
            <a:off x="3733800" y="4848225"/>
            <a:ext cx="10591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新信息来了，旧信息怎么办？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82C2901B-4FB8-4A4F-9F87-73EC26CCA8B9}"/>
              </a:ext>
            </a:extLst>
          </p:cNvPr>
          <p:cNvSpPr>
            <a:spLocks noGrp="1"/>
          </p:cNvSpPr>
          <p:nvPr/>
        </p:nvSpPr>
        <p:spPr>
          <a:xfrm>
            <a:off x="914400" y="5610225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2" name="question-topic-2">
            <a:extLst>
              <a:ext uri="{FF2B5EF4-FFF2-40B4-BE49-F238E27FC236}">
                <a16:creationId xmlns:a16="http://schemas.microsoft.com/office/drawing/2014/main" id="{5986337B-6921-489D-9302-3AFDAED38BC0}"/>
              </a:ext>
            </a:extLst>
          </p:cNvPr>
          <p:cNvSpPr>
            <a:spLocks noGrp="1"/>
          </p:cNvSpPr>
          <p:nvPr/>
        </p:nvSpPr>
        <p:spPr>
          <a:xfrm>
            <a:off x="914400" y="5886450"/>
            <a:ext cx="2590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13" name="question-description-2">
            <a:extLst>
              <a:ext uri="{FF2B5EF4-FFF2-40B4-BE49-F238E27FC236}">
                <a16:creationId xmlns:a16="http://schemas.microsoft.com/office/drawing/2014/main" id="{737CB6F0-E413-4278-A8B3-F1AE5BDBA1EB}"/>
              </a:ext>
            </a:extLst>
          </p:cNvPr>
          <p:cNvSpPr>
            <a:spLocks noGrp="1"/>
          </p:cNvSpPr>
          <p:nvPr/>
        </p:nvSpPr>
        <p:spPr>
          <a:xfrm>
            <a:off x="3733800" y="5953125"/>
            <a:ext cx="10591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答对一次，能说明长期可靠吗？</a:t>
            </a:r>
          </a:p>
        </p:txBody>
      </p:sp>
      <p:sp>
        <p:nvSpPr>
          <p:cNvPr id="14" name="scope">
            <a:extLst>
              <a:ext uri="{FF2B5EF4-FFF2-40B4-BE49-F238E27FC236}">
                <a16:creationId xmlns:a16="http://schemas.microsoft.com/office/drawing/2014/main" id="{C540A4AF-287A-4C55-97C5-3A2B6A216066}"/>
              </a:ext>
            </a:extLst>
          </p:cNvPr>
          <p:cNvSpPr>
            <a:spLocks noGrp="1"/>
          </p:cNvSpPr>
          <p:nvPr/>
        </p:nvSpPr>
        <p:spPr>
          <a:xfrm>
            <a:off x="914400" y="7258050"/>
            <a:ext cx="13411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范围：可写、可更新、跨会话的外部记忆。</a:t>
            </a:r>
          </a:p>
          <a:p>
            <a: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长上下文、静态知识检索和参数知识作为相关机制对照。</a:t>
            </a:r>
          </a:p>
        </p:txBody>
      </p:sp>
    </p:spTree>
    <p:extLst>
      <p:ext uri="{BB962C8B-B14F-4D97-AF65-F5344CB8AC3E}">
        <p14:creationId xmlns:p14="http://schemas.microsoft.com/office/powerpoint/2010/main" val="161324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B26AD26-F89A-4E12-89C5-479402DEEAB5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12382500" y="4333875"/>
            <a:ext cx="0" cy="485775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BBA2EBF-14A0-4813-9BD9-9AB5BCB8DC76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7620000" y="4333875"/>
            <a:ext cx="0" cy="485775"/>
          </a:xfrm>
          <a:prstGeom prst="straightConnector1">
            <a:avLst/>
          </a:prstGeom>
          <a:ln w="21908">
            <a:solidFill>
              <a:srgbClr val="087C71"/>
            </a:solidFill>
            <a:headEnd type="arrow" w="med" len="med"/>
            <a:tail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25A9352-B066-4562-966B-233BED2C1991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857500" y="4333875"/>
            <a:ext cx="0" cy="485775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sp>
        <p:nvSpPr>
          <p:cNvPr id="24" name="slide-title">
            <a:extLst>
              <a:ext uri="{FF2B5EF4-FFF2-40B4-BE49-F238E27FC236}">
                <a16:creationId xmlns:a16="http://schemas.microsoft.com/office/drawing/2014/main" id="{69159549-0956-4D3C-A6A4-E3B43173002F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研究者尝试保存不同形式的记忆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1D93114B-8027-4FC9-BE80-9CA6D09E1B2A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EF6EE50-ED66-4875-8E00-D32EC0023E9A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73DB133F-503B-47FF-980B-D586D873CF34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5" name="parallel-routes">
            <a:extLst>
              <a:ext uri="{FF2B5EF4-FFF2-40B4-BE49-F238E27FC236}">
                <a16:creationId xmlns:a16="http://schemas.microsoft.com/office/drawing/2014/main" id="{0068FCCD-17C6-4CC3-A48B-539A6FBF1B82}"/>
              </a:ext>
            </a:extLst>
          </p:cNvPr>
          <p:cNvSpPr>
            <a:spLocks noGrp="1"/>
          </p:cNvSpPr>
          <p:nvPr/>
        </p:nvSpPr>
        <p:spPr>
          <a:xfrm>
            <a:off x="914400" y="1724025"/>
            <a:ext cx="134112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早期形成多条并行路线，分别关注经历、上下文和经验。</a:t>
            </a:r>
          </a:p>
        </p:txBody>
      </p:sp>
      <p:sp>
        <p:nvSpPr>
          <p:cNvPr id="6" name="route-title-0">
            <a:extLst>
              <a:ext uri="{FF2B5EF4-FFF2-40B4-BE49-F238E27FC236}">
                <a16:creationId xmlns:a16="http://schemas.microsoft.com/office/drawing/2014/main" id="{96729200-E373-4BB9-A469-F4220E6747AF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3886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记录经历并反思</a:t>
            </a:r>
          </a:p>
        </p:txBody>
      </p:sp>
      <p:sp>
        <p:nvSpPr>
          <p:cNvPr id="7" name="route-input-0">
            <a:extLst>
              <a:ext uri="{FF2B5EF4-FFF2-40B4-BE49-F238E27FC236}">
                <a16:creationId xmlns:a16="http://schemas.microsoft.com/office/drawing/2014/main" id="{ED29EA06-75B7-42F8-8232-F24A3DF6537B}"/>
              </a:ext>
            </a:extLst>
          </p:cNvPr>
          <p:cNvSpPr>
            <a:spLocks noGrp="1"/>
          </p:cNvSpPr>
          <p:nvPr/>
        </p:nvSpPr>
        <p:spPr>
          <a:xfrm>
            <a:off x="914400" y="3514725"/>
            <a:ext cx="388620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经历与事件记录</a:t>
            </a:r>
          </a:p>
        </p:txBody>
      </p:sp>
      <p:sp>
        <p:nvSpPr>
          <p:cNvPr id="8" name="route-output-0">
            <a:extLst>
              <a:ext uri="{FF2B5EF4-FFF2-40B4-BE49-F238E27FC236}">
                <a16:creationId xmlns:a16="http://schemas.microsoft.com/office/drawing/2014/main" id="{911F008D-54A9-49CF-A4FE-E179D5E30C66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3886200" cy="81915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检索与反思</a:t>
            </a:r>
          </a:p>
        </p:txBody>
      </p:sp>
      <p:sp>
        <p:nvSpPr>
          <p:cNvPr id="10" name="method-name-0">
            <a:extLst>
              <a:ext uri="{FF2B5EF4-FFF2-40B4-BE49-F238E27FC236}">
                <a16:creationId xmlns:a16="http://schemas.microsoft.com/office/drawing/2014/main" id="{047E5F4E-2750-40B5-8DAA-31795E0A4BAA}"/>
              </a:ext>
            </a:extLst>
          </p:cNvPr>
          <p:cNvSpPr>
            <a:spLocks noGrp="1"/>
          </p:cNvSpPr>
          <p:nvPr/>
        </p:nvSpPr>
        <p:spPr>
          <a:xfrm>
            <a:off x="914400" y="5953125"/>
            <a:ext cx="38862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Generative Agents（2023）</a:t>
            </a:r>
          </a:p>
        </p:txBody>
      </p:sp>
      <p:sp>
        <p:nvSpPr>
          <p:cNvPr id="11" name="route-title-1">
            <a:extLst>
              <a:ext uri="{FF2B5EF4-FFF2-40B4-BE49-F238E27FC236}">
                <a16:creationId xmlns:a16="http://schemas.microsoft.com/office/drawing/2014/main" id="{EA577843-17E1-4382-ADD8-15175DFD8042}"/>
              </a:ext>
            </a:extLst>
          </p:cNvPr>
          <p:cNvSpPr>
            <a:spLocks noGrp="1"/>
          </p:cNvSpPr>
          <p:nvPr/>
        </p:nvSpPr>
        <p:spPr>
          <a:xfrm>
            <a:off x="5676900" y="2714625"/>
            <a:ext cx="3886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管理工作上下文</a:t>
            </a:r>
          </a:p>
        </p:txBody>
      </p:sp>
      <p:sp>
        <p:nvSpPr>
          <p:cNvPr id="12" name="route-input-1">
            <a:extLst>
              <a:ext uri="{FF2B5EF4-FFF2-40B4-BE49-F238E27FC236}">
                <a16:creationId xmlns:a16="http://schemas.microsoft.com/office/drawing/2014/main" id="{6121FAA5-5BDF-4CCF-8F06-1A8E7EC6BB34}"/>
              </a:ext>
            </a:extLst>
          </p:cNvPr>
          <p:cNvSpPr>
            <a:spLocks noGrp="1"/>
          </p:cNvSpPr>
          <p:nvPr/>
        </p:nvSpPr>
        <p:spPr>
          <a:xfrm>
            <a:off x="5676900" y="3514725"/>
            <a:ext cx="388620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当前工作上下文</a:t>
            </a:r>
          </a:p>
        </p:txBody>
      </p:sp>
      <p:sp>
        <p:nvSpPr>
          <p:cNvPr id="13" name="route-output-1">
            <a:extLst>
              <a:ext uri="{FF2B5EF4-FFF2-40B4-BE49-F238E27FC236}">
                <a16:creationId xmlns:a16="http://schemas.microsoft.com/office/drawing/2014/main" id="{6B402642-54B8-4924-AED8-5685969303B8}"/>
              </a:ext>
            </a:extLst>
          </p:cNvPr>
          <p:cNvSpPr>
            <a:spLocks noGrp="1"/>
          </p:cNvSpPr>
          <p:nvPr/>
        </p:nvSpPr>
        <p:spPr>
          <a:xfrm>
            <a:off x="5676900" y="4819650"/>
            <a:ext cx="3886200" cy="81915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外部存储</a:t>
            </a:r>
          </a:p>
        </p:txBody>
      </p:sp>
      <p:sp>
        <p:nvSpPr>
          <p:cNvPr id="15" name="method-name-1">
            <a:extLst>
              <a:ext uri="{FF2B5EF4-FFF2-40B4-BE49-F238E27FC236}">
                <a16:creationId xmlns:a16="http://schemas.microsoft.com/office/drawing/2014/main" id="{FA995D7C-75C9-4A9E-848D-2701F76AB5F2}"/>
              </a:ext>
            </a:extLst>
          </p:cNvPr>
          <p:cNvSpPr>
            <a:spLocks noGrp="1"/>
          </p:cNvSpPr>
          <p:nvPr/>
        </p:nvSpPr>
        <p:spPr>
          <a:xfrm>
            <a:off x="5676900" y="5953125"/>
            <a:ext cx="38862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MemGPT（2023）</a:t>
            </a:r>
          </a:p>
        </p:txBody>
      </p:sp>
      <p:sp>
        <p:nvSpPr>
          <p:cNvPr id="16" name="route-title-2">
            <a:extLst>
              <a:ext uri="{FF2B5EF4-FFF2-40B4-BE49-F238E27FC236}">
                <a16:creationId xmlns:a16="http://schemas.microsoft.com/office/drawing/2014/main" id="{6FAC8690-9F28-47EB-854E-65BC3AFC7E92}"/>
              </a:ext>
            </a:extLst>
          </p:cNvPr>
          <p:cNvSpPr>
            <a:spLocks noGrp="1"/>
          </p:cNvSpPr>
          <p:nvPr/>
        </p:nvSpPr>
        <p:spPr>
          <a:xfrm>
            <a:off x="10439400" y="2714625"/>
            <a:ext cx="3886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提炼可复用经验</a:t>
            </a:r>
          </a:p>
        </p:txBody>
      </p:sp>
      <p:sp>
        <p:nvSpPr>
          <p:cNvPr id="17" name="route-input-2">
            <a:extLst>
              <a:ext uri="{FF2B5EF4-FFF2-40B4-BE49-F238E27FC236}">
                <a16:creationId xmlns:a16="http://schemas.microsoft.com/office/drawing/2014/main" id="{7AF664CC-224A-4452-9555-0190E2F81F1E}"/>
              </a:ext>
            </a:extLst>
          </p:cNvPr>
          <p:cNvSpPr>
            <a:spLocks noGrp="1"/>
          </p:cNvSpPr>
          <p:nvPr/>
        </p:nvSpPr>
        <p:spPr>
          <a:xfrm>
            <a:off x="10439400" y="3514725"/>
            <a:ext cx="388620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任务经历与反馈</a:t>
            </a:r>
          </a:p>
        </p:txBody>
      </p:sp>
      <p:sp>
        <p:nvSpPr>
          <p:cNvPr id="18" name="route-output-2">
            <a:extLst>
              <a:ext uri="{FF2B5EF4-FFF2-40B4-BE49-F238E27FC236}">
                <a16:creationId xmlns:a16="http://schemas.microsoft.com/office/drawing/2014/main" id="{53C932C1-2DFD-4FAB-8963-237E16E6B99E}"/>
              </a:ext>
            </a:extLst>
          </p:cNvPr>
          <p:cNvSpPr>
            <a:spLocks noGrp="1"/>
          </p:cNvSpPr>
          <p:nvPr/>
        </p:nvSpPr>
        <p:spPr>
          <a:xfrm>
            <a:off x="10439400" y="4819650"/>
            <a:ext cx="3886200" cy="81915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后续可用的经验</a:t>
            </a:r>
          </a:p>
        </p:txBody>
      </p:sp>
      <p:sp>
        <p:nvSpPr>
          <p:cNvPr id="20" name="method-name-2">
            <a:extLst>
              <a:ext uri="{FF2B5EF4-FFF2-40B4-BE49-F238E27FC236}">
                <a16:creationId xmlns:a16="http://schemas.microsoft.com/office/drawing/2014/main" id="{2D0CAFE5-6425-49F3-BA4F-EFF4F0E5941D}"/>
              </a:ext>
            </a:extLst>
          </p:cNvPr>
          <p:cNvSpPr>
            <a:spLocks noGrp="1"/>
          </p:cNvSpPr>
          <p:nvPr/>
        </p:nvSpPr>
        <p:spPr>
          <a:xfrm>
            <a:off x="10439400" y="5953125"/>
            <a:ext cx="38862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Reflexion（2023）</a:t>
            </a:r>
          </a:p>
          <a:p>
            <a:pPr algn="l">
              <a:def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ExpeL（2024）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1F7EABC4-7A5D-4BC3-AC63-08777BD9292A}"/>
              </a:ext>
            </a:extLst>
          </p:cNvPr>
          <p:cNvSpPr>
            <a:spLocks noGrp="1"/>
          </p:cNvSpPr>
          <p:nvPr/>
        </p:nvSpPr>
        <p:spPr>
          <a:xfrm>
            <a:off x="914400" y="6981825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22" name="later-work">
            <a:extLst>
              <a:ext uri="{FF2B5EF4-FFF2-40B4-BE49-F238E27FC236}">
                <a16:creationId xmlns:a16="http://schemas.microsoft.com/office/drawing/2014/main" id="{38D1BD43-8EFF-4C77-81B4-244D6D3B0A6F}"/>
              </a:ext>
            </a:extLst>
          </p:cNvPr>
          <p:cNvSpPr>
            <a:spLocks noGrp="1"/>
          </p:cNvSpPr>
          <p:nvPr/>
        </p:nvSpPr>
        <p:spPr>
          <a:xfrm>
            <a:off x="914400" y="7219950"/>
            <a:ext cx="13411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后续探索：A-Mem 的关联笔记、Zep 的时序图、MemBuilder 的学习式构建。</a:t>
            </a:r>
          </a:p>
        </p:txBody>
      </p:sp>
      <p:sp>
        <p:nvSpPr>
          <p:cNvPr id="23" name="method-takeaway">
            <a:extLst>
              <a:ext uri="{FF2B5EF4-FFF2-40B4-BE49-F238E27FC236}">
                <a16:creationId xmlns:a16="http://schemas.microsoft.com/office/drawing/2014/main" id="{6E26FC4F-4D27-4CD3-832F-1E6E45A76865}"/>
              </a:ext>
            </a:extLst>
          </p:cNvPr>
          <p:cNvSpPr>
            <a:spLocks noGrp="1"/>
          </p:cNvSpPr>
          <p:nvPr/>
        </p:nvSpPr>
        <p:spPr>
          <a:xfrm>
            <a:off x="914400" y="7686675"/>
            <a:ext cx="13411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这些路线可以组合；组织形式需要适配任务与检索需求。</a:t>
            </a:r>
          </a:p>
        </p:txBody>
      </p:sp>
    </p:spTree>
    <p:extLst>
      <p:ext uri="{BB962C8B-B14F-4D97-AF65-F5344CB8AC3E}">
        <p14:creationId xmlns:p14="http://schemas.microsoft.com/office/powerpoint/2010/main" val="1606423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1B47F2A-F255-4F17-9D88-FA498EA1F04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743700" y="3486150"/>
            <a:ext cx="1752600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sp>
        <p:nvSpPr>
          <p:cNvPr id="23" name="slide-title">
            <a:extLst>
              <a:ext uri="{FF2B5EF4-FFF2-40B4-BE49-F238E27FC236}">
                <a16:creationId xmlns:a16="http://schemas.microsoft.com/office/drawing/2014/main" id="{34064CE7-DCC8-4A12-86D6-AF6B4474AEA2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信息变化后，旧记忆怎么办？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6791AE23-D56C-48E0-8AB2-DD2DFB563FC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4465E7B-83E2-49EE-A0AD-922605DDA47A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B464E21-3FEE-4164-AC84-8C3031064290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5" name="example-disclosure">
            <a:extLst>
              <a:ext uri="{FF2B5EF4-FFF2-40B4-BE49-F238E27FC236}">
                <a16:creationId xmlns:a16="http://schemas.microsoft.com/office/drawing/2014/main" id="{8D171C3B-612D-42C5-A331-B47CDD27E5A8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13411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dirty="0" err="1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举一个虚构的例子：</a:t>
            </a:r>
            <a:endParaRPr sz="1650" b="0" dirty="0">
              <a:solidFill>
                <a:srgbClr val="5B696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first-notice-label">
            <a:extLst>
              <a:ext uri="{FF2B5EF4-FFF2-40B4-BE49-F238E27FC236}">
                <a16:creationId xmlns:a16="http://schemas.microsoft.com/office/drawing/2014/main" id="{F9C4C68D-61C6-4B23-9041-4C9E835EF9CC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58293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第一次通知</a:t>
            </a:r>
          </a:p>
        </p:txBody>
      </p:sp>
      <p:sp>
        <p:nvSpPr>
          <p:cNvPr id="7" name="revised-notice-label">
            <a:extLst>
              <a:ext uri="{FF2B5EF4-FFF2-40B4-BE49-F238E27FC236}">
                <a16:creationId xmlns:a16="http://schemas.microsoft.com/office/drawing/2014/main" id="{CD400256-483D-4E1E-820B-E8AC789FA621}"/>
              </a:ext>
            </a:extLst>
          </p:cNvPr>
          <p:cNvSpPr>
            <a:spLocks noGrp="1"/>
          </p:cNvSpPr>
          <p:nvPr/>
        </p:nvSpPr>
        <p:spPr>
          <a:xfrm>
            <a:off x="8496300" y="2390775"/>
            <a:ext cx="58293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后续通知</a:t>
            </a:r>
          </a:p>
        </p:txBody>
      </p:sp>
      <p:sp>
        <p:nvSpPr>
          <p:cNvPr id="8" name="old-notice">
            <a:extLst>
              <a:ext uri="{FF2B5EF4-FFF2-40B4-BE49-F238E27FC236}">
                <a16:creationId xmlns:a16="http://schemas.microsoft.com/office/drawing/2014/main" id="{78B90A61-6039-4AE5-8475-828BD618B1C9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5829300" cy="971550"/>
          </a:xfrm>
          <a:prstGeom prst="rect">
            <a:avLst/>
          </a:prstGeom>
          <a:solidFill>
            <a:srgbClr val="FFFFFF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报告在周五提交</a:t>
            </a:r>
          </a:p>
        </p:txBody>
      </p:sp>
      <p:sp>
        <p:nvSpPr>
          <p:cNvPr id="9" name="current-notice">
            <a:extLst>
              <a:ext uri="{FF2B5EF4-FFF2-40B4-BE49-F238E27FC236}">
                <a16:creationId xmlns:a16="http://schemas.microsoft.com/office/drawing/2014/main" id="{90A203AE-52C2-46E8-BBF3-F9C390C934CA}"/>
              </a:ext>
            </a:extLst>
          </p:cNvPr>
          <p:cNvSpPr>
            <a:spLocks noGrp="1"/>
          </p:cNvSpPr>
          <p:nvPr/>
        </p:nvSpPr>
        <p:spPr>
          <a:xfrm>
            <a:off x="8496300" y="3000375"/>
            <a:ext cx="5829300" cy="97155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改为下周一提交</a:t>
            </a:r>
          </a:p>
        </p:txBody>
      </p:sp>
      <p:sp>
        <p:nvSpPr>
          <p:cNvPr id="11" name="current-question">
            <a:extLst>
              <a:ext uri="{FF2B5EF4-FFF2-40B4-BE49-F238E27FC236}">
                <a16:creationId xmlns:a16="http://schemas.microsoft.com/office/drawing/2014/main" id="{085D2F34-E01C-4DE4-8D42-9EC06E3FED9A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63055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“现在什么时候交？”</a:t>
            </a:r>
          </a:p>
        </p:txBody>
      </p:sp>
      <p:sp>
        <p:nvSpPr>
          <p:cNvPr id="12" name="current-answer">
            <a:extLst>
              <a:ext uri="{FF2B5EF4-FFF2-40B4-BE49-F238E27FC236}">
                <a16:creationId xmlns:a16="http://schemas.microsoft.com/office/drawing/2014/main" id="{1947252D-DD83-4872-9D65-AFB340D54147}"/>
              </a:ext>
            </a:extLst>
          </p:cNvPr>
          <p:cNvSpPr>
            <a:spLocks noGrp="1"/>
          </p:cNvSpPr>
          <p:nvPr/>
        </p:nvSpPr>
        <p:spPr>
          <a:xfrm>
            <a:off x="914400" y="5038725"/>
            <a:ext cx="6305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需要最新有效信息：下周一。</a:t>
            </a:r>
          </a:p>
        </p:txBody>
      </p:sp>
      <p:sp>
        <p:nvSpPr>
          <p:cNvPr id="13" name="historical-question">
            <a:extLst>
              <a:ext uri="{FF2B5EF4-FFF2-40B4-BE49-F238E27FC236}">
                <a16:creationId xmlns:a16="http://schemas.microsoft.com/office/drawing/2014/main" id="{A051D3B9-8FDA-4E89-8439-F732EA35B521}"/>
              </a:ext>
            </a:extLst>
          </p:cNvPr>
          <p:cNvSpPr>
            <a:spLocks noGrp="1"/>
          </p:cNvSpPr>
          <p:nvPr/>
        </p:nvSpPr>
        <p:spPr>
          <a:xfrm>
            <a:off x="8496300" y="4457700"/>
            <a:ext cx="58293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“最初通知哪天交？”</a:t>
            </a:r>
          </a:p>
        </p:txBody>
      </p:sp>
      <p:sp>
        <p:nvSpPr>
          <p:cNvPr id="14" name="historical-answer">
            <a:extLst>
              <a:ext uri="{FF2B5EF4-FFF2-40B4-BE49-F238E27FC236}">
                <a16:creationId xmlns:a16="http://schemas.microsoft.com/office/drawing/2014/main" id="{1EFF0E25-9495-4FE7-A43D-4ACA30A3F136}"/>
              </a:ext>
            </a:extLst>
          </p:cNvPr>
          <p:cNvSpPr>
            <a:spLocks noGrp="1"/>
          </p:cNvSpPr>
          <p:nvPr/>
        </p:nvSpPr>
        <p:spPr>
          <a:xfrm>
            <a:off x="8496300" y="5038725"/>
            <a:ext cx="5829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仍需要历史信息：周五。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EAE927C6-8C81-4F29-BF06-5AD4F2401F7D}"/>
              </a:ext>
            </a:extLst>
          </p:cNvPr>
          <p:cNvSpPr>
            <a:spLocks noGrp="1"/>
          </p:cNvSpPr>
          <p:nvPr/>
        </p:nvSpPr>
        <p:spPr>
          <a:xfrm>
            <a:off x="914400" y="5991225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6" name="update-idea-0">
            <a:extLst>
              <a:ext uri="{FF2B5EF4-FFF2-40B4-BE49-F238E27FC236}">
                <a16:creationId xmlns:a16="http://schemas.microsoft.com/office/drawing/2014/main" id="{3F0CD478-FDD5-426E-8431-5F6988B1D539}"/>
              </a:ext>
            </a:extLst>
          </p:cNvPr>
          <p:cNvSpPr>
            <a:spLocks noGrp="1"/>
          </p:cNvSpPr>
          <p:nvPr/>
        </p:nvSpPr>
        <p:spPr>
          <a:xfrm>
            <a:off x="914400" y="6334125"/>
            <a:ext cx="426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保留版本，按时间检索</a:t>
            </a:r>
          </a:p>
        </p:txBody>
      </p:sp>
      <p:sp>
        <p:nvSpPr>
          <p:cNvPr id="17" name="update-method-0">
            <a:extLst>
              <a:ext uri="{FF2B5EF4-FFF2-40B4-BE49-F238E27FC236}">
                <a16:creationId xmlns:a16="http://schemas.microsoft.com/office/drawing/2014/main" id="{DF814CE6-0EEB-46BA-A598-2A94FC1C3170}"/>
              </a:ext>
            </a:extLst>
          </p:cNvPr>
          <p:cNvSpPr>
            <a:spLocks noGrp="1"/>
          </p:cNvSpPr>
          <p:nvPr/>
        </p:nvSpPr>
        <p:spPr>
          <a:xfrm>
            <a:off x="914400" y="6896100"/>
            <a:ext cx="4267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Mem++</a:t>
            </a:r>
          </a:p>
        </p:txBody>
      </p:sp>
      <p:sp>
        <p:nvSpPr>
          <p:cNvPr id="18" name="update-idea-1">
            <a:extLst>
              <a:ext uri="{FF2B5EF4-FFF2-40B4-BE49-F238E27FC236}">
                <a16:creationId xmlns:a16="http://schemas.microsoft.com/office/drawing/2014/main" id="{34AED373-A7F5-40C3-86E4-BC6FE73A4119}"/>
              </a:ext>
            </a:extLst>
          </p:cNvPr>
          <p:cNvSpPr>
            <a:spLocks noGrp="1"/>
          </p:cNvSpPr>
          <p:nvPr/>
        </p:nvSpPr>
        <p:spPr>
          <a:xfrm>
            <a:off x="5486400" y="6334125"/>
            <a:ext cx="426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标记旧事实失效</a:t>
            </a:r>
          </a:p>
        </p:txBody>
      </p:sp>
      <p:sp>
        <p:nvSpPr>
          <p:cNvPr id="19" name="update-method-1">
            <a:extLst>
              <a:ext uri="{FF2B5EF4-FFF2-40B4-BE49-F238E27FC236}">
                <a16:creationId xmlns:a16="http://schemas.microsoft.com/office/drawing/2014/main" id="{7AE3AACF-AFA0-4A3F-B332-E8A8E7DAC414}"/>
              </a:ext>
            </a:extLst>
          </p:cNvPr>
          <p:cNvSpPr>
            <a:spLocks noGrp="1"/>
          </p:cNvSpPr>
          <p:nvPr/>
        </p:nvSpPr>
        <p:spPr>
          <a:xfrm>
            <a:off x="5486400" y="6896100"/>
            <a:ext cx="4267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SodaMem</a:t>
            </a:r>
          </a:p>
        </p:txBody>
      </p:sp>
      <p:sp>
        <p:nvSpPr>
          <p:cNvPr id="20" name="update-idea-2">
            <a:extLst>
              <a:ext uri="{FF2B5EF4-FFF2-40B4-BE49-F238E27FC236}">
                <a16:creationId xmlns:a16="http://schemas.microsoft.com/office/drawing/2014/main" id="{F7FB545E-67C7-486A-A56D-A893867DB414}"/>
              </a:ext>
            </a:extLst>
          </p:cNvPr>
          <p:cNvSpPr>
            <a:spLocks noGrp="1"/>
          </p:cNvSpPr>
          <p:nvPr/>
        </p:nvSpPr>
        <p:spPr>
          <a:xfrm>
            <a:off x="10058400" y="6334125"/>
            <a:ext cx="4267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整合与遗忘冗余记忆</a:t>
            </a:r>
          </a:p>
        </p:txBody>
      </p:sp>
      <p:sp>
        <p:nvSpPr>
          <p:cNvPr id="21" name="update-method-2">
            <a:extLst>
              <a:ext uri="{FF2B5EF4-FFF2-40B4-BE49-F238E27FC236}">
                <a16:creationId xmlns:a16="http://schemas.microsoft.com/office/drawing/2014/main" id="{00FF2826-1E39-4421-BBAB-C18819C60608}"/>
              </a:ext>
            </a:extLst>
          </p:cNvPr>
          <p:cNvSpPr>
            <a:spLocks noGrp="1"/>
          </p:cNvSpPr>
          <p:nvPr/>
        </p:nvSpPr>
        <p:spPr>
          <a:xfrm>
            <a:off x="10058400" y="6896100"/>
            <a:ext cx="4267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REALM</a:t>
            </a:r>
          </a:p>
        </p:txBody>
      </p:sp>
      <p:sp>
        <p:nvSpPr>
          <p:cNvPr id="22" name="update-conclusion">
            <a:extLst>
              <a:ext uri="{FF2B5EF4-FFF2-40B4-BE49-F238E27FC236}">
                <a16:creationId xmlns:a16="http://schemas.microsoft.com/office/drawing/2014/main" id="{04B513EE-DAAD-4C00-835D-7D1C9CB9D190}"/>
              </a:ext>
            </a:extLst>
          </p:cNvPr>
          <p:cNvSpPr>
            <a:spLocks noGrp="1"/>
          </p:cNvSpPr>
          <p:nvPr/>
        </p:nvSpPr>
        <p:spPr>
          <a:xfrm>
            <a:off x="914400" y="7591425"/>
            <a:ext cx="13411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更新需要保留时间和来源，并区分当前回答与历史查询。</a:t>
            </a:r>
          </a:p>
        </p:txBody>
      </p:sp>
    </p:spTree>
    <p:extLst>
      <p:ext uri="{BB962C8B-B14F-4D97-AF65-F5344CB8AC3E}">
        <p14:creationId xmlns:p14="http://schemas.microsoft.com/office/powerpoint/2010/main" val="141314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9C4E356-60C2-4DD5-9893-3286009790F0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9610725" y="6162675"/>
            <a:ext cx="733425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374ED0C-2F92-4F0F-8514-693B4DADC1F0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4895850" y="6162675"/>
            <a:ext cx="733425" cy="0"/>
          </a:xfrm>
          <a:prstGeom prst="straightConnector1">
            <a:avLst/>
          </a:prstGeom>
          <a:ln w="21908">
            <a:solidFill>
              <a:srgbClr val="087C71"/>
            </a:solidFill>
            <a:tailEnd type="arrow" w="med" len="med"/>
          </a:ln>
        </p:spPr>
      </p:cxnSp>
      <p:sp>
        <p:nvSpPr>
          <p:cNvPr id="17" name="slide-title">
            <a:extLst>
              <a:ext uri="{FF2B5EF4-FFF2-40B4-BE49-F238E27FC236}">
                <a16:creationId xmlns:a16="http://schemas.microsoft.com/office/drawing/2014/main" id="{B7ABE1BE-5216-4BA3-A9AB-72654FB80FAF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怎样检验记忆是否可靠？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7CB9A6E9-70C7-4644-8B3C-4AF0480B811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97A3D68-C67C-42C8-B263-A61460E6D6B6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F51C3EB-6036-4963-AA66-79A4A2D49BB6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5" name="evaluation-question">
            <a:extLst>
              <a:ext uri="{FF2B5EF4-FFF2-40B4-BE49-F238E27FC236}">
                <a16:creationId xmlns:a16="http://schemas.microsoft.com/office/drawing/2014/main" id="{D635658F-9303-4ED9-88D5-F2EA52CBF038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13411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答对一次，能说明长期可靠吗？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8CB5365-9688-4FB4-87A8-28862CD7BF73}"/>
              </a:ext>
            </a:extLst>
          </p:cNvPr>
          <p:cNvGraphicFramePr/>
          <p:nvPr/>
        </p:nvGraphicFramePr>
        <p:xfrm>
          <a:off x="914400" y="2571750"/>
          <a:ext cx="13411200" cy="2743200"/>
        </p:xfrm>
        <a:graphic>
          <a:graphicData uri="http://schemas.openxmlformats.org/drawingml/2006/table">
            <a:tbl>
              <a:tblPr firstRow="1"/>
              <a:tblGrid>
                <a:gridCol w="1000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检查的问题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代表基准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跨多次对话还能找回信息吗？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LoCoMo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信息更新后能答对，缺依据时能弃答吗？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LongMemEval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错误发生在抽取、更新，还是问答？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HaluMem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diagnosis-0">
            <a:extLst>
              <a:ext uri="{FF2B5EF4-FFF2-40B4-BE49-F238E27FC236}">
                <a16:creationId xmlns:a16="http://schemas.microsoft.com/office/drawing/2014/main" id="{99EB13F2-4C04-486F-805F-D3FDE5D72166}"/>
              </a:ext>
            </a:extLst>
          </p:cNvPr>
          <p:cNvSpPr>
            <a:spLocks noGrp="1"/>
          </p:cNvSpPr>
          <p:nvPr/>
        </p:nvSpPr>
        <p:spPr>
          <a:xfrm>
            <a:off x="914400" y="5857875"/>
            <a:ext cx="3981450" cy="60960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抽取</a:t>
            </a:r>
          </a:p>
        </p:txBody>
      </p:sp>
      <p:sp>
        <p:nvSpPr>
          <p:cNvPr id="8" name="diagnosis-caption-0">
            <a:extLst>
              <a:ext uri="{FF2B5EF4-FFF2-40B4-BE49-F238E27FC236}">
                <a16:creationId xmlns:a16="http://schemas.microsoft.com/office/drawing/2014/main" id="{069CBFB2-AB26-4D51-85D0-EF0C3B5B5B03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3981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检查写入的内容</a:t>
            </a:r>
          </a:p>
        </p:txBody>
      </p:sp>
      <p:sp>
        <p:nvSpPr>
          <p:cNvPr id="9" name="diagnosis-1">
            <a:extLst>
              <a:ext uri="{FF2B5EF4-FFF2-40B4-BE49-F238E27FC236}">
                <a16:creationId xmlns:a16="http://schemas.microsoft.com/office/drawing/2014/main" id="{BF124633-B3EA-4B1D-9F77-6EC1E11177CF}"/>
              </a:ext>
            </a:extLst>
          </p:cNvPr>
          <p:cNvSpPr>
            <a:spLocks noGrp="1"/>
          </p:cNvSpPr>
          <p:nvPr/>
        </p:nvSpPr>
        <p:spPr>
          <a:xfrm>
            <a:off x="5629275" y="5857875"/>
            <a:ext cx="3981450" cy="60960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10" name="diagnosis-caption-1">
            <a:extLst>
              <a:ext uri="{FF2B5EF4-FFF2-40B4-BE49-F238E27FC236}">
                <a16:creationId xmlns:a16="http://schemas.microsoft.com/office/drawing/2014/main" id="{64D27A15-9B9C-4B4A-84BA-ED90A2CD7083}"/>
              </a:ext>
            </a:extLst>
          </p:cNvPr>
          <p:cNvSpPr>
            <a:spLocks noGrp="1"/>
          </p:cNvSpPr>
          <p:nvPr/>
        </p:nvSpPr>
        <p:spPr>
          <a:xfrm>
            <a:off x="5629275" y="6581775"/>
            <a:ext cx="3981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检查新旧信息处理</a:t>
            </a:r>
          </a:p>
        </p:txBody>
      </p:sp>
      <p:sp>
        <p:nvSpPr>
          <p:cNvPr id="11" name="diagnosis-2">
            <a:extLst>
              <a:ext uri="{FF2B5EF4-FFF2-40B4-BE49-F238E27FC236}">
                <a16:creationId xmlns:a16="http://schemas.microsoft.com/office/drawing/2014/main" id="{391E3E54-118A-4E60-BB5A-14D83C9E7963}"/>
              </a:ext>
            </a:extLst>
          </p:cNvPr>
          <p:cNvSpPr>
            <a:spLocks noGrp="1"/>
          </p:cNvSpPr>
          <p:nvPr/>
        </p:nvSpPr>
        <p:spPr>
          <a:xfrm>
            <a:off x="10344150" y="5857875"/>
            <a:ext cx="3981450" cy="609600"/>
          </a:xfrm>
          <a:prstGeom prst="rect">
            <a:avLst/>
          </a:prstGeom>
          <a:solidFill>
            <a:srgbClr val="E7F1ED"/>
          </a:solidFill>
          <a:ln w="13335">
            <a:solidFill>
              <a:srgbClr val="D7E0D9"/>
            </a:solidFill>
          </a:ln>
        </p:spPr>
        <p:txBody>
          <a:bodyPr wrap="square" lIns="152400" tIns="152400" rIns="152400" bIns="152400" anchor="ctr">
            <a:noAutofit/>
          </a:bodyPr>
          <a:lstStyle>
            <a:def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问答</a:t>
            </a:r>
          </a:p>
        </p:txBody>
      </p:sp>
      <p:sp>
        <p:nvSpPr>
          <p:cNvPr id="12" name="diagnosis-caption-2">
            <a:extLst>
              <a:ext uri="{FF2B5EF4-FFF2-40B4-BE49-F238E27FC236}">
                <a16:creationId xmlns:a16="http://schemas.microsoft.com/office/drawing/2014/main" id="{FE7DF787-AB62-4651-83D7-AC9ABEB6A38C}"/>
              </a:ext>
            </a:extLst>
          </p:cNvPr>
          <p:cNvSpPr>
            <a:spLocks noGrp="1"/>
          </p:cNvSpPr>
          <p:nvPr/>
        </p:nvSpPr>
        <p:spPr>
          <a:xfrm>
            <a:off x="10344150" y="6581775"/>
            <a:ext cx="39814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ctr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检查最终使用方式</a:t>
            </a:r>
          </a:p>
        </p:txBody>
      </p:sp>
      <p:sp>
        <p:nvSpPr>
          <p:cNvPr id="15" name="comparison-controls">
            <a:extLst>
              <a:ext uri="{FF2B5EF4-FFF2-40B4-BE49-F238E27FC236}">
                <a16:creationId xmlns:a16="http://schemas.microsoft.com/office/drawing/2014/main" id="{22A32D7C-0601-476C-B8AD-1BF93725443F}"/>
              </a:ext>
            </a:extLst>
          </p:cNvPr>
          <p:cNvSpPr>
            <a:spLocks noGrp="1"/>
          </p:cNvSpPr>
          <p:nvPr/>
        </p:nvSpPr>
        <p:spPr>
          <a:xfrm>
            <a:off x="914400" y="7229475"/>
            <a:ext cx="13411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比较方法还需对齐模型、输入证据、检索预算与评分方式。</a:t>
            </a:r>
          </a:p>
        </p:txBody>
      </p:sp>
      <p:sp>
        <p:nvSpPr>
          <p:cNvPr id="16" name="evaluation-challenge">
            <a:extLst>
              <a:ext uri="{FF2B5EF4-FFF2-40B4-BE49-F238E27FC236}">
                <a16:creationId xmlns:a16="http://schemas.microsoft.com/office/drawing/2014/main" id="{E8CB966F-9837-423C-9D90-EACDF343CDAA}"/>
              </a:ext>
            </a:extLst>
          </p:cNvPr>
          <p:cNvSpPr>
            <a:spLocks noGrp="1"/>
          </p:cNvSpPr>
          <p:nvPr/>
        </p:nvSpPr>
        <p:spPr>
          <a:xfrm>
            <a:off x="914400" y="7667625"/>
            <a:ext cx="13411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当前挑战：持续更新中的错误与代价，仍需要更可比较的评测。</a:t>
            </a:r>
          </a:p>
        </p:txBody>
      </p:sp>
    </p:spTree>
    <p:extLst>
      <p:ext uri="{BB962C8B-B14F-4D97-AF65-F5344CB8AC3E}">
        <p14:creationId xmlns:p14="http://schemas.microsoft.com/office/powerpoint/2010/main" val="115473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18BC3B1A-45B4-4C33-BD03-990BB0408091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这次综述，我们得到三个认识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0B0FE981-028D-4D93-AFAA-DF85ED2571C3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9CC96E6C-A7A2-42AA-95F2-3AE85F7B513F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第二部分：长期记忆综述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69EDBEDA-C7C3-4689-8FD3-4F3A29A63795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5" name="synthesis-topic-0">
            <a:extLst>
              <a:ext uri="{FF2B5EF4-FFF2-40B4-BE49-F238E27FC236}">
                <a16:creationId xmlns:a16="http://schemas.microsoft.com/office/drawing/2014/main" id="{C37D0755-C3F1-4AE0-96B3-FF3D158F0763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22669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组织</a:t>
            </a:r>
          </a:p>
        </p:txBody>
      </p:sp>
      <p:sp>
        <p:nvSpPr>
          <p:cNvPr id="6" name="synthesis-body-0">
            <a:extLst>
              <a:ext uri="{FF2B5EF4-FFF2-40B4-BE49-F238E27FC236}">
                <a16:creationId xmlns:a16="http://schemas.microsoft.com/office/drawing/2014/main" id="{B0034AA0-D4EB-4B87-8845-AC18AEAECC59}"/>
              </a:ext>
            </a:extLst>
          </p:cNvPr>
          <p:cNvSpPr>
            <a:spLocks noGrp="1"/>
          </p:cNvSpPr>
          <p:nvPr/>
        </p:nvSpPr>
        <p:spPr>
          <a:xfrm>
            <a:off x="3733800" y="2209800"/>
            <a:ext cx="10591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不同表示解决不同问题</a:t>
            </a:r>
            <a:r>
              <a:rPr sz="2475" b="0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，</a:t>
            </a:r>
          </a:p>
          <a:p>
            <a: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不能只凭结构复杂度判断效果</a:t>
            </a:r>
            <a:r>
              <a:rPr sz="2475" b="0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7" name="synthesis-topic-1">
            <a:extLst>
              <a:ext uri="{FF2B5EF4-FFF2-40B4-BE49-F238E27FC236}">
                <a16:creationId xmlns:a16="http://schemas.microsoft.com/office/drawing/2014/main" id="{EAE2131B-39F7-443D-9D6D-D20CA1497271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22669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更新</a:t>
            </a:r>
          </a:p>
        </p:txBody>
      </p:sp>
      <p:sp>
        <p:nvSpPr>
          <p:cNvPr id="8" name="synthesis-body-1">
            <a:extLst>
              <a:ext uri="{FF2B5EF4-FFF2-40B4-BE49-F238E27FC236}">
                <a16:creationId xmlns:a16="http://schemas.microsoft.com/office/drawing/2014/main" id="{70BCA1F3-5029-4762-B426-472BA27EADA4}"/>
              </a:ext>
            </a:extLst>
          </p:cNvPr>
          <p:cNvSpPr>
            <a:spLocks noGrp="1"/>
          </p:cNvSpPr>
          <p:nvPr/>
        </p:nvSpPr>
        <p:spPr>
          <a:xfrm>
            <a:off x="3733800" y="3571875"/>
            <a:ext cx="10591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需要同时处理当前事实、历史版本与信息来源</a:t>
            </a:r>
            <a:r>
              <a:rPr sz="2475" b="0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9" name="synthesis-topic-2">
            <a:extLst>
              <a:ext uri="{FF2B5EF4-FFF2-40B4-BE49-F238E27FC236}">
                <a16:creationId xmlns:a16="http://schemas.microsoft.com/office/drawing/2014/main" id="{F6F62EF6-EDDD-427E-9AA9-F94B0A785F1F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22669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评测</a:t>
            </a:r>
          </a:p>
        </p:txBody>
      </p:sp>
      <p:sp>
        <p:nvSpPr>
          <p:cNvPr id="10" name="synthesis-body-2">
            <a:extLst>
              <a:ext uri="{FF2B5EF4-FFF2-40B4-BE49-F238E27FC236}">
                <a16:creationId xmlns:a16="http://schemas.microsoft.com/office/drawing/2014/main" id="{B35E87E6-8F5F-4AE4-B1E0-463551B2FAB7}"/>
              </a:ext>
            </a:extLst>
          </p:cNvPr>
          <p:cNvSpPr>
            <a:spLocks noGrp="1"/>
          </p:cNvSpPr>
          <p:nvPr/>
        </p:nvSpPr>
        <p:spPr>
          <a:xfrm>
            <a:off x="3733800" y="4933950"/>
            <a:ext cx="10591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应结合任务表现、更新正确性、可靠性与成本</a:t>
            </a:r>
            <a:r>
              <a:rPr sz="2475" b="0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09ABED4A-DF77-4E24-B284-E28D208045C5}"/>
              </a:ext>
            </a:extLst>
          </p:cNvPr>
          <p:cNvSpPr>
            <a:spLocks noGrp="1"/>
          </p:cNvSpPr>
          <p:nvPr/>
        </p:nvSpPr>
        <p:spPr>
          <a:xfrm>
            <a:off x="914400" y="65341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2" name="writing-lesson">
            <a:extLst>
              <a:ext uri="{FF2B5EF4-FFF2-40B4-BE49-F238E27FC236}">
                <a16:creationId xmlns:a16="http://schemas.microsoft.com/office/drawing/2014/main" id="{5C112E1A-7987-4B82-805F-048EE4105DFD}"/>
              </a:ext>
            </a:extLst>
          </p:cNvPr>
          <p:cNvSpPr>
            <a:spLocks noGrp="1"/>
          </p:cNvSpPr>
          <p:nvPr/>
        </p:nvSpPr>
        <p:spPr>
          <a:xfrm>
            <a:off x="914400" y="6810375"/>
            <a:ext cx="134112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写作上的收获：区分论文报告的结果与本组综合</a:t>
            </a:r>
            <a:r>
              <a:rPr sz="2175" b="1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，</a:t>
            </a:r>
          </a:p>
          <a:p>
            <a:pPr algn="l">
              <a:defRPr sz="21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 dirty="0" err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并让每个重要判断能回到证据</a:t>
            </a:r>
            <a:r>
              <a:rPr sz="2175" b="1" dirty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。</a:t>
            </a:r>
          </a:p>
        </p:txBody>
      </p:sp>
      <p:sp>
        <p:nvSpPr>
          <p:cNvPr id="13" name="limits">
            <a:extLst>
              <a:ext uri="{FF2B5EF4-FFF2-40B4-BE49-F238E27FC236}">
                <a16:creationId xmlns:a16="http://schemas.microsoft.com/office/drawing/2014/main" id="{75366A62-17A6-4DC0-A900-26693AD7FAE3}"/>
              </a:ext>
            </a:extLst>
          </p:cNvPr>
          <p:cNvSpPr>
            <a:spLocks noGrp="1"/>
          </p:cNvSpPr>
          <p:nvPr/>
        </p:nvSpPr>
        <p:spPr>
          <a:xfrm>
            <a:off x="914400" y="7715250"/>
            <a:ext cx="13411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局限：部分结论依赖单一设置，近期预印本较多，人工核验尚待完成。</a:t>
            </a:r>
          </a:p>
        </p:txBody>
      </p:sp>
    </p:spTree>
    <p:extLst>
      <p:ext uri="{BB962C8B-B14F-4D97-AF65-F5344CB8AC3E}">
        <p14:creationId xmlns:p14="http://schemas.microsoft.com/office/powerpoint/2010/main" val="54573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425E4767-644D-40E7-904B-C63AD64EE4ED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小规模评估与失败案例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5D90513B-A147-4F92-B6EB-CED32827C0B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7CB0F95-4497-4399-B7B4-55E068FD06B6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C9091F04-B013-4A9A-8381-4ADAA46810EC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1</a:t>
            </a:r>
          </a:p>
        </p:txBody>
      </p:sp>
      <p:sp>
        <p:nvSpPr>
          <p:cNvPr id="5" name="evaluation-scope">
            <a:extLst>
              <a:ext uri="{FF2B5EF4-FFF2-40B4-BE49-F238E27FC236}">
                <a16:creationId xmlns:a16="http://schemas.microsoft.com/office/drawing/2014/main" id="{0E7E117C-285A-4DAE-80A4-1FA2FB4175C6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13411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12 个任务，覆盖会话恢复、失效记忆、不确定性保留与跨运行任务。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FCF37F4-017A-481F-A2CD-1FA64CFE9765}"/>
              </a:ext>
            </a:extLst>
          </p:cNvPr>
          <p:cNvGraphicFramePr/>
          <p:nvPr/>
        </p:nvGraphicFramePr>
        <p:xfrm>
          <a:off x="914400" y="2790825"/>
          <a:ext cx="8477250" cy="3038475"/>
        </p:xfrm>
        <a:graphic>
          <a:graphicData uri="http://schemas.openxmlformats.org/drawingml/2006/table">
            <a:tbl>
              <a:tblPr firstRow="1"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当前成功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待核验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>
                      <a:solidFill>
                        <a:srgbClr val="D7E0D9"/>
                      </a:solidFill>
                      <a:prstDash val="soli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1E29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无记忆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直接上下文注入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EF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结构化持久记忆</a:t>
                      </a:r>
                    </a:p>
                  </a:txBody>
                  <a:tcPr anchor="ctr">
                    <a:lnL w="6668">
                      <a:solidFill>
                        <a:srgbClr val="D7E0D9"/>
                      </a:solidFill>
                      <a:prstDash val="soli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E292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E0D9"/>
                      </a:solidFill>
                      <a:prstDash val="solid"/>
                    </a:lnR>
                    <a:lnT w="6668" cap="flat" cmpd="sng" algn="ctr">
                      <a:solidFill>
                        <a:srgbClr val="D7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E0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served-capability">
            <a:extLst>
              <a:ext uri="{FF2B5EF4-FFF2-40B4-BE49-F238E27FC236}">
                <a16:creationId xmlns:a16="http://schemas.microsoft.com/office/drawing/2014/main" id="{51A83DEB-CFF4-461D-A837-2D16C06F51A1}"/>
              </a:ext>
            </a:extLst>
          </p:cNvPr>
          <p:cNvSpPr>
            <a:spLocks noGrp="1"/>
          </p:cNvSpPr>
          <p:nvPr/>
        </p:nvSpPr>
        <p:spPr>
          <a:xfrm>
            <a:off x="10267950" y="2876550"/>
            <a:ext cx="405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87C71"/>
                </a:solidFill>
                <a:latin typeface="Hiragino Sans GB"/>
                <a:ea typeface="Hiragino Sans GB"/>
                <a:cs typeface="Hiragino Sans GB"/>
              </a:rPr>
              <a:t>已展示：跨运行状态恢复。</a:t>
            </a:r>
          </a:p>
        </p:txBody>
      </p:sp>
      <p:sp>
        <p:nvSpPr>
          <p:cNvPr id="8" name="observed-failure">
            <a:extLst>
              <a:ext uri="{FF2B5EF4-FFF2-40B4-BE49-F238E27FC236}">
                <a16:creationId xmlns:a16="http://schemas.microsoft.com/office/drawing/2014/main" id="{0568D7AE-8987-4204-BE3D-14668F8E16FA}"/>
              </a:ext>
            </a:extLst>
          </p:cNvPr>
          <p:cNvSpPr>
            <a:spLocks noGrp="1"/>
          </p:cNvSpPr>
          <p:nvPr/>
        </p:nvSpPr>
        <p:spPr>
          <a:xfrm>
            <a:off x="10267950" y="4457700"/>
            <a:ext cx="405765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仍有失败：</a:t>
            </a:r>
          </a:p>
          <a:p>
            <a:pPr algn="l">
              <a:def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任务动作遗漏、过度确定。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69840CC6-70C3-46A5-9DB6-B7351125FB64}"/>
              </a:ext>
            </a:extLst>
          </p:cNvPr>
          <p:cNvSpPr>
            <a:spLocks noGrp="1"/>
          </p:cNvSpPr>
          <p:nvPr/>
        </p:nvSpPr>
        <p:spPr>
          <a:xfrm>
            <a:off x="914400" y="65341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10" name="no-superiority">
            <a:extLst>
              <a:ext uri="{FF2B5EF4-FFF2-40B4-BE49-F238E27FC236}">
                <a16:creationId xmlns:a16="http://schemas.microsoft.com/office/drawing/2014/main" id="{5498DB7D-F5CE-4E45-872E-C148D2520F48}"/>
              </a:ext>
            </a:extLst>
          </p:cNvPr>
          <p:cNvSpPr>
            <a:spLocks noGrp="1"/>
          </p:cNvSpPr>
          <p:nvPr/>
        </p:nvSpPr>
        <p:spPr>
          <a:xfrm>
            <a:off x="914400" y="6896100"/>
            <a:ext cx="134112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本实验未显示结构化记忆优于直接上下文注入。</a:t>
            </a:r>
          </a:p>
        </p:txBody>
      </p:sp>
      <p:sp>
        <p:nvSpPr>
          <p:cNvPr id="11" name="score-limit">
            <a:extLst>
              <a:ext uri="{FF2B5EF4-FFF2-40B4-BE49-F238E27FC236}">
                <a16:creationId xmlns:a16="http://schemas.microsoft.com/office/drawing/2014/main" id="{D7010DE4-77B5-40A3-9101-78223B584816}"/>
              </a:ext>
            </a:extLst>
          </p:cNvPr>
          <p:cNvSpPr>
            <a:spLocks noGrp="1"/>
          </p:cNvSpPr>
          <p:nvPr/>
        </p:nvSpPr>
        <p:spPr>
          <a:xfrm>
            <a:off x="914400" y="7553325"/>
            <a:ext cx="134112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语义判分仍待人工复核；小样本只用于展示能力与失败模式。</a:t>
            </a:r>
          </a:p>
        </p:txBody>
      </p:sp>
    </p:spTree>
    <p:extLst>
      <p:ext uri="{BB962C8B-B14F-4D97-AF65-F5344CB8AC3E}">
        <p14:creationId xmlns:p14="http://schemas.microsoft.com/office/powerpoint/2010/main" val="29719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F82FB294-47C1-4824-BE6C-0BE752E321A0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真实核验案例：摘录存在，转述仍会出错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35354638-5123-4BCF-9529-04CC3940022B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EB4EFBF-2D8D-470C-9714-ACBE6911829D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59B41EB-98FE-4794-A797-DCDE49AA6B68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2</a:t>
            </a:r>
          </a:p>
        </p:txBody>
      </p:sp>
      <p:sp>
        <p:nvSpPr>
          <p:cNvPr id="5" name="source-label">
            <a:extLst>
              <a:ext uri="{FF2B5EF4-FFF2-40B4-BE49-F238E27FC236}">
                <a16:creationId xmlns:a16="http://schemas.microsoft.com/office/drawing/2014/main" id="{D4169038-EBF3-4162-8C16-61906CF1B13C}"/>
              </a:ext>
            </a:extLst>
          </p:cNvPr>
          <p:cNvSpPr>
            <a:spLocks noGrp="1"/>
          </p:cNvSpPr>
          <p:nvPr/>
        </p:nvSpPr>
        <p:spPr>
          <a:xfrm>
            <a:off x="914400" y="1819275"/>
            <a:ext cx="134112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论文原文中的防御效用代价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5FE3C6E-92B9-461A-95AA-A3CC5442A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2724536"/>
            <a:ext cx="7162800" cy="2513829"/>
          </a:xfrm>
          <a:prstGeom prst="rect">
            <a:avLst/>
          </a:prstGeom>
        </p:spPr>
      </p:pic>
      <p:sp>
        <p:nvSpPr>
          <p:cNvPr id="7" name="source-caption">
            <a:extLst>
              <a:ext uri="{FF2B5EF4-FFF2-40B4-BE49-F238E27FC236}">
                <a16:creationId xmlns:a16="http://schemas.microsoft.com/office/drawing/2014/main" id="{A68C660E-7C36-4341-80FA-1416AFB23E58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16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arXiv:2609.22818，PDF 第 8 页，Table 3</a:t>
            </a:r>
          </a:p>
        </p:txBody>
      </p:sp>
      <p:sp>
        <p:nvSpPr>
          <p:cNvPr id="8" name="statistic">
            <a:extLst>
              <a:ext uri="{FF2B5EF4-FFF2-40B4-BE49-F238E27FC236}">
                <a16:creationId xmlns:a16="http://schemas.microsoft.com/office/drawing/2014/main" id="{00BC3BA2-B6A0-4954-802A-2ED5F043E1FF}"/>
              </a:ext>
            </a:extLst>
          </p:cNvPr>
          <p:cNvSpPr>
            <a:spLocks noGrp="1"/>
          </p:cNvSpPr>
          <p:nvPr/>
        </p:nvSpPr>
        <p:spPr>
          <a:xfrm>
            <a:off x="914400" y="6162675"/>
            <a:ext cx="716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−4.4 pp   [−9.0, −0.05]</a:t>
            </a:r>
          </a:p>
        </p:txBody>
      </p:sp>
      <p:sp>
        <p:nvSpPr>
          <p:cNvPr id="9" name="p-value">
            <a:extLst>
              <a:ext uri="{FF2B5EF4-FFF2-40B4-BE49-F238E27FC236}">
                <a16:creationId xmlns:a16="http://schemas.microsoft.com/office/drawing/2014/main" id="{3BC44919-C4F3-4E3F-9599-959C7A84B4AA}"/>
              </a:ext>
            </a:extLst>
          </p:cNvPr>
          <p:cNvSpPr>
            <a:spLocks noGrp="1"/>
          </p:cNvSpPr>
          <p:nvPr/>
        </p:nvSpPr>
        <p:spPr>
          <a:xfrm>
            <a:off x="914400" y="7029450"/>
            <a:ext cx="7162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95% bootstrap 区间；McNemar p = 0.064</a:t>
            </a:r>
          </a:p>
        </p:txBody>
      </p:sp>
      <p:sp>
        <p:nvSpPr>
          <p:cNvPr id="10" name="review-discovery">
            <a:extLst>
              <a:ext uri="{FF2B5EF4-FFF2-40B4-BE49-F238E27FC236}">
                <a16:creationId xmlns:a16="http://schemas.microsoft.com/office/drawing/2014/main" id="{2365734E-B07D-4A3D-8FF1-B1CF1B1B5A47}"/>
              </a:ext>
            </a:extLst>
          </p:cNvPr>
          <p:cNvSpPr>
            <a:spLocks noGrp="1"/>
          </p:cNvSpPr>
          <p:nvPr/>
        </p:nvSpPr>
        <p:spPr>
          <a:xfrm>
            <a:off x="8810625" y="2724150"/>
            <a:ext cx="5514975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后续回查发现：</a:t>
            </a:r>
          </a:p>
          <a:p>
            <a:pPr algn="l">
              <a:def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34F3D"/>
                </a:solidFill>
                <a:latin typeface="Hiragino Sans GB"/>
                <a:ea typeface="Hiragino Sans GB"/>
                <a:cs typeface="Hiragino Sans GB"/>
              </a:rPr>
              <a:t>统计区间负号曾被误转述。</a:t>
            </a:r>
          </a:p>
        </p:txBody>
      </p:sp>
      <p:sp>
        <p:nvSpPr>
          <p:cNvPr id="11" name="why-semantic">
            <a:extLst>
              <a:ext uri="{FF2B5EF4-FFF2-40B4-BE49-F238E27FC236}">
                <a16:creationId xmlns:a16="http://schemas.microsoft.com/office/drawing/2014/main" id="{5EB63300-9056-41AB-82BD-F9D02B4ED216}"/>
              </a:ext>
            </a:extLst>
          </p:cNvPr>
          <p:cNvSpPr>
            <a:spLocks noGrp="1"/>
          </p:cNvSpPr>
          <p:nvPr/>
        </p:nvSpPr>
        <p:spPr>
          <a:xfrm>
            <a:off x="8810625" y="4457700"/>
            <a:ext cx="5514975" cy="1552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原文匹配检查摘录。</a:t>
            </a:r>
          </a:p>
          <a:p>
            <a: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语义核验检查数值、条件</a:t>
            </a:r>
          </a:p>
          <a:p>
            <a:pPr algn="l">
              <a:def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和统计解释是否准确。</a:t>
            </a:r>
          </a:p>
        </p:txBody>
      </p:sp>
      <p:sp>
        <p:nvSpPr>
          <p:cNvPr id="12" name="conditional-interpretation">
            <a:extLst>
              <a:ext uri="{FF2B5EF4-FFF2-40B4-BE49-F238E27FC236}">
                <a16:creationId xmlns:a16="http://schemas.microsoft.com/office/drawing/2014/main" id="{F82DF086-ADDB-490E-B87D-D382FD5677DE}"/>
              </a:ext>
            </a:extLst>
          </p:cNvPr>
          <p:cNvSpPr>
            <a:spLocks noGrp="1"/>
          </p:cNvSpPr>
          <p:nvPr/>
        </p:nvSpPr>
        <p:spPr>
          <a:xfrm>
            <a:off x="8810625" y="6638925"/>
            <a:ext cx="5514975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区间上界接近零，且两种统计方法</a:t>
            </a:r>
          </a:p>
          <a:p>
            <a:pPr algn="l">
              <a:def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的判断不同，应保留作者的谨慎解释。</a:t>
            </a:r>
          </a:p>
        </p:txBody>
      </p:sp>
    </p:spTree>
    <p:extLst>
      <p:ext uri="{BB962C8B-B14F-4D97-AF65-F5344CB8AC3E}">
        <p14:creationId xmlns:p14="http://schemas.microsoft.com/office/powerpoint/2010/main" val="133986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24FD9A58-A6CE-493C-AF4A-DB1474CAD537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34112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825" b="1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阅读范围与精选参考文献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573F9F84-8E5F-4CDC-80B6-10D0501CE86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3411200" cy="0"/>
          </a:xfrm>
          <a:prstGeom prst="line">
            <a:avLst/>
          </a:prstGeom>
          <a:noFill/>
          <a:ln w="12383">
            <a:solidFill>
              <a:srgbClr val="D7E0D9"/>
            </a:solidFill>
          </a:ln>
        </p:spPr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140E1E9-4BF0-4A01-8043-3786F1C5C969}"/>
              </a:ext>
            </a:extLst>
          </p:cNvPr>
          <p:cNvSpPr>
            <a:spLocks noGrp="1"/>
          </p:cNvSpPr>
          <p:nvPr/>
        </p:nvSpPr>
        <p:spPr>
          <a:xfrm>
            <a:off x="914400" y="8134350"/>
            <a:ext cx="11811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补充材料，不计入 8 分钟主讲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DBDA2D70-DC8C-4324-805E-F299B142473B}"/>
              </a:ext>
            </a:extLst>
          </p:cNvPr>
          <p:cNvSpPr>
            <a:spLocks noGrp="1"/>
          </p:cNvSpPr>
          <p:nvPr/>
        </p:nvSpPr>
        <p:spPr>
          <a:xfrm>
            <a:off x="12858750" y="8086725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r">
              <a:def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备份 3</a:t>
            </a:r>
          </a:p>
        </p:txBody>
      </p:sp>
      <p:sp>
        <p:nvSpPr>
          <p:cNvPr id="5" name="cutoff">
            <a:extLst>
              <a:ext uri="{FF2B5EF4-FFF2-40B4-BE49-F238E27FC236}">
                <a16:creationId xmlns:a16="http://schemas.microsoft.com/office/drawing/2014/main" id="{2413E7B4-9884-48A3-B988-CBEA3C41E823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13411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主检索截止日：2026-10-17。核心阅读池 40 篇，正文引用 39 篇。</a:t>
            </a:r>
          </a:p>
        </p:txBody>
      </p:sp>
      <p:sp>
        <p:nvSpPr>
          <p:cNvPr id="6" name="review-boundary">
            <a:extLst>
              <a:ext uri="{FF2B5EF4-FFF2-40B4-BE49-F238E27FC236}">
                <a16:creationId xmlns:a16="http://schemas.microsoft.com/office/drawing/2014/main" id="{0F846975-30E7-4670-AB4C-B71365EA2ED4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13411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5B6963"/>
                </a:solidFill>
                <a:latin typeface="Hiragino Sans GB"/>
                <a:ea typeface="Hiragino Sans GB"/>
                <a:cs typeface="Hiragino Sans GB"/>
              </a:rPr>
              <a:t>范围：可写、可更新、跨会话的外部记忆；多模态工作仅在回答核心问题时纳入。</a:t>
            </a:r>
          </a:p>
        </p:txBody>
      </p:sp>
      <p:sp>
        <p:nvSpPr>
          <p:cNvPr id="7" name="reference-0">
            <a:extLst>
              <a:ext uri="{FF2B5EF4-FFF2-40B4-BE49-F238E27FC236}">
                <a16:creationId xmlns:a16="http://schemas.microsoft.com/office/drawing/2014/main" id="{D0DE1353-D12B-40D3-8405-8BC753356920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134112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Park et al. (2023). Generative Agents: Interactive Simulacra of Human Behavior.</a:t>
            </a:r>
          </a:p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DOI: 10.1145/3586183.3606763</a:t>
            </a:r>
          </a:p>
        </p:txBody>
      </p:sp>
      <p:sp>
        <p:nvSpPr>
          <p:cNvPr id="8" name="reference-1">
            <a:extLst>
              <a:ext uri="{FF2B5EF4-FFF2-40B4-BE49-F238E27FC236}">
                <a16:creationId xmlns:a16="http://schemas.microsoft.com/office/drawing/2014/main" id="{0B3F311C-A7C5-4EEA-93D3-9139A8C75B3B}"/>
              </a:ext>
            </a:extLst>
          </p:cNvPr>
          <p:cNvSpPr>
            <a:spLocks noGrp="1"/>
          </p:cNvSpPr>
          <p:nvPr/>
        </p:nvSpPr>
        <p:spPr>
          <a:xfrm>
            <a:off x="914400" y="3895725"/>
            <a:ext cx="134112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Packer et al. (2023). MemGPT: Towards LLMs as Operating Systems.</a:t>
            </a:r>
          </a:p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arXiv:2310.08560</a:t>
            </a:r>
          </a:p>
        </p:txBody>
      </p:sp>
      <p:sp>
        <p:nvSpPr>
          <p:cNvPr id="9" name="reference-2">
            <a:extLst>
              <a:ext uri="{FF2B5EF4-FFF2-40B4-BE49-F238E27FC236}">
                <a16:creationId xmlns:a16="http://schemas.microsoft.com/office/drawing/2014/main" id="{C7DB4564-6EFF-4C5E-BE0B-4DA224711EAA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134112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Zhao et al. (2024). ExpeL: LLM Agents Are Experiential Learners. AAAI.</a:t>
            </a:r>
          </a:p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DOI: 10.1609/aaai.v38i17.29936</a:t>
            </a:r>
          </a:p>
        </p:txBody>
      </p:sp>
      <p:sp>
        <p:nvSpPr>
          <p:cNvPr id="10" name="reference-3">
            <a:extLst>
              <a:ext uri="{FF2B5EF4-FFF2-40B4-BE49-F238E27FC236}">
                <a16:creationId xmlns:a16="http://schemas.microsoft.com/office/drawing/2014/main" id="{D969BC01-E899-431B-BD05-A4590EFE3825}"/>
              </a:ext>
            </a:extLst>
          </p:cNvPr>
          <p:cNvSpPr>
            <a:spLocks noGrp="1"/>
          </p:cNvSpPr>
          <p:nvPr/>
        </p:nvSpPr>
        <p:spPr>
          <a:xfrm>
            <a:off x="914400" y="5438775"/>
            <a:ext cx="134112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Yehia et al. (2026). Mem++: Non-Destructive Memory for Long-Term Organizational LLM Agents.</a:t>
            </a:r>
          </a:p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arXiv:2610.02002</a:t>
            </a:r>
          </a:p>
        </p:txBody>
      </p:sp>
      <p:sp>
        <p:nvSpPr>
          <p:cNvPr id="11" name="reference-4">
            <a:extLst>
              <a:ext uri="{FF2B5EF4-FFF2-40B4-BE49-F238E27FC236}">
                <a16:creationId xmlns:a16="http://schemas.microsoft.com/office/drawing/2014/main" id="{8293BDC0-6B6B-441E-8223-118ECD907561}"/>
              </a:ext>
            </a:extLst>
          </p:cNvPr>
          <p:cNvSpPr>
            <a:spLocks noGrp="1"/>
          </p:cNvSpPr>
          <p:nvPr/>
        </p:nvSpPr>
        <p:spPr>
          <a:xfrm>
            <a:off x="914400" y="6210300"/>
            <a:ext cx="134112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Wu et al. (2024). LongMemEval: Benchmarking Chat Assistants on Long-Term Interactive Memory.</a:t>
            </a:r>
          </a:p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arXiv:2410.10813</a:t>
            </a:r>
          </a:p>
        </p:txBody>
      </p:sp>
      <p:sp>
        <p:nvSpPr>
          <p:cNvPr id="12" name="reference-5">
            <a:extLst>
              <a:ext uri="{FF2B5EF4-FFF2-40B4-BE49-F238E27FC236}">
                <a16:creationId xmlns:a16="http://schemas.microsoft.com/office/drawing/2014/main" id="{66B80DDA-1BD5-4D8F-BF22-334B2F9AF899}"/>
              </a:ext>
            </a:extLst>
          </p:cNvPr>
          <p:cNvSpPr>
            <a:spLocks noGrp="1"/>
          </p:cNvSpPr>
          <p:nvPr/>
        </p:nvSpPr>
        <p:spPr>
          <a:xfrm>
            <a:off x="914400" y="6981825"/>
            <a:ext cx="134112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Chen et al. (2025). HaluMem: Evaluating Hallucinations in Memory Systems of Agents.</a:t>
            </a:r>
          </a:p>
          <a:p>
            <a:pPr algn="l">
              <a:def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E2927"/>
                </a:solidFill>
                <a:latin typeface="Hiragino Sans GB"/>
                <a:ea typeface="Hiragino Sans GB"/>
                <a:cs typeface="Hiragino Sans GB"/>
              </a:rPr>
              <a:t>arXiv:2511.03506</a:t>
            </a:r>
          </a:p>
        </p:txBody>
      </p:sp>
    </p:spTree>
    <p:extLst>
      <p:ext uri="{BB962C8B-B14F-4D97-AF65-F5344CB8AC3E}">
        <p14:creationId xmlns:p14="http://schemas.microsoft.com/office/powerpoint/2010/main" val="13335777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University Course">
      <a:dk1>
        <a:srgbClr val="000000"/>
      </a:dk1>
      <a:lt1>
        <a:srgbClr val="FFFFFF"/>
      </a:lt1>
      <a:dk2>
        <a:srgbClr val="1E2927"/>
      </a:dk2>
      <a:lt2>
        <a:srgbClr val="EFF3EF"/>
      </a:lt2>
      <a:accent1>
        <a:srgbClr val="087C71"/>
      </a:accent1>
      <a:accent2>
        <a:srgbClr val="B34F3D"/>
      </a:accent2>
      <a:accent3>
        <a:srgbClr val="B48B3D"/>
      </a:accent3>
      <a:accent4>
        <a:srgbClr val="5F7973"/>
      </a:accent4>
      <a:accent5>
        <a:srgbClr val="777969"/>
      </a:accent5>
      <a:accent6>
        <a:srgbClr val="A86659"/>
      </a:accent6>
      <a:hlink>
        <a:srgbClr val="087C71"/>
      </a:hlink>
      <a:folHlink>
        <a:srgbClr val="B34F3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University Cour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1851</Words>
  <Application>Microsoft Office PowerPoint</Application>
  <DocSecurity>0</DocSecurity>
  <PresentationFormat>自定义</PresentationFormat>
  <Paragraphs>313</Paragraphs>
  <Slides>12</Slides>
  <Notes>12</Notes>
  <HiddenSlides>3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Hiragino Sans GB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先生 刘</cp:lastModifiedBy>
  <cp:revision>7</cp:revision>
  <dcterms:created xsi:type="dcterms:W3CDTF">2026-10-18T15:00:05Z</dcterms:created>
  <dcterms:modified xsi:type="dcterms:W3CDTF">2026-10-18T16:22:45Z</dcterms:modified>
</cp:coreProperties>
</file>