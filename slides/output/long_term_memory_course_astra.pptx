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5eccafaf394a2b" /><Relationship Type="http://schemas.openxmlformats.org/officeDocument/2006/relationships/extended-properties" Target="/docProps/app.xml" Id="Raa6b36438d864959" /><Relationship Type="http://schemas.openxmlformats.org/officeDocument/2006/relationships/officeDocument" Target="/ppt/presentation.xml" Id="R3621a3fa0e6a4c7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d3beba76a74993"/>
  </p:sldMasterIdLst>
  <p:notesMasterIdLst>
    <p:notesMasterId xmlns:r="http://schemas.openxmlformats.org/officeDocument/2006/relationships" r:id="R696ca9d774e04b26"/>
  </p:notesMasterIdLst>
  <p:sldIdLst>
    <p:sldId xmlns:r="http://schemas.openxmlformats.org/officeDocument/2006/relationships" id="256" r:id="Rc14d240d320d4a93"/>
    <p:sldId xmlns:r="http://schemas.openxmlformats.org/officeDocument/2006/relationships" id="257" r:id="R4477fd1940cb4ecf"/>
    <p:sldId xmlns:r="http://schemas.openxmlformats.org/officeDocument/2006/relationships" id="258" r:id="R7d827e6afdc9482b"/>
    <p:sldId xmlns:r="http://schemas.openxmlformats.org/officeDocument/2006/relationships" id="259" r:id="R50a180d913424261"/>
    <p:sldId xmlns:r="http://schemas.openxmlformats.org/officeDocument/2006/relationships" id="260" r:id="Rc5fc68f19d8e4019"/>
    <p:sldId xmlns:r="http://schemas.openxmlformats.org/officeDocument/2006/relationships" id="261" r:id="Rfe49c047e4dc49ef"/>
    <p:sldId xmlns:r="http://schemas.openxmlformats.org/officeDocument/2006/relationships" id="262" r:id="R8045d04dd9d346ae"/>
    <p:sldId xmlns:r="http://schemas.openxmlformats.org/officeDocument/2006/relationships" id="263" r:id="Raa9b41058b6b4723"/>
    <p:sldId xmlns:r="http://schemas.openxmlformats.org/officeDocument/2006/relationships" id="264" r:id="R036ffe6320ad4abe"/>
    <p:sldId xmlns:r="http://schemas.openxmlformats.org/officeDocument/2006/relationships" id="265" r:id="R6acac3c5fcaa4c2f"/>
    <p:sldId xmlns:r="http://schemas.openxmlformats.org/officeDocument/2006/relationships" id="266" r:id="Rbd12394920fc48aa"/>
    <p:sldId xmlns:r="http://schemas.openxmlformats.org/officeDocument/2006/relationships" id="267" r:id="Rd6291a894d334b4c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ab67e8a179b43b1" /><Relationship Type="http://schemas.openxmlformats.org/officeDocument/2006/relationships/slideMaster" Target="/ppt/slideMasters/slideMaster1.xml" Id="Rf2d3beba76a74993" /><Relationship Type="http://schemas.openxmlformats.org/officeDocument/2006/relationships/notesMaster" Target="/ppt/notesMasters/notesMaster1.xml" Id="R696ca9d774e04b26" /><Relationship Type="http://schemas.openxmlformats.org/officeDocument/2006/relationships/presProps" Target="/ppt/presProps.xml" Id="Rc403ccae58d74018" /><Relationship Type="http://schemas.openxmlformats.org/officeDocument/2006/relationships/tableStyles" Target="/ppt/tableStyles.xml" Id="R1dfd7490f75d4baf" /><Relationship Type="http://schemas.openxmlformats.org/officeDocument/2006/relationships/slide" Target="/ppt/slides/slide1.xml" Id="Rc14d240d320d4a93" /><Relationship Type="http://schemas.openxmlformats.org/officeDocument/2006/relationships/slide" Target="/ppt/slides/slide2.xml" Id="R4477fd1940cb4ecf" /><Relationship Type="http://schemas.openxmlformats.org/officeDocument/2006/relationships/slide" Target="/ppt/slides/slide3.xml" Id="R7d827e6afdc9482b" /><Relationship Type="http://schemas.openxmlformats.org/officeDocument/2006/relationships/slide" Target="/ppt/slides/slide4.xml" Id="R50a180d913424261" /><Relationship Type="http://schemas.openxmlformats.org/officeDocument/2006/relationships/slide" Target="/ppt/slides/slide5.xml" Id="Rc5fc68f19d8e4019" /><Relationship Type="http://schemas.openxmlformats.org/officeDocument/2006/relationships/slide" Target="/ppt/slides/slide6.xml" Id="Rfe49c047e4dc49ef" /><Relationship Type="http://schemas.openxmlformats.org/officeDocument/2006/relationships/slide" Target="/ppt/slides/slide7.xml" Id="R8045d04dd9d346ae" /><Relationship Type="http://schemas.openxmlformats.org/officeDocument/2006/relationships/slide" Target="/ppt/slides/slide8.xml" Id="Raa9b41058b6b4723" /><Relationship Type="http://schemas.openxmlformats.org/officeDocument/2006/relationships/slide" Target="/ppt/slides/slide9.xml" Id="R036ffe6320ad4abe" /><Relationship Type="http://schemas.openxmlformats.org/officeDocument/2006/relationships/slide" Target="/ppt/slides/slide10.xml" Id="R6acac3c5fcaa4c2f" /><Relationship Type="http://schemas.openxmlformats.org/officeDocument/2006/relationships/slide" Target="/ppt/slides/slide11.xml" Id="Rbd12394920fc48aa" /><Relationship Type="http://schemas.openxmlformats.org/officeDocument/2006/relationships/slide" Target="/ppt/slides/slide12.xml" Id="Rd6291a894d334b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a074e1ee2ab468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University Course">
      <a:dk1>
        <a:srgbClr val="000000"/>
      </a:dk1>
      <a:lt1>
        <a:srgbClr val="FFFFFF"/>
      </a:lt1>
      <a:dk2>
        <a:srgbClr val="1E2927"/>
      </a:dk2>
      <a:lt2>
        <a:srgbClr val="EFF3EF"/>
      </a:lt2>
      <a:accent1>
        <a:srgbClr val="087C71"/>
      </a:accent1>
      <a:accent2>
        <a:srgbClr val="B34F3D"/>
      </a:accent2>
      <a:accent3>
        <a:srgbClr val="B48B3D"/>
      </a:accent3>
      <a:accent4>
        <a:srgbClr val="5F7973"/>
      </a:accent4>
      <a:accent5>
        <a:srgbClr val="777969"/>
      </a:accent5>
      <a:accent6>
        <a:srgbClr val="A86659"/>
      </a:accent6>
      <a:hlink>
        <a:srgbClr val="087C71"/>
      </a:hlink>
      <a:folHlink>
        <a:srgbClr val="B34F3D"/>
      </a:folHlink>
    </a:clrScheme>
    <a:fontScheme name="">
      <a:majorFont>
        <a:latin typeface="Hiragino Sans GB"/>
        <a:ea typeface=""/>
        <a:cs typeface=""/>
      </a:majorFont>
      <a:minorFont>
        <a:latin typeface="Hiragino Sans GB"/>
        <a:ea typeface=""/>
        <a:cs typeface=""/>
      </a:minorFont>
    </a:fontScheme>
    <a:fmtScheme name="University Cours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ebd5ae60e0f4d3e" /><Relationship Type="http://schemas.openxmlformats.org/officeDocument/2006/relationships/notesMaster" Target="/ppt/notesMasters/notesMaster1.xml" Id="R330a064473314eb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981e0e9265441d0" /><Relationship Type="http://schemas.openxmlformats.org/officeDocument/2006/relationships/notesMaster" Target="/ppt/notesMasters/notesMaster1.xml" Id="R19d53dca02444a3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50977be19004417" /><Relationship Type="http://schemas.openxmlformats.org/officeDocument/2006/relationships/notesMaster" Target="/ppt/notesMasters/notesMaster1.xml" Id="R2314835fbd3141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c9396190ee94c4a" /><Relationship Type="http://schemas.openxmlformats.org/officeDocument/2006/relationships/notesMaster" Target="/ppt/notesMasters/notesMaster1.xml" Id="R47ff05fb3e6a42c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9726468676d456b" /><Relationship Type="http://schemas.openxmlformats.org/officeDocument/2006/relationships/notesMaster" Target="/ppt/notesMasters/notesMaster1.xml" Id="R1ff80366046d498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0eee80cb7944409" /><Relationship Type="http://schemas.openxmlformats.org/officeDocument/2006/relationships/notesMaster" Target="/ppt/notesMasters/notesMaster1.xml" Id="Rfd3252cb8bba48c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e388964cc864669" /><Relationship Type="http://schemas.openxmlformats.org/officeDocument/2006/relationships/notesMaster" Target="/ppt/notesMasters/notesMaster1.xml" Id="Ra57d1cb353b648f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a3eac320a8a469b" /><Relationship Type="http://schemas.openxmlformats.org/officeDocument/2006/relationships/notesMaster" Target="/ppt/notesMasters/notesMaster1.xml" Id="R1bd8bf1f8ab3466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6aac04bbe824d97" /><Relationship Type="http://schemas.openxmlformats.org/officeDocument/2006/relationships/notesMaster" Target="/ppt/notesMasters/notesMaster1.xml" Id="Rfa0c495212354c1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668d82d7cbc432d" /><Relationship Type="http://schemas.openxmlformats.org/officeDocument/2006/relationships/notesMaster" Target="/ppt/notesMasters/notesMaster1.xml" Id="R9a50bdd564b1405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f89f81090d44028" /><Relationship Type="http://schemas.openxmlformats.org/officeDocument/2006/relationships/notesMaster" Target="/ppt/notesMasters/notesMaster1.xml" Id="Rb2c04911bfff4f3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23ae3f612414ff3" /><Relationship Type="http://schemas.openxmlformats.org/officeDocument/2006/relationships/notesMaster" Target="/ppt/notesMasters/notesMaster1.xml" Id="R49f26b8cd48a42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主讲时段：0:00–0:35（35 秒）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看一个课程作业场景。昨天，我们让助手记住综述范围和下一步任务；今天重新开始对话，只说“继续昨天的工作”。它需要知道昨天做到了哪里，还要分辨后来有没有修改要求。这是教学情境，并非系统的实验输出。我们综述的长期记忆，就是能跨会话保存、在后续任务中读取并更新的外部信息。课程作业有两项相连的任务：设计一个助手来完成综述，再梳理长期记忆研究。前四分钟先介绍助手，后四分钟介绍文献中的问题和进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来源与限定：</a:t>
            </a:r>
          </a:p>
          <a:p xmlns:a="http://schemas.openxmlformats.org/drawingml/2006/main">
            <a:r>
              <a:t>ORIGINAL_TASK.md：三人小组，至少30篇文献；智能体4分钟、综述研究4分钟；工作流关注幻觉与人工验证。</a:t>
            </a:r>
          </a:p>
          <a:p xmlns:a="http://schemas.openxmlformats.org/drawingml/2006/main">
            <a:r>
              <a:t>docs/protocol.md：本综述的跨会话可写外部记忆边界。</a:t>
            </a:r>
          </a:p>
          <a:p xmlns:a="http://schemas.openxmlformats.org/drawingml/2006/main">
            <a:r>
              <a:t>页面中的跨天作业对话为教学情境，不是逐字运行记录。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主讲时段：0:35–1:45（70 秒）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助手怎样把论文变成综述？我们让它先确定研究问题，再依次检索、去重、阅读原文、保存证据、形成陈述和组织草稿。关键是保留可检查的中间产物：论文身份、论文里的证据和我们综合后的判断，不能混成同一层。协调器会观察哪些问题的证据不足，再选择检索或回读工具。工具执行查询、版本归并、逐页提取和摘录检查。与此同时，研究范围、进度、证据和修改理由持久保存，下次可以从已有工作继续。更新保留历史，可以回查一个判断为何被修改。实际系统采用一个协调器加工具，批量环节也有脚本，并非多个智能体团队，也不声称整个研究过程都端到端自主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来源与限定：</a:t>
            </a:r>
          </a:p>
          <a:p xmlns:a="http://schemas.openxmlformats.org/drawingml/2006/main">
            <a:r>
              <a:t>src/litreview_agent/coordinator.py：一个协调器、自主工具选择。</a:t>
            </a:r>
          </a:p>
          <a:p xmlns:a="http://schemas.openxmlformats.org/drawingml/2006/main">
            <a:r>
              <a:t>agent_report/main.tex：检索、去重、页级提取、证据与陈述、持久状态及批处理管线。</a:t>
            </a:r>
          </a:p>
          <a:p xmlns:a="http://schemas.openxmlformats.org/drawingml/2006/main">
            <a:r>
              <a:t>流程图是系统实际工作环节的概括；不宣称所有环节均由自主协调器独立执行。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主讲时段：1:45–2:50（65 秒）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两条真实记录说明协调器什么时候需要自己决定。第一条是证据不足：它观察到研究边界和评测问题的覆盖不够，自主选择七条补充检索查询，而不是只把预先固定的步骤执行一遍。其中一类查询关注长期记忆与上下文、RAG、参数知识的边界。补检结果进入后续阅读和取证流程，但我们不据此声称所有缺口已自动解决。第二条是工具不足：当时工具不能枚举已有证据编号，协调器没有编造编号来完成输出，而是报告无法合规完成，并指出工具缺口。这里的自主性既是根据当前状态选择下一步，也是知道什么时候不能继续补写。页面内容是日志概述，不是仿造的聊天截图或逐字引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来源与限定：</a:t>
            </a:r>
          </a:p>
          <a:p xmlns:a="http://schemas.openxmlformats.org/drawingml/2006/main">
            <a:r>
              <a:t>agent_report/main.tex：“缺口驱动补检”“诚实失败”；runs/中的对应协调器日志。</a:t>
            </a:r>
          </a:p>
          <a:p xmlns:a="http://schemas.openxmlformats.org/drawingml/2006/main">
            <a:r>
              <a:t>查询示例原文：memory vs context window RAG parametric knowledge。</a:t>
            </a:r>
          </a:p>
          <a:p xmlns:a="http://schemas.openxmlformats.org/drawingml/2006/main">
            <a:r>
              <a:t>两例均为实际运行行为的概述；不将后续工具改进误写为当时已具备的能力。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主讲时段：2:50–4:00（70 秒）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有原文不等于结论就正确。我们把论文版本、页码和摘录保存在原文层，把实验条件与局限保存在证据记录层，再让综述陈述关联支持它的证据。程序可以检查摘录是否与指定页面连续匹配，空白和版式连字符会先做归一化，但程序无法据此确认所有解释。例如，“在某个设置下有效”不能直接写成“所有任务都有效”。人工要复核原文是否支持解释，数字、比较对象和适用条件是否准确。有效状态与核验状态分开：记录仍在使用，不代表已经人工确认。现在有40篇核心文献、39篇正文引用和143条有效核心证据，但人工签字核验尚未完成。我们自己的助手需要保存进度，也遇到旧记录和未经核验陈述的问题。接下来回到文献：研究者如何组织记忆、处理变化，并判断它是否可靠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来源与限定：</a:t>
            </a:r>
          </a:p>
          <a:p xmlns:a="http://schemas.openxmlformats.org/drawingml/2006/main">
            <a:r>
              <a:t>agent_report/main.tex：连续原文匹配；validity与trust状态分开，修订保留历史。</a:t>
            </a:r>
          </a:p>
          <a:p xmlns:a="http://schemas.openxmlformats.org/drawingml/2006/main">
            <a:r>
              <a:t>paper/main.tex、核心阅读池及当前证据记录：40/39/143统计口径。</a:t>
            </a:r>
          </a:p>
          <a:p xmlns:a="http://schemas.openxmlformats.org/drawingml/2006/main">
            <a:r>
              <a:t>教学例子用于解释概括范围，不是某条实验输出。</a:t>
            </a:r>
          </a:p>
          <a:p xmlns:a="http://schemas.openxmlformats.org/drawingml/2006/main">
            <a:r>
              <a:t>人工签字核验仍待完成；模型复核与自动检查不冒充小组成员人工签字。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主讲时段：4:00–4:35（35 秒）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们把五个正式研究问题归并成课堂上便于理解的三类。第一是组织，过去的信息存成什么形式，之后怎样找回；第二是更新，新信息到来后，旧信息如何处理；第三是评测，答对一次是否足以说明长期可靠。这是汇报中的归并，没有改动研究协议。研究范围仍然是可写、可更新、跨会话的外部记忆。长上下文、静态知识检索和参数知识作为相关机制对照，这些技术可以与外部记忆组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来源与限定：</a:t>
            </a:r>
          </a:p>
          <a:p xmlns:a="http://schemas.openxmlformats.org/drawingml/2006/main">
            <a:r>
              <a:t>docs/protocol.md：RQ1概念边界、RQ2组织使用、RQ3更新、RQ4可靠性、RQ5评测。</a:t>
            </a:r>
          </a:p>
          <a:p xmlns:a="http://schemas.openxmlformats.org/drawingml/2006/main">
            <a:r>
              <a:t>课堂归并：组织对应RQ2，更新对应RQ3，评测讨论RQ4与RQ5；RQ1在范围说明中交代。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主讲时段：4:35–5:40（65 秒）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先看研究者选择记住什么。Generative Agents保存经历和事件，通过检索与反思形成高层信息。MemGPT关注工作上下文和外部存储之间的管理，让系统决定何时读取和写入。Reflexion和ExpeL则把任务反馈与经历提炼成后续经验。可以借课程作业理解差别：经历可能是“上次读到了论文哪一页”，经验可能是“核对数字要回原表”，这里只是解释概念的教学例子。这些工作构成早期并行路线，并非相互替代的三个时代。后续工作继续扩展：A-Mem探索关联笔记，Zep采用时序图，MemBuilder研究学习式构建。表示形式不同并不自动意味着谁更好，效果还取决于任务、检索和资源条件，因此我们不把不同论文的分数放成一个排行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来源与限定：</a:t>
            </a:r>
          </a:p>
          <a:p xmlns:a="http://schemas.openxmlformats.org/drawingml/2006/main">
            <a:r>
              <a:t>Park et al. (2023). Generative Agents: Interactive Simulacra of Human Behavior. DOI:10.1145/3586183.3606763。W0001。</a:t>
            </a:r>
          </a:p>
          <a:p xmlns:a="http://schemas.openxmlformats.org/drawingml/2006/main">
            <a:r>
              <a:t>Packer et al. (2023). MemGPT: Towards LLMs as Operating Systems. arXiv:2310.08560。W0002。</a:t>
            </a:r>
          </a:p>
          <a:p xmlns:a="http://schemas.openxmlformats.org/drawingml/2006/main">
            <a:r>
              <a:t>Shinn et al. (2023). Reflexion: Language Agents with Verbal Reinforcement Learning. arXiv:2303.11366。W0004。</a:t>
            </a:r>
          </a:p>
          <a:p xmlns:a="http://schemas.openxmlformats.org/drawingml/2006/main">
            <a:r>
              <a:t>Zhao et al. (2024). ExpeL: LLM Agents Are Experiential Learners. AAAI. DOI:10.1609/aaai.v38i17.29936。W0618。</a:t>
            </a:r>
          </a:p>
          <a:p xmlns:a="http://schemas.openxmlformats.org/drawingml/2006/main">
            <a:r>
              <a:t>Xu et al. (2025). A-Mem. arXiv:2502.12110；Rasmussen et al. (2025). Zep. arXiv:2501.13956；Shen et al. (2026). MemBuilder。</a:t>
            </a:r>
          </a:p>
          <a:p xmlns:a="http://schemas.openxmlformats.org/drawingml/2006/main">
            <a:r>
              <a:t>图示解释机制，不表示所有系统只有图中两个步骤，也不建立未经证据确认的继承谱系。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主讲时段：5:40–6:35（55 秒）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看一个简单的课程通知。第一次说周五提交，之后改成下周一。现在问什么时候交，需要最新有效的信息；问最初通知哪天交，仍然需要历史版本。因此更新不只是把新句子追加到旧句子旁边，过时也不等于历史上没有发生过。文献提供了不同处理思路：Mem++保留版本并按时间检索，SodaMem标记旧事实失效，REALM把插入、合并与遗忘放进整合过程。这些是代表思路，不是互斥或穷尽的分类。删除有节省成本的动机，也有误删有用信息的风险。如果两个来源冲突，时间更新并不自动说明来源更可信，所以更新还需要保留来源与适用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来源与限定：</a:t>
            </a:r>
          </a:p>
          <a:p xmlns:a="http://schemas.openxmlformats.org/drawingml/2006/main">
            <a:r>
              <a:t>Yehia et al. (2026). Mem++: Non-Destructive Memory for Long-Term Organizational LLM Agents. arXiv:2610.02002。W0028。</a:t>
            </a:r>
          </a:p>
          <a:p xmlns:a="http://schemas.openxmlformats.org/drawingml/2006/main">
            <a:r>
              <a:t>Wan et al. (2026). SodaMem: Evidence-Grounded Temporal Graph Memory for LLM Agents. arXiv:2608.08055。W0222。</a:t>
            </a:r>
          </a:p>
          <a:p xmlns:a="http://schemas.openxmlformats.org/drawingml/2006/main">
            <a:r>
              <a:t>Song et al. (2026). Retrieval-Driven Memory Reconsolidation for Long-Term LLM Agents. arXiv:2609.16053。W0012。</a:t>
            </a:r>
          </a:p>
          <a:p xmlns:a="http://schemas.openxmlformats.org/drawingml/2006/main">
            <a:r>
              <a:t>课程通知与问题答案均为教学情境，不是这些论文的数据集或我们系统的实测输出。</a:t>
            </a:r>
          </a:p>
          <a:p xmlns:a="http://schemas.openxmlformats.org/drawingml/2006/main">
            <a:r>
              <a:t>遗忘代价的条件性案例见W0034；不从单次剪枝推出普遍有效或低成本结论。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主讲时段：6:35–7:30（55 秒）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不同基准测量的对象并不完全一样。LoCoMo关注长对话中的记忆，LongMemEval把知识更新和弃答纳入五类能力，HaluMem进一步区分错误出在抽取、更新还是问答。因此不能说现有研究完全没有更新评测。最终答案是否正确，以及错误发生在哪个环节，是两个不同问题。比较方法时还需要对齐回答模型、输入证据、检索预算和评分方式。成本也不只是存储，还包括写入、检索与更新；安全过滤可能同时损害正常信息可用性。我们综合认为，持续多轮更新中的错误和代价，仍需要更可比较的评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来源与限定：</a:t>
            </a:r>
          </a:p>
          <a:p xmlns:a="http://schemas.openxmlformats.org/drawingml/2006/main">
            <a:r>
              <a:t>Maharana et al. (2024). Evaluating Very Long-Term Conversational Memory of LLM Agents. ACL. DOI:10.18653/v1/2024.acl-long.747。LoCoMo，W0005。</a:t>
            </a:r>
          </a:p>
          <a:p xmlns:a="http://schemas.openxmlformats.org/drawingml/2006/main">
            <a:r>
              <a:t>Wu et al. LongMemEval: Benchmarking Chat Assistants on Long-Term Interactive Memory. arXiv:2410.10813。W0006。</a:t>
            </a:r>
          </a:p>
          <a:p xmlns:a="http://schemas.openxmlformats.org/drawingml/2006/main">
            <a:r>
              <a:t>Chen et al. (2025). HaluMem: Evaluating Hallucinations in Memory Systems of Agents. arXiv:2511.03506。W0261。</a:t>
            </a:r>
          </a:p>
          <a:p xmlns:a="http://schemas.openxmlformats.org/drawingml/2006/main">
            <a:r>
              <a:t>本组综合：持续更新、错误归因、条件可比性和成本报告。并非宣称已有基准完全不覆盖这些能力。</a:t>
            </a:r>
          </a:p>
          <a:p xmlns:a="http://schemas.openxmlformats.org/drawingml/2006/main">
            <a:r>
              <a:t>下方三阶段图用于说明操作级诊断，不是将所有系统限定为三个步骤。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主讲时段：7:30–8:00（30 秒）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后回到三个认识。组织形式应当适配任务，不能只凭结构复杂度判断效果。更新需要同时处理当前事实、历史版本和来源。评测需要结合任务表现、更新正确性、可靠性和成本。对学术写作而言，我们的收获是区分论文报告的结果与本组综合，并让重要判断能够回到证据。部分结论仍依赖单一设置，关键证据还需要完成小组成员的人工核验。谢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来源与限定：</a:t>
            </a:r>
          </a:p>
          <a:p xmlns:a="http://schemas.openxmlformats.org/drawingml/2006/main">
            <a:r>
              <a:t>本页是本组跨文献综合，不是某一篇论文的原文结论。</a:t>
            </a:r>
          </a:p>
          <a:p xmlns:a="http://schemas.openxmlformats.org/drawingml/2006/main">
            <a:r>
              <a:t>主要依据：W0001、W0002、W0028、W0222、W0261、W0034，以及防御效用代价的W0076/W0312。</a:t>
            </a:r>
          </a:p>
          <a:p xmlns:a="http://schemas.openxmlformats.org/drawingml/2006/main">
            <a:r>
              <a:t>ORIGINAL_TASK.md：回扣学术写作课程中综述、研究脉络与人工验证的要求。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备份页，不计入主讲时间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用于回答“系统是否做过测试”。每种配置12个任务，共36次输出。当前三态结果为2/10/0、11/0/1、9/3/0。前三类任务语义评分来自智能体侧审计，仍需人工复核；M4-03/B为显式待核验。跨运行任务采用真实两阶段过程，在第一阶段持久化后，由新实例恢复第二阶段。其中M4-02展示持久化恢复有效。C条件的失败包括动作遗漏与过度确定，不能声称优于直接上下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来源与限定：</a:t>
            </a:r>
          </a:p>
          <a:p xmlns:a="http://schemas.openxmlformats.org/drawingml/2006/main">
            <a:r>
              <a:t>evaluation/report.md，v6；evaluation/results.jsonl；evaluation/rubric.md。</a:t>
            </a:r>
          </a:p>
          <a:p xmlns:a="http://schemas.openxmlformats.org/drawingml/2006/main">
            <a:r>
              <a:t>每行成功、失败、待核验之和均为12；结果不是人工核验完成后的准确率。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备份页，不计入主讲时间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用于回答“为什么自动摘录验证还不够”。W0312采用良性LoCoMo流量，五段对话、每种条件三次重复，后端、检索和判断器保持一致。Rerank准确率变化为−4.4个百分点，bootstrap 95%区间[−9.0,−0.05]，McNemar p=.064。区间仅略排除零，而另一检验未达.05，作者将准确率变化解释为统计分辨率边缘。后续回查修正了转述中的区间负号，不能把发现此问题归功于自动摘录匹配。该实验也不能直接推断攻击场景下的收益。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来源与限定：</a:t>
            </a:r>
          </a:p>
          <a:p xmlns:a="http://schemas.openxmlformats.org/drawingml/2006/main">
            <a:r>
              <a:t>sources/2609.22818.pdf，第8页Table 3、第9页解释；W0312。</a:t>
            </a:r>
          </a:p>
          <a:p xmlns:a="http://schemas.openxmlformats.org/drawingml/2006/main">
            <a:r>
              <a:t>paper/sections/update_reliability.tex：经修正的数值、条件与谨慎解释。</a:t>
            </a:r>
          </a:p>
          <a:p xmlns:a="http://schemas.openxmlformats.org/drawingml/2006/main">
            <a:r>
              <a:t>截图为真实原始表格，中文解释可编辑。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备份页，不计入主讲时间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主检索范围与文献选择以冻结协议为准。主检索截止日为2026年10月17日；后续新增应单独记录。页面展示精选参考文献，完整文献见论文参考文献部分。ExpeL这里采用项目bibliography中的AAAI 2024年份；LongMemEval采用arXiv 2024记录。选取这些论文用于回答不同问题，不代表它们构成统一的性能排名。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来源与限定：</a:t>
            </a:r>
          </a:p>
          <a:p xmlns:a="http://schemas.openxmlformats.org/drawingml/2006/main">
            <a:r>
              <a:t>docs/protocol.md，第2节：主检索截止日；第11节修正案：模态边界。</a:t>
            </a:r>
          </a:p>
          <a:p xmlns:a="http://schemas.openxmlformats.org/drawingml/2006/main">
            <a:r>
              <a:t>paper/references.bib、paper/main.tex。</a:t>
            </a:r>
          </a:p>
          <a:p xmlns:a="http://schemas.openxmlformats.org/drawingml/2006/main">
            <a:r>
              <a:t>近期预印本的研究状态与条件限制应在引用时保留。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0e269c53c14b0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58f3a8f93445a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7ffa3cd3fe40f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badf42b498433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ce4dad785d446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010070a6fb46d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1615BEA-6083-4371-928E-240C20B8FF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238500"/>
            <a:ext cx="1219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6DC0143-0403-45E2-80B3-FBAD55AC3A6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0" y="47148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3AA4E80-539C-403E-AE16-EC6D660240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571875"/>
            <a:ext cx="1219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3082B2A-32DC-4083-B8FC-419D5AFA7C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1EDC6F0-26C5-4A4C-AEAC-669D07A855A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13525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60C5E9E-B8D9-44D9-A4C0-F0A3130450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558B7DF-F9E4-4FD5-9CF4-64103F99388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DFB25C1-9C31-4214-A1D9-BA1EAE4EFF7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096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73D9E0B-9067-4D66-89E6-58EFA446E2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A94C5D3-779C-4CEF-961E-5C92696F11F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9ef590da3b043de" /><Relationship Type="http://schemas.openxmlformats.org/officeDocument/2006/relationships/slideLayout" Target="/ppt/slideLayouts/slideLayout1.xml" Id="R1c49cf8fe3d54f99" /><Relationship Type="http://schemas.openxmlformats.org/officeDocument/2006/relationships/slideLayout" Target="/ppt/slideLayouts/slideLayout2.xml" Id="R8e754680bf524e7f" /><Relationship Type="http://schemas.openxmlformats.org/officeDocument/2006/relationships/slideLayout" Target="/ppt/slideLayouts/slideLayout3.xml" Id="R02ff47bf95a44683" /><Relationship Type="http://schemas.openxmlformats.org/officeDocument/2006/relationships/slideLayout" Target="/ppt/slideLayouts/slideLayout4.xml" Id="R5357e64359804842" /><Relationship Type="http://schemas.openxmlformats.org/officeDocument/2006/relationships/slideLayout" Target="/ppt/slideLayouts/slideLayout5.xml" Id="R697a80c38c784706" /><Relationship Type="http://schemas.openxmlformats.org/officeDocument/2006/relationships/slideLayout" Target="/ppt/slideLayouts/slideLayout6.xml" Id="R69468aa0d5db484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49cf8fe3d54f99"/>
    <p:sldLayoutId xmlns:r="http://schemas.openxmlformats.org/officeDocument/2006/relationships" id="2147483650" r:id="R8e754680bf524e7f"/>
    <p:sldLayoutId xmlns:r="http://schemas.openxmlformats.org/officeDocument/2006/relationships" id="2147483651" r:id="R02ff47bf95a44683"/>
    <p:sldLayoutId xmlns:r="http://schemas.openxmlformats.org/officeDocument/2006/relationships" id="2147483652" r:id="R5357e64359804842"/>
    <p:sldLayoutId xmlns:r="http://schemas.openxmlformats.org/officeDocument/2006/relationships" id="2147483653" r:id="R697a80c38c784706"/>
    <p:sldLayoutId xmlns:r="http://schemas.openxmlformats.org/officeDocument/2006/relationships" id="2147483654" r:id="R69468aa0d5db484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University Course">
      <a:dk1>
        <a:srgbClr val="000000"/>
      </a:dk1>
      <a:lt1>
        <a:srgbClr val="FFFFFF"/>
      </a:lt1>
      <a:dk2>
        <a:srgbClr val="1E2927"/>
      </a:dk2>
      <a:lt2>
        <a:srgbClr val="EFF3EF"/>
      </a:lt2>
      <a:accent1>
        <a:srgbClr val="087C71"/>
      </a:accent1>
      <a:accent2>
        <a:srgbClr val="B34F3D"/>
      </a:accent2>
      <a:accent3>
        <a:srgbClr val="B48B3D"/>
      </a:accent3>
      <a:accent4>
        <a:srgbClr val="5F7973"/>
      </a:accent4>
      <a:accent5>
        <a:srgbClr val="777969"/>
      </a:accent5>
      <a:accent6>
        <a:srgbClr val="A86659"/>
      </a:accent6>
      <a:hlink>
        <a:srgbClr val="087C71"/>
      </a:hlink>
      <a:folHlink>
        <a:srgbClr val="B34F3D"/>
      </a:folHlink>
    </a:clrScheme>
    <a:fontScheme name="">
      <a:majorFont>
        <a:latin typeface="Hiragino Sans GB"/>
        <a:ea typeface=""/>
        <a:cs typeface=""/>
      </a:majorFont>
      <a:minorFont>
        <a:latin typeface="Hiragino Sans GB"/>
        <a:ea typeface=""/>
        <a:cs typeface=""/>
      </a:minorFont>
    </a:fontScheme>
    <a:fmtScheme name="University Cours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54c4f6e9944f25" /><Relationship Type="http://schemas.openxmlformats.org/officeDocument/2006/relationships/notesSlide" Target="/ppt/notesSlides/notesSlide1.xml" Id="R93dd3af705ac410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4c220cd97f48e4" /><Relationship Type="http://schemas.openxmlformats.org/officeDocument/2006/relationships/notesSlide" Target="/ppt/notesSlides/notesSlide2.xml" Id="Ra6d60799b0a7460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fe23be43b8442e" /><Relationship Type="http://schemas.openxmlformats.org/officeDocument/2006/relationships/notesSlide" Target="/ppt/notesSlides/notesSlide3.xml" Id="Rb883c12527c14a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0a56a94c9d4ba7" /><Relationship Type="http://schemas.openxmlformats.org/officeDocument/2006/relationships/notesSlide" Target="/ppt/notesSlides/notesSlide4.xml" Id="Ra72130ec8b094bb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7f7273db8445fb" /><Relationship Type="http://schemas.openxmlformats.org/officeDocument/2006/relationships/notesSlide" Target="/ppt/notesSlides/notesSlide5.xml" Id="Radccd6edfc3149e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f625be134b45c8" /><Relationship Type="http://schemas.openxmlformats.org/officeDocument/2006/relationships/notesSlide" Target="/ppt/notesSlides/notesSlide6.xml" Id="R8a50d1b809b1477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ec8ba0d19c4877" /><Relationship Type="http://schemas.openxmlformats.org/officeDocument/2006/relationships/notesSlide" Target="/ppt/notesSlides/notesSlide7.xml" Id="R2f0010a8f97a41a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72378a42014def" /><Relationship Type="http://schemas.openxmlformats.org/officeDocument/2006/relationships/notesSlide" Target="/ppt/notesSlides/notesSlide8.xml" Id="R08a472f1cdc74f6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86fb19d0644af3" /><Relationship Type="http://schemas.openxmlformats.org/officeDocument/2006/relationships/notesSlide" Target="/ppt/notesSlides/notesSlide9.xml" Id="R241772eab6f246d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005ae4b80345ae" /><Relationship Type="http://schemas.openxmlformats.org/officeDocument/2006/relationships/notesSlide" Target="/ppt/notesSlides/notesSlide10.xml" Id="R3a48254c9b95463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4c3193b727461a" /><Relationship Type="http://schemas.openxmlformats.org/officeDocument/2006/relationships/image" Target="/ppt/media/image.png" Id="R8f81b154b52c47ac" /><Relationship Type="http://schemas.openxmlformats.org/officeDocument/2006/relationships/notesSlide" Target="/ppt/notesSlides/notesSlide11.xml" Id="R619eaef9ebac4a1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3687f2a2d44657" /><Relationship Type="http://schemas.openxmlformats.org/officeDocument/2006/relationships/notesSlide" Target="/ppt/notesSlides/notesSlide12.xml" Id="Re266ae12168f415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B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1EA39B-8ADE-402F-AB61-D9FCFEFEDC43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 flipV="1">
            <a:off x="8648700" y="4386263"/>
            <a:ext cx="371475" cy="14288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087C71"/>
            </a:solidFill>
            <a:tailEnd type="arrow" w="med" len="med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852E3A-BC7C-4A29-8424-C5A65C5CF291}"/>
              </a:ext>
            </a:extLst>
          </p:cNvPr>
          <p:cNvCxnSpPr>
            <a:stCxn xmlns:a="http://schemas.openxmlformats.org/drawingml/2006/main" id="12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324600" y="4386263"/>
            <a:ext cx="390525" cy="14288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087C71"/>
            </a:solidFill>
            <a:tailEnd type="arrow" w="med" len="med"/>
          </a:ln>
        </p:spPr>
      </p:cxnSp>
      <p:sp>
        <p:nvSpPr>
          <p:cNvPr id="1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0C3A6F8-9015-4758-BA73-A70B91EF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13411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如果明天继续，它还记得什么？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423E69-46F3-4BD7-8E69-6F49FA91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906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D7E0D9"/>
            </a:solidFill>
          </a:ln>
        </p:spPr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88B21386-F359-4795-BBF7-24536A65E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34350"/>
            <a:ext cx="11811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学术写作课程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D824A5A-7F8A-47D4-AD20-BA4151A3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8086725"/>
            <a:ext cx="14668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01</a:t>
            </a:r>
          </a:p>
        </p:txBody>
      </p:sp>
      <p:sp>
        <p:nvSpPr>
          <p:cNvPr id="5" name="topic">
            <a:extLst xmlns:a="http://schemas.openxmlformats.org/drawingml/2006/main">
              <a:ext uri="{FF2B5EF4-FFF2-40B4-BE49-F238E27FC236}">
                <a16:creationId xmlns:a16="http://schemas.microsoft.com/office/drawing/2014/main" id="{18507090-6A79-4EE2-9C14-CA1A69170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134112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大模型智能体的长期记忆：组织、更新与可靠性评测综述</a:t>
            </a:r>
          </a:p>
        </p:txBody>
      </p:sp>
      <p:sp>
        <p:nvSpPr>
          <p:cNvPr id="6" name="example-disclosure">
            <a:extLst xmlns:a="http://schemas.openxmlformats.org/drawingml/2006/main">
              <a:ext uri="{FF2B5EF4-FFF2-40B4-BE49-F238E27FC236}">
                <a16:creationId xmlns:a16="http://schemas.microsoft.com/office/drawing/2014/main" id="{F413E994-1C0D-449B-B093-93C5C8C1A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47925"/>
            <a:ext cx="1341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教学情境，非实验输出</a:t>
            </a:r>
          </a:p>
        </p:txBody>
      </p:sp>
      <p:sp>
        <p:nvSpPr>
          <p:cNvPr id="7" name="yesterday-label">
            <a:extLst xmlns:a="http://schemas.openxmlformats.org/drawingml/2006/main">
              <a:ext uri="{FF2B5EF4-FFF2-40B4-BE49-F238E27FC236}">
                <a16:creationId xmlns:a16="http://schemas.microsoft.com/office/drawing/2014/main" id="{A48B262C-4EDC-4D01-88DB-6AEA84355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6100"/>
            <a:ext cx="6000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7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昨天</a:t>
            </a:r>
          </a:p>
        </p:txBody>
      </p:sp>
      <p:sp>
        <p:nvSpPr>
          <p:cNvPr id="8" name="yesterday-text">
            <a:extLst xmlns:a="http://schemas.openxmlformats.org/drawingml/2006/main">
              <a:ext uri="{FF2B5EF4-FFF2-40B4-BE49-F238E27FC236}">
                <a16:creationId xmlns:a16="http://schemas.microsoft.com/office/drawing/2014/main" id="{6804EA0F-634D-4138-8721-4BA50867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29050"/>
            <a:ext cx="5857875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9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9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“综述只讨论文本任务。</a:t>
            </a:r>
          </a:p>
          <a:p xmlns:a="http://schemas.openxmlformats.org/drawingml/2006/main">
            <a:pPr algn="l">
              <a:defRPr sz="29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9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下一步补读更新机制。”</a:t>
            </a:r>
          </a:p>
        </p:txBody>
      </p:sp>
      <p:sp>
        <p:nvSpPr>
          <p:cNvPr id="9" name="today-label">
            <a:extLst xmlns:a="http://schemas.openxmlformats.org/drawingml/2006/main">
              <a:ext uri="{FF2B5EF4-FFF2-40B4-BE49-F238E27FC236}">
                <a16:creationId xmlns:a16="http://schemas.microsoft.com/office/drawing/2014/main" id="{23D72A62-219C-4084-938C-47070984D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3086100"/>
            <a:ext cx="51530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7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今天，重新开始对话</a:t>
            </a:r>
          </a:p>
        </p:txBody>
      </p:sp>
      <p:sp>
        <p:nvSpPr>
          <p:cNvPr id="10" name="today-text">
            <a:extLst xmlns:a="http://schemas.openxmlformats.org/drawingml/2006/main">
              <a:ext uri="{FF2B5EF4-FFF2-40B4-BE49-F238E27FC236}">
                <a16:creationId xmlns:a16="http://schemas.microsoft.com/office/drawing/2014/main" id="{9A9BFADF-02EB-40DE-8C6A-2B67BFCB4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3829050"/>
            <a:ext cx="5153025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9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9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“继续昨天的工作。”</a:t>
            </a:r>
          </a:p>
        </p:txBody>
      </p:sp>
      <p:sp>
        <p:nvSpPr>
          <p:cNvPr id="11" name="external-note">
            <a:extLst xmlns:a="http://schemas.openxmlformats.org/drawingml/2006/main">
              <a:ext uri="{FF2B5EF4-FFF2-40B4-BE49-F238E27FC236}">
                <a16:creationId xmlns:a16="http://schemas.microsoft.com/office/drawing/2014/main" id="{EBFF8FA6-2B77-4FE4-A9BC-F658A2D9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876675"/>
            <a:ext cx="19335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13335">
            <a:solidFill>
              <a:srgbClr val="D7E0D9"/>
            </a:solidFill>
          </a:ln>
        </p:spPr>
        <p:txBody>
          <a:bodyPr xmlns:a="http://schemas.openxmlformats.org/drawingml/2006/main" wrap="square" lIns="152400" tIns="152400" rIns="152400" bIns="152400" anchor="ctr">
            <a:noAutofit/>
          </a:bodyPr>
          <a:lstStyle xmlns:a="http://schemas.openxmlformats.org/drawingml/2006/main">
            <a:defPPr algn="ctr">
              <a:defRPr sz="23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研究记录</a:t>
            </a:r>
          </a:p>
        </p:txBody>
      </p:sp>
      <p:sp>
        <p:nvSpPr>
          <p:cNvPr id="12" name="left-anchor">
            <a:extLst xmlns:a="http://schemas.openxmlformats.org/drawingml/2006/main">
              <a:ext uri="{FF2B5EF4-FFF2-40B4-BE49-F238E27FC236}">
                <a16:creationId xmlns:a16="http://schemas.microsoft.com/office/drawing/2014/main" id="{BDE8EAB2-6314-4852-AE19-1AC4C0F77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3815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3" name="right-anchor">
            <a:extLst xmlns:a="http://schemas.openxmlformats.org/drawingml/2006/main">
              <a:ext uri="{FF2B5EF4-FFF2-40B4-BE49-F238E27FC236}">
                <a16:creationId xmlns:a16="http://schemas.microsoft.com/office/drawing/2014/main" id="{324D9050-413E-4AE4-9B8D-04DA5DC40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3815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6BF683-FB0B-400E-90D8-77EB36D0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102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D7E0D9"/>
            </a:solidFill>
          </a:ln>
        </p:spPr>
      </p:sp>
      <p:sp>
        <p:nvSpPr>
          <p:cNvPr id="17" name="definition">
            <a:extLst xmlns:a="http://schemas.openxmlformats.org/drawingml/2006/main">
              <a:ext uri="{FF2B5EF4-FFF2-40B4-BE49-F238E27FC236}">
                <a16:creationId xmlns:a16="http://schemas.microsoft.com/office/drawing/2014/main" id="{8574602A-D8C7-47F9-97AE-D62B0E68C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200775"/>
            <a:ext cx="1341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本文关注的长期记忆：</a:t>
            </a:r>
          </a:p>
          <a:p xmlns:a="http://schemas.openxmlformats.org/drawingml/2006/main">
            <a:pPr algn="l">
              <a:defRPr sz="25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可以跨会话保存，并在后续任务中读取、更新的外部信息。</a:t>
            </a:r>
          </a:p>
        </p:txBody>
      </p:sp>
      <p:sp>
        <p:nvSpPr>
          <p:cNvPr id="18" name="two-deliverables">
            <a:extLst xmlns:a="http://schemas.openxmlformats.org/drawingml/2006/main">
              <a:ext uri="{FF2B5EF4-FFF2-40B4-BE49-F238E27FC236}">
                <a16:creationId xmlns:a16="http://schemas.microsoft.com/office/drawing/2014/main" id="{6F089AC3-100A-4449-95E5-99E53DC70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486650"/>
            <a:ext cx="13411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我们做了两件事：设计综述助手；梳理长期记忆研究。</a:t>
            </a:r>
          </a:p>
        </p:txBody>
      </p:sp>
    </p:spTree>
    <p:extLst>
      <p:ext uri="{BB962C8B-B14F-4D97-AF65-F5344CB8AC3E}">
        <p14:creationId xmlns:p14="http://schemas.microsoft.com/office/powerpoint/2010/main" val="12014814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B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CA2D61-AF30-44DA-851A-BD9357287501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11563350" y="40290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087C71"/>
            </a:solidFill>
            <a:tailEnd type="arrow" w="med" len="med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3C9031-0919-4897-A55A-A694457A48E0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801100" y="40290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087C71"/>
            </a:solidFill>
            <a:tailEnd type="arrow" w="med" len="med"/>
          </a:ln>
        </p:spPr>
      </p:cxn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093474-4873-4D0C-AD94-A72ED5AE4534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38850" y="40290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087C71"/>
            </a:solidFill>
            <a:tailEnd type="arrow" w="med" len="med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D09B6B-C02E-41CD-B390-CD8629CDF72E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276600" y="40290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087C71"/>
            </a:solidFill>
            <a:tailEnd type="arrow" w="med" len="med"/>
          </a:ln>
        </p:spPr>
      </p:cxnSp>
      <p:sp>
        <p:nvSpPr>
          <p:cNvPr id="2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BF5F547-68B4-43BE-A6F1-EB401705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13411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让助手沿着证据完成综述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2CEBAE-93A1-458F-8322-9F8943074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906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D7E0D9"/>
            </a:solidFill>
          </a:ln>
        </p:spPr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91569DCB-C760-469F-BD85-F21BDB7BC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34350"/>
            <a:ext cx="11811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第一部分：综述智能体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DBBB0C7-BB48-4B73-BD62-E5A14C67C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8086725"/>
            <a:ext cx="14668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sp>
        <p:nvSpPr>
          <p:cNvPr id="5" name="research-start">
            <a:extLst xmlns:a="http://schemas.openxmlformats.org/drawingml/2006/main">
              <a:ext uri="{FF2B5EF4-FFF2-40B4-BE49-F238E27FC236}">
                <a16:creationId xmlns:a16="http://schemas.microsoft.com/office/drawing/2014/main" id="{92002747-002B-432A-8840-8098215F3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13411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700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从研究问题出发</a:t>
            </a:r>
          </a:p>
        </p:txBody>
      </p:sp>
      <p:sp>
        <p:nvSpPr>
          <p:cNvPr id="6" name="coordinator">
            <a:extLst xmlns:a="http://schemas.openxmlformats.org/drawingml/2006/main">
              <a:ext uri="{FF2B5EF4-FFF2-40B4-BE49-F238E27FC236}">
                <a16:creationId xmlns:a16="http://schemas.microsoft.com/office/drawing/2014/main" id="{2455EAF4-F924-483F-80D7-B38FAA9E8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62225"/>
            <a:ext cx="134112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协调器决定下一步：哪里缺证据？继续检索，还是回读原文？</a:t>
            </a:r>
          </a:p>
        </p:txBody>
      </p:sp>
      <p:sp>
        <p:nvSpPr>
          <p:cNvPr id="7" name="evidence-flow-0">
            <a:extLst xmlns:a="http://schemas.openxmlformats.org/drawingml/2006/main">
              <a:ext uri="{FF2B5EF4-FFF2-40B4-BE49-F238E27FC236}">
                <a16:creationId xmlns:a16="http://schemas.microsoft.com/office/drawing/2014/main" id="{2A21EFD8-92A7-45F4-95A9-A47CD816D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09975"/>
            <a:ext cx="23622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D7E0D9"/>
            </a:solidFill>
          </a:ln>
        </p:spPr>
        <p:txBody>
          <a:bodyPr xmlns:a="http://schemas.openxmlformats.org/drawingml/2006/main" wrap="square" lIns="152400" tIns="152400" rIns="152400" bIns="15240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检索与去重</a:t>
            </a:r>
          </a:p>
        </p:txBody>
      </p:sp>
      <p:sp>
        <p:nvSpPr>
          <p:cNvPr id="8" name="flow-detail-0">
            <a:extLst xmlns:a="http://schemas.openxmlformats.org/drawingml/2006/main">
              <a:ext uri="{FF2B5EF4-FFF2-40B4-BE49-F238E27FC236}">
                <a16:creationId xmlns:a16="http://schemas.microsoft.com/office/drawing/2014/main" id="{AF4BA49C-BC9F-4212-8386-E6687BFAE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23622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确认论文身份</a:t>
            </a:r>
          </a:p>
        </p:txBody>
      </p:sp>
      <p:sp>
        <p:nvSpPr>
          <p:cNvPr id="9" name="evidence-flow-1">
            <a:extLst xmlns:a="http://schemas.openxmlformats.org/drawingml/2006/main">
              <a:ext uri="{FF2B5EF4-FFF2-40B4-BE49-F238E27FC236}">
                <a16:creationId xmlns:a16="http://schemas.microsoft.com/office/drawing/2014/main" id="{3A2C869F-39D0-4CB8-B1D5-2F3E02837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609975"/>
            <a:ext cx="23622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D7E0D9"/>
            </a:solidFill>
          </a:ln>
        </p:spPr>
        <p:txBody>
          <a:bodyPr xmlns:a="http://schemas.openxmlformats.org/drawingml/2006/main" wrap="square" lIns="152400" tIns="152400" rIns="152400" bIns="15240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阅读原文</a:t>
            </a:r>
          </a:p>
        </p:txBody>
      </p:sp>
      <p:sp>
        <p:nvSpPr>
          <p:cNvPr id="10" name="flow-detail-1">
            <a:extLst xmlns:a="http://schemas.openxmlformats.org/drawingml/2006/main">
              <a:ext uri="{FF2B5EF4-FFF2-40B4-BE49-F238E27FC236}">
                <a16:creationId xmlns:a16="http://schemas.microsoft.com/office/drawing/2014/main" id="{EA613652-B781-47B4-961C-CE2D5B0A9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686300"/>
            <a:ext cx="23622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定位原文页面</a:t>
            </a:r>
          </a:p>
        </p:txBody>
      </p:sp>
      <p:sp>
        <p:nvSpPr>
          <p:cNvPr id="11" name="evidence-flow-2">
            <a:extLst xmlns:a="http://schemas.openxmlformats.org/drawingml/2006/main">
              <a:ext uri="{FF2B5EF4-FFF2-40B4-BE49-F238E27FC236}">
                <a16:creationId xmlns:a16="http://schemas.microsoft.com/office/drawing/2014/main" id="{99D5F1F2-E201-4884-AD6F-B6D217750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09975"/>
            <a:ext cx="23622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13335">
            <a:solidFill>
              <a:srgbClr val="D7E0D9"/>
            </a:solidFill>
          </a:ln>
        </p:spPr>
        <p:txBody>
          <a:bodyPr xmlns:a="http://schemas.openxmlformats.org/drawingml/2006/main" wrap="square" lIns="152400" tIns="152400" rIns="152400" bIns="15240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保存证据</a:t>
            </a:r>
          </a:p>
        </p:txBody>
      </p:sp>
      <p:sp>
        <p:nvSpPr>
          <p:cNvPr id="12" name="flow-detail-2">
            <a:extLst xmlns:a="http://schemas.openxmlformats.org/drawingml/2006/main">
              <a:ext uri="{FF2B5EF4-FFF2-40B4-BE49-F238E27FC236}">
                <a16:creationId xmlns:a16="http://schemas.microsoft.com/office/drawing/2014/main" id="{D5341B8C-CECA-48BB-935B-133B158B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686300"/>
            <a:ext cx="23622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摘录、条件与局限</a:t>
            </a:r>
          </a:p>
        </p:txBody>
      </p:sp>
      <p:sp>
        <p:nvSpPr>
          <p:cNvPr id="13" name="evidence-flow-3">
            <a:extLst xmlns:a="http://schemas.openxmlformats.org/drawingml/2006/main">
              <a:ext uri="{FF2B5EF4-FFF2-40B4-BE49-F238E27FC236}">
                <a16:creationId xmlns:a16="http://schemas.microsoft.com/office/drawing/2014/main" id="{3B1978FA-4819-4B5C-A26A-42B3BC50C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609975"/>
            <a:ext cx="23622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D7E0D9"/>
            </a:solidFill>
          </a:ln>
        </p:spPr>
        <p:txBody>
          <a:bodyPr xmlns:a="http://schemas.openxmlformats.org/drawingml/2006/main" wrap="square" lIns="152400" tIns="152400" rIns="152400" bIns="15240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形成陈述</a:t>
            </a:r>
          </a:p>
        </p:txBody>
      </p:sp>
      <p:sp>
        <p:nvSpPr>
          <p:cNvPr id="14" name="flow-detail-3">
            <a:extLst xmlns:a="http://schemas.openxmlformats.org/drawingml/2006/main">
              <a:ext uri="{FF2B5EF4-FFF2-40B4-BE49-F238E27FC236}">
                <a16:creationId xmlns:a16="http://schemas.microsoft.com/office/drawing/2014/main" id="{0C2D6BDD-4B65-4FFF-B1F9-A2950B953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686300"/>
            <a:ext cx="23622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关联支持证据</a:t>
            </a:r>
          </a:p>
        </p:txBody>
      </p:sp>
      <p:sp>
        <p:nvSpPr>
          <p:cNvPr id="15" name="evidence-flow-4">
            <a:extLst xmlns:a="http://schemas.openxmlformats.org/drawingml/2006/main">
              <a:ext uri="{FF2B5EF4-FFF2-40B4-BE49-F238E27FC236}">
                <a16:creationId xmlns:a16="http://schemas.microsoft.com/office/drawing/2014/main" id="{57713A9A-36E1-4CFB-86EB-838E510C9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63400" y="3609975"/>
            <a:ext cx="23622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D7E0D9"/>
            </a:solidFill>
          </a:ln>
        </p:spPr>
        <p:txBody>
          <a:bodyPr xmlns:a="http://schemas.openxmlformats.org/drawingml/2006/main" wrap="square" lIns="152400" tIns="152400" rIns="152400" bIns="15240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生成草稿</a:t>
            </a:r>
          </a:p>
        </p:txBody>
      </p:sp>
      <p:sp>
        <p:nvSpPr>
          <p:cNvPr id="16" name="flow-detail-4">
            <a:extLst xmlns:a="http://schemas.openxmlformats.org/drawingml/2006/main">
              <a:ext uri="{FF2B5EF4-FFF2-40B4-BE49-F238E27FC236}">
                <a16:creationId xmlns:a16="http://schemas.microsoft.com/office/drawing/2014/main" id="{DE599888-A1E7-403E-8AFB-5664499D0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63400" y="4686300"/>
            <a:ext cx="23622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组织与综合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7FA9A9-4775-4894-9A96-4103214CC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054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D7E0D9"/>
            </a:solidFill>
          </a:ln>
        </p:spPr>
      </p:sp>
      <p:sp>
        <p:nvSpPr>
          <p:cNvPr id="22" name="tool-label">
            <a:extLst xmlns:a="http://schemas.openxmlformats.org/drawingml/2006/main">
              <a:ext uri="{FF2B5EF4-FFF2-40B4-BE49-F238E27FC236}">
                <a16:creationId xmlns:a16="http://schemas.microsoft.com/office/drawing/2014/main" id="{D3C80028-B73B-4B8D-BBC3-FCCE34AB7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67425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工具执行</a:t>
            </a:r>
          </a:p>
        </p:txBody>
      </p:sp>
      <p:sp>
        <p:nvSpPr>
          <p:cNvPr id="23" name="tool-body">
            <a:extLst xmlns:a="http://schemas.openxmlformats.org/drawingml/2006/main">
              <a:ext uri="{FF2B5EF4-FFF2-40B4-BE49-F238E27FC236}">
                <a16:creationId xmlns:a16="http://schemas.microsoft.com/office/drawing/2014/main" id="{0DA57555-BB9D-46E5-927B-D35A8AB6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60674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查询文献、归并版本、提取页面、检查摘录。</a:t>
            </a:r>
          </a:p>
        </p:txBody>
      </p:sp>
      <p:sp>
        <p:nvSpPr>
          <p:cNvPr id="24" name="state-label">
            <a:extLst xmlns:a="http://schemas.openxmlformats.org/drawingml/2006/main">
              <a:ext uri="{FF2B5EF4-FFF2-40B4-BE49-F238E27FC236}">
                <a16:creationId xmlns:a16="http://schemas.microsoft.com/office/drawing/2014/main" id="{B270DDB5-E550-44C7-A676-FBB4549D7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961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持久记录</a:t>
            </a:r>
          </a:p>
        </p:txBody>
      </p:sp>
      <p:sp>
        <p:nvSpPr>
          <p:cNvPr id="25" name="state-body">
            <a:extLst xmlns:a="http://schemas.openxmlformats.org/drawingml/2006/main">
              <a:ext uri="{FF2B5EF4-FFF2-40B4-BE49-F238E27FC236}">
                <a16:creationId xmlns:a16="http://schemas.microsoft.com/office/drawing/2014/main" id="{DC1A199B-9322-4C4E-BCAE-71374E8E5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68961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研究范围、阅读进度、来源证据、修改理由。</a:t>
            </a:r>
          </a:p>
        </p:txBody>
      </p:sp>
      <p:sp>
        <p:nvSpPr>
          <p:cNvPr id="26" name="implementation-limit">
            <a:extLst xmlns:a="http://schemas.openxmlformats.org/drawingml/2006/main">
              <a:ext uri="{FF2B5EF4-FFF2-40B4-BE49-F238E27FC236}">
                <a16:creationId xmlns:a16="http://schemas.microsoft.com/office/drawing/2014/main" id="{A4DE2F27-47E2-436B-A3DA-CF320D99F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677150"/>
            <a:ext cx="13411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协调器负责自主选择工具；批量阅读与归档也使用脚本。</a:t>
            </a:r>
          </a:p>
        </p:txBody>
      </p:sp>
    </p:spTree>
    <p:extLst>
      <p:ext uri="{BB962C8B-B14F-4D97-AF65-F5344CB8AC3E}">
        <p14:creationId xmlns:p14="http://schemas.microsoft.com/office/powerpoint/2010/main" val="18017021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B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E005E6B-0D60-4C98-8548-C42164FA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13411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它什么时候需要自己作决定？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AE8EA1-0930-4089-A1EF-0D99348A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906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D7E0D9"/>
            </a:solidFill>
          </a:ln>
        </p:spPr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2686A63C-D78A-4A27-A532-16B91E07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34350"/>
            <a:ext cx="11811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第一部分：综述智能体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7AB05BD-38A1-40D0-9DF1-E25A5D8B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8086725"/>
            <a:ext cx="14668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5" name="run-label">
            <a:extLst xmlns:a="http://schemas.openxmlformats.org/drawingml/2006/main">
              <a:ext uri="{FF2B5EF4-FFF2-40B4-BE49-F238E27FC236}">
                <a16:creationId xmlns:a16="http://schemas.microsoft.com/office/drawing/2014/main" id="{3B6EF8C2-EA2F-4157-ADF8-ED8A6B02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52600"/>
            <a:ext cx="1341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真实运行记录的概述</a:t>
            </a:r>
          </a:p>
        </p:txBody>
      </p:sp>
      <p:sp>
        <p:nvSpPr>
          <p:cNvPr id="6" name="gap-example">
            <a:extLst xmlns:a="http://schemas.openxmlformats.org/drawingml/2006/main">
              <a:ext uri="{FF2B5EF4-FFF2-40B4-BE49-F238E27FC236}">
                <a16:creationId xmlns:a16="http://schemas.microsoft.com/office/drawing/2014/main" id="{1349E5C5-7519-4C27-AA3F-45BD66AA6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24125"/>
            <a:ext cx="61912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77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77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证据不足时，补充检索</a:t>
            </a:r>
          </a:p>
        </p:txBody>
      </p:sp>
      <p:sp>
        <p:nvSpPr>
          <p:cNvPr id="7" name="tool-example">
            <a:extLst xmlns:a="http://schemas.openxmlformats.org/drawingml/2006/main">
              <a:ext uri="{FF2B5EF4-FFF2-40B4-BE49-F238E27FC236}">
                <a16:creationId xmlns:a16="http://schemas.microsoft.com/office/drawing/2014/main" id="{ACEA3BB2-D439-4DC7-B348-AAF640932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2524125"/>
            <a:ext cx="56864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B34F3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775" b="1">
                <a:solidFill>
                  <a:srgbClr val="B34F3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775" b="1">
                <a:solidFill>
                  <a:srgbClr val="B34F3D"/>
                </a:solidFill>
                <a:latin typeface="Hiragino Sans GB"/>
                <a:ea typeface="Hiragino Sans GB"/>
                <a:cs typeface="Hiragino Sans GB"/>
              </a:rPr>
              <a:t>工具不足时，报告限制</a:t>
            </a:r>
          </a:p>
        </p:txBody>
      </p:sp>
      <p:sp>
        <p:nvSpPr>
          <p:cNvPr id="8" name="decision-title-0">
            <a:extLst xmlns:a="http://schemas.openxmlformats.org/drawingml/2006/main">
              <a:ext uri="{FF2B5EF4-FFF2-40B4-BE49-F238E27FC236}">
                <a16:creationId xmlns:a16="http://schemas.microsoft.com/office/drawing/2014/main" id="{3D3D4384-C9C8-4A3F-BF2D-39636648E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24250"/>
            <a:ext cx="619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发现缺口</a:t>
            </a:r>
          </a:p>
        </p:txBody>
      </p:sp>
      <p:sp>
        <p:nvSpPr>
          <p:cNvPr id="9" name="decision-body-0">
            <a:extLst xmlns:a="http://schemas.openxmlformats.org/drawingml/2006/main">
              <a:ext uri="{FF2B5EF4-FFF2-40B4-BE49-F238E27FC236}">
                <a16:creationId xmlns:a16="http://schemas.microsoft.com/office/drawing/2014/main" id="{297A5D19-566C-421F-9554-434425511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19550"/>
            <a:ext cx="6191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研究边界与评测问题的证据不足。</a:t>
            </a:r>
          </a:p>
        </p:txBody>
      </p:sp>
      <p:sp>
        <p:nvSpPr>
          <p:cNvPr id="10" name="decision-title-1">
            <a:extLst xmlns:a="http://schemas.openxmlformats.org/drawingml/2006/main">
              <a:ext uri="{FF2B5EF4-FFF2-40B4-BE49-F238E27FC236}">
                <a16:creationId xmlns:a16="http://schemas.microsoft.com/office/drawing/2014/main" id="{43715559-DCC0-45B5-80EE-53ED350DC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95825"/>
            <a:ext cx="619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选择行动</a:t>
            </a:r>
          </a:p>
        </p:txBody>
      </p:sp>
      <p:sp>
        <p:nvSpPr>
          <p:cNvPr id="11" name="decision-body-1">
            <a:extLst xmlns:a="http://schemas.openxmlformats.org/drawingml/2006/main">
              <a:ext uri="{FF2B5EF4-FFF2-40B4-BE49-F238E27FC236}">
                <a16:creationId xmlns:a16="http://schemas.microsoft.com/office/drawing/2014/main" id="{C8C86679-AA55-430B-B205-A55970CA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91125"/>
            <a:ext cx="6191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自主选择 7 条补充检索查询。</a:t>
            </a:r>
          </a:p>
        </p:txBody>
      </p:sp>
      <p:sp>
        <p:nvSpPr>
          <p:cNvPr id="12" name="decision-title-2">
            <a:extLst xmlns:a="http://schemas.openxmlformats.org/drawingml/2006/main">
              <a:ext uri="{FF2B5EF4-FFF2-40B4-BE49-F238E27FC236}">
                <a16:creationId xmlns:a16="http://schemas.microsoft.com/office/drawing/2014/main" id="{325F754F-58F4-4876-BF83-B637B61A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67400"/>
            <a:ext cx="619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继续取证</a:t>
            </a:r>
          </a:p>
        </p:txBody>
      </p:sp>
      <p:sp>
        <p:nvSpPr>
          <p:cNvPr id="13" name="decision-body-2">
            <a:extLst xmlns:a="http://schemas.openxmlformats.org/drawingml/2006/main">
              <a:ext uri="{FF2B5EF4-FFF2-40B4-BE49-F238E27FC236}">
                <a16:creationId xmlns:a16="http://schemas.microsoft.com/office/drawing/2014/main" id="{A250248B-F2AA-42E8-9C39-97ACE737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362700"/>
            <a:ext cx="6191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补检结果进入后续阅读与证据流程。</a:t>
            </a:r>
          </a:p>
        </p:txBody>
      </p:sp>
      <p:sp>
        <p:nvSpPr>
          <p:cNvPr id="14" name="missing-tool-title">
            <a:extLst xmlns:a="http://schemas.openxmlformats.org/drawingml/2006/main">
              <a:ext uri="{FF2B5EF4-FFF2-40B4-BE49-F238E27FC236}">
                <a16:creationId xmlns:a16="http://schemas.microsoft.com/office/drawing/2014/main" id="{C997949F-BF38-442F-986A-4F4C76347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524250"/>
            <a:ext cx="56864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遇到工具缺口</a:t>
            </a:r>
          </a:p>
        </p:txBody>
      </p:sp>
      <p:sp>
        <p:nvSpPr>
          <p:cNvPr id="15" name="missing-tool-body">
            <a:extLst xmlns:a="http://schemas.openxmlformats.org/drawingml/2006/main">
              <a:ext uri="{FF2B5EF4-FFF2-40B4-BE49-F238E27FC236}">
                <a16:creationId xmlns:a16="http://schemas.microsoft.com/office/drawing/2014/main" id="{8BCD2300-948A-4FB9-805E-F76497C1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4019550"/>
            <a:ext cx="56864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无法列出已有证据编号。</a:t>
            </a:r>
          </a:p>
        </p:txBody>
      </p:sp>
      <p:sp>
        <p:nvSpPr>
          <p:cNvPr id="16" name="honest-response-title">
            <a:extLst xmlns:a="http://schemas.openxmlformats.org/drawingml/2006/main">
              <a:ext uri="{FF2B5EF4-FFF2-40B4-BE49-F238E27FC236}">
                <a16:creationId xmlns:a16="http://schemas.microsoft.com/office/drawing/2014/main" id="{1B4A6136-A9AF-441C-980C-06CBA802A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5105400"/>
            <a:ext cx="56864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报告限制</a:t>
            </a:r>
          </a:p>
        </p:txBody>
      </p:sp>
      <p:sp>
        <p:nvSpPr>
          <p:cNvPr id="17" name="honest-response-body">
            <a:extLst xmlns:a="http://schemas.openxmlformats.org/drawingml/2006/main">
              <a:ext uri="{FF2B5EF4-FFF2-40B4-BE49-F238E27FC236}">
                <a16:creationId xmlns:a16="http://schemas.microsoft.com/office/drawing/2014/main" id="{C337F3E6-C547-4236-B964-D0DA9EA9D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5600700"/>
            <a:ext cx="56864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不编造编号，</a:t>
            </a:r>
          </a:p>
          <a:p xmlns:a="http://schemas.openxmlformats.org/drawingml/2006/main">
            <a:pPr algn="l">
              <a:def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明确说明无法合规完成。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46D970-1860-4661-A21D-6E7E6668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2294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D7E0D9"/>
            </a:solidFill>
          </a:ln>
        </p:spPr>
      </p:sp>
      <p:sp>
        <p:nvSpPr>
          <p:cNvPr id="19" name="autonomy-lesson">
            <a:extLst xmlns:a="http://schemas.openxmlformats.org/drawingml/2006/main">
              <a:ext uri="{FF2B5EF4-FFF2-40B4-BE49-F238E27FC236}">
                <a16:creationId xmlns:a16="http://schemas.microsoft.com/office/drawing/2014/main" id="{23574D29-4EDC-4076-8B2D-DB4D1A469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524750"/>
            <a:ext cx="134112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自主性体现在根据状态选择行动，也体现在依据不足时停止补写。</a:t>
            </a:r>
          </a:p>
        </p:txBody>
      </p:sp>
    </p:spTree>
    <p:extLst>
      <p:ext uri="{BB962C8B-B14F-4D97-AF65-F5344CB8AC3E}">
        <p14:creationId xmlns:p14="http://schemas.microsoft.com/office/powerpoint/2010/main" val="19798650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B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330EE4-C6EA-45BD-A851-F3D4AF6EFDE0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3462338" y="4762500"/>
            <a:ext cx="0" cy="390525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087C71"/>
            </a:solidFill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62EB5A-F702-4EC9-8606-272225F5F29D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3462338" y="3305175"/>
            <a:ext cx="0" cy="390525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087C71"/>
            </a:solidFill>
            <a:tailEnd type="arrow" w="med" len="med"/>
          </a:ln>
        </p:spPr>
      </p:cxnSp>
      <p:sp>
        <p:nvSpPr>
          <p:cNvPr id="1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7F60ABF-C45E-4C7D-AC79-86D2B95A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13411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有原文，还需要核对结论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1A52B1-66C1-417F-B76B-1F9820526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906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D7E0D9"/>
            </a:solidFill>
          </a:ln>
        </p:spPr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D70D026C-E74E-4992-92FF-FAC9FD910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34350"/>
            <a:ext cx="11811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第一部分：综述智能体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0608FB8-2B9B-4BBA-8083-B46617E26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8086725"/>
            <a:ext cx="14668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5" name="trace-0">
            <a:extLst xmlns:a="http://schemas.openxmlformats.org/drawingml/2006/main">
              <a:ext uri="{FF2B5EF4-FFF2-40B4-BE49-F238E27FC236}">
                <a16:creationId xmlns:a16="http://schemas.microsoft.com/office/drawing/2014/main" id="{9FA75D96-EBEE-4142-A8AB-74B2846C9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38375"/>
            <a:ext cx="50958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D7E0D9"/>
            </a:solidFill>
          </a:ln>
        </p:spPr>
        <p:txBody>
          <a:bodyPr xmlns:a="http://schemas.openxmlformats.org/drawingml/2006/main" wrap="square" lIns="152400" tIns="152400" rIns="152400" bIns="152400" anchor="ctr">
            <a:noAutofit/>
          </a:bodyPr>
          <a:lstStyle xmlns:a="http://schemas.openxmlformats.org/drawingml/2006/main">
            <a:defPPr algn="ctr">
              <a:def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原文</a:t>
            </a:r>
          </a:p>
          <a:p xmlns:a="http://schemas.openxmlformats.org/drawingml/2006/main">
            <a:pPr algn="ctr">
              <a:def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论文版本、页码、摘录</a:t>
            </a:r>
          </a:p>
        </p:txBody>
      </p:sp>
      <p:sp>
        <p:nvSpPr>
          <p:cNvPr id="6" name="trace-1">
            <a:extLst xmlns:a="http://schemas.openxmlformats.org/drawingml/2006/main">
              <a:ext uri="{FF2B5EF4-FFF2-40B4-BE49-F238E27FC236}">
                <a16:creationId xmlns:a16="http://schemas.microsoft.com/office/drawing/2014/main" id="{1F5568C4-A0BB-481D-A779-940C33BC2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5700"/>
            <a:ext cx="50958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13335">
            <a:solidFill>
              <a:srgbClr val="D7E0D9"/>
            </a:solidFill>
          </a:ln>
        </p:spPr>
        <p:txBody>
          <a:bodyPr xmlns:a="http://schemas.openxmlformats.org/drawingml/2006/main" wrap="square" lIns="152400" tIns="152400" rIns="152400" bIns="152400" anchor="ctr">
            <a:noAutofit/>
          </a:bodyPr>
          <a:lstStyle xmlns:a="http://schemas.openxmlformats.org/drawingml/2006/main">
            <a:defPPr algn="ctr">
              <a:defRPr sz="2250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250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证据记录</a:t>
            </a:r>
          </a:p>
          <a:p xmlns:a="http://schemas.openxmlformats.org/drawingml/2006/main">
            <a:pPr algn="ctr">
              <a:defRPr sz="2250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实验条件与局限</a:t>
            </a:r>
          </a:p>
        </p:txBody>
      </p:sp>
      <p:sp>
        <p:nvSpPr>
          <p:cNvPr id="7" name="trace-2">
            <a:extLst xmlns:a="http://schemas.openxmlformats.org/drawingml/2006/main">
              <a:ext uri="{FF2B5EF4-FFF2-40B4-BE49-F238E27FC236}">
                <a16:creationId xmlns:a16="http://schemas.microsoft.com/office/drawing/2014/main" id="{8638EAD5-67D7-4450-88D9-BF45F30B3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53025"/>
            <a:ext cx="50958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D7E0D9"/>
            </a:solidFill>
          </a:ln>
        </p:spPr>
        <p:txBody>
          <a:bodyPr xmlns:a="http://schemas.openxmlformats.org/drawingml/2006/main" wrap="square" lIns="152400" tIns="152400" rIns="152400" bIns="152400" anchor="ctr">
            <a:noAutofit/>
          </a:bodyPr>
          <a:lstStyle xmlns:a="http://schemas.openxmlformats.org/drawingml/2006/main">
            <a:defPPr algn="ctr">
              <a:def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综述陈述</a:t>
            </a:r>
          </a:p>
          <a:p xmlns:a="http://schemas.openxmlformats.org/drawingml/2006/main">
            <a:pPr algn="ctr">
              <a:def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关联支持它的证据</a:t>
            </a:r>
          </a:p>
        </p:txBody>
      </p:sp>
      <p:sp>
        <p:nvSpPr>
          <p:cNvPr id="10" name="automatic-title">
            <a:extLst xmlns:a="http://schemas.openxmlformats.org/drawingml/2006/main">
              <a:ext uri="{FF2B5EF4-FFF2-40B4-BE49-F238E27FC236}">
                <a16:creationId xmlns:a16="http://schemas.microsoft.com/office/drawing/2014/main" id="{537118C5-62D4-466D-ACD4-DB8D18BB1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238375"/>
            <a:ext cx="70675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6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程序检查</a:t>
            </a:r>
          </a:p>
        </p:txBody>
      </p:sp>
      <p:sp>
        <p:nvSpPr>
          <p:cNvPr id="11" name="automatic-body">
            <a:extLst xmlns:a="http://schemas.openxmlformats.org/drawingml/2006/main">
              <a:ext uri="{FF2B5EF4-FFF2-40B4-BE49-F238E27FC236}">
                <a16:creationId xmlns:a16="http://schemas.microsoft.com/office/drawing/2014/main" id="{48603441-0F46-463A-8D14-93DEAB5BE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867025"/>
            <a:ext cx="70675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摘录是否与指定页面连续匹配。</a:t>
            </a:r>
          </a:p>
        </p:txBody>
      </p:sp>
      <p:sp>
        <p:nvSpPr>
          <p:cNvPr id="12" name="human-title">
            <a:extLst xmlns:a="http://schemas.openxmlformats.org/drawingml/2006/main">
              <a:ext uri="{FF2B5EF4-FFF2-40B4-BE49-F238E27FC236}">
                <a16:creationId xmlns:a16="http://schemas.microsoft.com/office/drawing/2014/main" id="{9956C480-2B3D-48AA-A49D-990417AFD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914775"/>
            <a:ext cx="70675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B34F3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B34F3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625" b="1">
                <a:solidFill>
                  <a:srgbClr val="B34F3D"/>
                </a:solidFill>
                <a:latin typeface="Hiragino Sans GB"/>
                <a:ea typeface="Hiragino Sans GB"/>
                <a:cs typeface="Hiragino Sans GB"/>
              </a:rPr>
              <a:t>人工核验</a:t>
            </a:r>
          </a:p>
        </p:txBody>
      </p:sp>
      <p:sp>
        <p:nvSpPr>
          <p:cNvPr id="13" name="human-body">
            <a:extLst xmlns:a="http://schemas.openxmlformats.org/drawingml/2006/main">
              <a:ext uri="{FF2B5EF4-FFF2-40B4-BE49-F238E27FC236}">
                <a16:creationId xmlns:a16="http://schemas.microsoft.com/office/drawing/2014/main" id="{20F72540-93E0-47C6-B48B-17D9CA0DC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543425"/>
            <a:ext cx="706755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原文是否真正支持我们的解释？</a:t>
            </a:r>
          </a:p>
          <a:p xmlns:a="http://schemas.openxmlformats.org/drawingml/2006/main">
            <a:pPr algn="l">
              <a:def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数字、比较对象和适用条件是否准确？</a:t>
            </a:r>
          </a:p>
        </p:txBody>
      </p:sp>
      <p:sp>
        <p:nvSpPr>
          <p:cNvPr id="14" name="teaching-label">
            <a:extLst xmlns:a="http://schemas.openxmlformats.org/drawingml/2006/main">
              <a:ext uri="{FF2B5EF4-FFF2-40B4-BE49-F238E27FC236}">
                <a16:creationId xmlns:a16="http://schemas.microsoft.com/office/drawing/2014/main" id="{D1F1A45C-8CE4-442F-BE4A-563EE601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838825"/>
            <a:ext cx="706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教学例子</a:t>
            </a:r>
          </a:p>
        </p:txBody>
      </p:sp>
      <p:sp>
        <p:nvSpPr>
          <p:cNvPr id="15" name="overgeneralization">
            <a:extLst xmlns:a="http://schemas.openxmlformats.org/drawingml/2006/main">
              <a:ext uri="{FF2B5EF4-FFF2-40B4-BE49-F238E27FC236}">
                <a16:creationId xmlns:a16="http://schemas.microsoft.com/office/drawing/2014/main" id="{449A98AF-237F-4B4B-BA36-CA9D79EF8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6257925"/>
            <a:ext cx="70675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“在某个设置下有效”</a:t>
            </a:r>
          </a:p>
          <a:p xmlns:a="http://schemas.openxmlformats.org/drawingml/2006/main">
            <a:pPr algn="l">
              <a:defRPr sz="210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不能直接概括为“在所有任务中有效”。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A86795-341B-43DE-8EA2-B8BB61AC3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23900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D7E0D9"/>
            </a:solidFill>
          </a:ln>
        </p:spPr>
      </p:sp>
      <p:sp>
        <p:nvSpPr>
          <p:cNvPr id="17" name="progress">
            <a:extLst xmlns:a="http://schemas.openxmlformats.org/drawingml/2006/main">
              <a:ext uri="{FF2B5EF4-FFF2-40B4-BE49-F238E27FC236}">
                <a16:creationId xmlns:a16="http://schemas.microsoft.com/office/drawing/2014/main" id="{5DC515BD-5D1D-4173-BE7D-6A42C1DB2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429500"/>
            <a:ext cx="13411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当前：40 篇核心文献，39 篇进入正文引用，143 条有效核心证据。</a:t>
            </a:r>
          </a:p>
        </p:txBody>
      </p:sp>
      <p:sp>
        <p:nvSpPr>
          <p:cNvPr id="18" name="verification-status">
            <a:extLst xmlns:a="http://schemas.openxmlformats.org/drawingml/2006/main">
              <a:ext uri="{FF2B5EF4-FFF2-40B4-BE49-F238E27FC236}">
                <a16:creationId xmlns:a16="http://schemas.microsoft.com/office/drawing/2014/main" id="{E1E86B72-A6CD-4F4C-8AB0-C784CBCAB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800975"/>
            <a:ext cx="13411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B34F3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B34F3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B34F3D"/>
                </a:solidFill>
                <a:latin typeface="Hiragino Sans GB"/>
                <a:ea typeface="Hiragino Sans GB"/>
                <a:cs typeface="Hiragino Sans GB"/>
              </a:rPr>
              <a:t>人工签字核验尚未完成；自动检查不能替代语义复核。</a:t>
            </a:r>
          </a:p>
        </p:txBody>
      </p:sp>
    </p:spTree>
    <p:extLst>
      <p:ext uri="{BB962C8B-B14F-4D97-AF65-F5344CB8AC3E}">
        <p14:creationId xmlns:p14="http://schemas.microsoft.com/office/powerpoint/2010/main" val="4367549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B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07A16BD-24FE-470F-AED7-E92BF5874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13411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我们把研究问题归为三类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D8FD34-3457-480B-A442-0A6786DA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906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D7E0D9"/>
            </a:solidFill>
          </a:ln>
        </p:spPr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80F872F-5759-45F9-B886-73C29BC8C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34350"/>
            <a:ext cx="11811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第二部分：长期记忆综述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89EFDA2-C560-48E0-8125-CF23600EB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8086725"/>
            <a:ext cx="14668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  <p:sp>
        <p:nvSpPr>
          <p:cNvPr id="5" name="central-question">
            <a:extLst xmlns:a="http://schemas.openxmlformats.org/drawingml/2006/main">
              <a:ext uri="{FF2B5EF4-FFF2-40B4-BE49-F238E27FC236}">
                <a16:creationId xmlns:a16="http://schemas.microsoft.com/office/drawing/2014/main" id="{CCD362ED-D0FF-4AC5-AA7B-9F4A51441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24050"/>
            <a:ext cx="1341120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9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9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智能体怎样持续保留有用信息，</a:t>
            </a:r>
          </a:p>
          <a:p xmlns:a="http://schemas.openxmlformats.org/drawingml/2006/main">
            <a:pPr algn="l">
              <a:defRPr sz="29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9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并在信息变化后可靠地使用它？</a:t>
            </a:r>
          </a:p>
        </p:txBody>
      </p:sp>
      <p:sp>
        <p:nvSpPr>
          <p:cNvPr id="6" name="question-topic-0">
            <a:extLst xmlns:a="http://schemas.openxmlformats.org/drawingml/2006/main">
              <a:ext uri="{FF2B5EF4-FFF2-40B4-BE49-F238E27FC236}">
                <a16:creationId xmlns:a16="http://schemas.microsoft.com/office/drawing/2014/main" id="{619E0066-CB30-4445-BFD2-A2A09896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259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组织</a:t>
            </a:r>
          </a:p>
        </p:txBody>
      </p:sp>
      <p:sp>
        <p:nvSpPr>
          <p:cNvPr id="7" name="question-description-0">
            <a:extLst xmlns:a="http://schemas.openxmlformats.org/drawingml/2006/main">
              <a:ext uri="{FF2B5EF4-FFF2-40B4-BE49-F238E27FC236}">
                <a16:creationId xmlns:a16="http://schemas.microsoft.com/office/drawing/2014/main" id="{90398235-3DB2-494E-AED2-FF35C4B9C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743325"/>
            <a:ext cx="10591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70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70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保存成什么形式，怎样找得到？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76320B-29F7-4D7C-BE3F-83EF4BF79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0532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D7E0D9"/>
            </a:solidFill>
          </a:ln>
        </p:spPr>
      </p:sp>
      <p:sp>
        <p:nvSpPr>
          <p:cNvPr id="9" name="question-topic-1">
            <a:extLst xmlns:a="http://schemas.openxmlformats.org/drawingml/2006/main">
              <a:ext uri="{FF2B5EF4-FFF2-40B4-BE49-F238E27FC236}">
                <a16:creationId xmlns:a16="http://schemas.microsoft.com/office/drawing/2014/main" id="{B00EBF45-A73D-4E22-A886-5826C1E8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81550"/>
            <a:ext cx="259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更新</a:t>
            </a:r>
          </a:p>
        </p:txBody>
      </p:sp>
      <p:sp>
        <p:nvSpPr>
          <p:cNvPr id="10" name="question-description-1">
            <a:extLst xmlns:a="http://schemas.openxmlformats.org/drawingml/2006/main">
              <a:ext uri="{FF2B5EF4-FFF2-40B4-BE49-F238E27FC236}">
                <a16:creationId xmlns:a16="http://schemas.microsoft.com/office/drawing/2014/main" id="{5F699978-57AD-4CF2-AABF-7F2CECF15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848225"/>
            <a:ext cx="10591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70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70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新信息来了，旧信息怎么办？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C2901B-4FB8-4A4F-9F87-73EC26CCA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1022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D7E0D9"/>
            </a:solidFill>
          </a:ln>
        </p:spPr>
      </p:sp>
      <p:sp>
        <p:nvSpPr>
          <p:cNvPr id="12" name="question-topic-2">
            <a:extLst xmlns:a="http://schemas.openxmlformats.org/drawingml/2006/main">
              <a:ext uri="{FF2B5EF4-FFF2-40B4-BE49-F238E27FC236}">
                <a16:creationId xmlns:a16="http://schemas.microsoft.com/office/drawing/2014/main" id="{5986337B-6921-489D-9302-3AFDAED38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86450"/>
            <a:ext cx="259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评测</a:t>
            </a:r>
          </a:p>
        </p:txBody>
      </p:sp>
      <p:sp>
        <p:nvSpPr>
          <p:cNvPr id="13" name="question-description-2">
            <a:extLst xmlns:a="http://schemas.openxmlformats.org/drawingml/2006/main">
              <a:ext uri="{FF2B5EF4-FFF2-40B4-BE49-F238E27FC236}">
                <a16:creationId xmlns:a16="http://schemas.microsoft.com/office/drawing/2014/main" id="{737CB6F0-E413-4278-A8B3-F1AE5BDB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5953125"/>
            <a:ext cx="10591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70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70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答对一次，能说明长期可靠吗？</a:t>
            </a:r>
          </a:p>
        </p:txBody>
      </p:sp>
      <p:sp>
        <p:nvSpPr>
          <p:cNvPr id="14" name="scope">
            <a:extLst xmlns:a="http://schemas.openxmlformats.org/drawingml/2006/main">
              <a:ext uri="{FF2B5EF4-FFF2-40B4-BE49-F238E27FC236}">
                <a16:creationId xmlns:a16="http://schemas.microsoft.com/office/drawing/2014/main" id="{C540A4AF-287A-4C55-97C5-3A2B6A21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258050"/>
            <a:ext cx="13411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范围：可写、可更新、跨会话的外部记忆。</a:t>
            </a:r>
          </a:p>
          <a:p xmlns:a="http://schemas.openxmlformats.org/drawingml/2006/main">
            <a:pPr algn="l">
              <a:def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长上下文、静态知识检索和参数知识作为相关机制对照。</a:t>
            </a:r>
          </a:p>
        </p:txBody>
      </p:sp>
    </p:spTree>
    <p:extLst>
      <p:ext uri="{BB962C8B-B14F-4D97-AF65-F5344CB8AC3E}">
        <p14:creationId xmlns:p14="http://schemas.microsoft.com/office/powerpoint/2010/main" val="16132493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B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26AD26-F89A-4E12-89C5-479402DEEAB5}"/>
              </a:ext>
            </a:extLst>
          </p:cNvPr>
          <p:cNvCxnSpPr>
            <a:stCxn xmlns:a="http://schemas.openxmlformats.org/drawingml/2006/main" id="17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12382500" y="4333875"/>
            <a:ext cx="0" cy="485775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087C71"/>
            </a:solidFill>
            <a:tailEnd type="arrow" w="med" len="med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BA2EBF-14A0-4813-9BD9-9AB5BCB8DC76}"/>
              </a:ext>
            </a:extLst>
          </p:cNvPr>
          <p:cNvCxnSpPr>
            <a:stCxn xmlns:a="http://schemas.openxmlformats.org/drawingml/2006/main" id="12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7620000" y="4333875"/>
            <a:ext cx="0" cy="485775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087C71"/>
            </a:solidFill>
            <a:headEnd type="arrow" w="med" len="med"/>
            <a:tailEnd type="arrow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5A9352-B066-4562-966B-233BED2C1991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2857500" y="4333875"/>
            <a:ext cx="0" cy="485775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087C71"/>
            </a:solidFill>
            <a:tailEnd type="arrow" w="med" len="med"/>
          </a:ln>
        </p:spPr>
      </p:cxnSp>
      <p:sp>
        <p:nvSpPr>
          <p:cNvPr id="2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9159549-0956-4D3C-A6A4-E3B431730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13411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研究者尝试保存不同形式的记忆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93114B-8027-4FC9-BE80-9CA6D09E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906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D7E0D9"/>
            </a:solidFill>
          </a:ln>
        </p:spPr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EF6EE50-ED66-4875-8E00-D32EC0023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34350"/>
            <a:ext cx="11811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第二部分：长期记忆综述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3DB133F-503B-47FF-980B-D586D873C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8086725"/>
            <a:ext cx="14668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  <p:sp>
        <p:nvSpPr>
          <p:cNvPr id="5" name="parallel-routes">
            <a:extLst xmlns:a="http://schemas.openxmlformats.org/drawingml/2006/main">
              <a:ext uri="{FF2B5EF4-FFF2-40B4-BE49-F238E27FC236}">
                <a16:creationId xmlns:a16="http://schemas.microsoft.com/office/drawing/2014/main" id="{0068FCCD-17C6-4CC3-A48B-539A6FBF1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24025"/>
            <a:ext cx="134112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早期形成多条并行路线，分别关注经历、上下文和经验。</a:t>
            </a:r>
          </a:p>
        </p:txBody>
      </p:sp>
      <p:sp>
        <p:nvSpPr>
          <p:cNvPr id="6" name="route-title-0">
            <a:extLst xmlns:a="http://schemas.openxmlformats.org/drawingml/2006/main">
              <a:ext uri="{FF2B5EF4-FFF2-40B4-BE49-F238E27FC236}">
                <a16:creationId xmlns:a16="http://schemas.microsoft.com/office/drawing/2014/main" id="{96729200-E373-4BB9-A469-F4220E67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14625"/>
            <a:ext cx="3886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记录经历并反思</a:t>
            </a:r>
          </a:p>
        </p:txBody>
      </p:sp>
      <p:sp>
        <p:nvSpPr>
          <p:cNvPr id="7" name="route-input-0">
            <a:extLst xmlns:a="http://schemas.openxmlformats.org/drawingml/2006/main">
              <a:ext uri="{FF2B5EF4-FFF2-40B4-BE49-F238E27FC236}">
                <a16:creationId xmlns:a16="http://schemas.microsoft.com/office/drawing/2014/main" id="{ED29EA06-75B7-42F8-8232-F24A3DF6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4725"/>
            <a:ext cx="3886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D7E0D9"/>
            </a:solidFill>
          </a:ln>
        </p:spPr>
        <p:txBody>
          <a:bodyPr xmlns:a="http://schemas.openxmlformats.org/drawingml/2006/main" wrap="square" lIns="152400" tIns="152400" rIns="152400" bIns="152400" anchor="ctr">
            <a:noAutofit/>
          </a:bodyPr>
          <a:lstStyle xmlns:a="http://schemas.openxmlformats.org/drawingml/2006/main">
            <a:defPPr algn="ctr">
              <a:defRPr sz="217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17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经历与事件记录</a:t>
            </a:r>
          </a:p>
        </p:txBody>
      </p:sp>
      <p:sp>
        <p:nvSpPr>
          <p:cNvPr id="8" name="route-output-0">
            <a:extLst xmlns:a="http://schemas.openxmlformats.org/drawingml/2006/main">
              <a:ext uri="{FF2B5EF4-FFF2-40B4-BE49-F238E27FC236}">
                <a16:creationId xmlns:a16="http://schemas.microsoft.com/office/drawing/2014/main" id="{911F008D-54A9-49CF-A4FE-E179D5E30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19650"/>
            <a:ext cx="3886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13335">
            <a:solidFill>
              <a:srgbClr val="D7E0D9"/>
            </a:solidFill>
          </a:ln>
        </p:spPr>
        <p:txBody>
          <a:bodyPr xmlns:a="http://schemas.openxmlformats.org/drawingml/2006/main" wrap="square" lIns="152400" tIns="152400" rIns="152400" bIns="152400" anchor="ctr">
            <a:noAutofit/>
          </a:bodyPr>
          <a:lstStyle xmlns:a="http://schemas.openxmlformats.org/drawingml/2006/main">
            <a:defPPr algn="ctr">
              <a:defRPr sz="2175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175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检索与反思</a:t>
            </a:r>
          </a:p>
        </p:txBody>
      </p:sp>
      <p:sp>
        <p:nvSpPr>
          <p:cNvPr id="10" name="method-name-0">
            <a:extLst xmlns:a="http://schemas.openxmlformats.org/drawingml/2006/main">
              <a:ext uri="{FF2B5EF4-FFF2-40B4-BE49-F238E27FC236}">
                <a16:creationId xmlns:a16="http://schemas.microsoft.com/office/drawing/2014/main" id="{047E5F4E-2750-40B5-8DAA-31795E0A4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53125"/>
            <a:ext cx="38862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Generative Agents（2023）</a:t>
            </a:r>
          </a:p>
        </p:txBody>
      </p:sp>
      <p:sp>
        <p:nvSpPr>
          <p:cNvPr id="11" name="route-title-1">
            <a:extLst xmlns:a="http://schemas.openxmlformats.org/drawingml/2006/main">
              <a:ext uri="{FF2B5EF4-FFF2-40B4-BE49-F238E27FC236}">
                <a16:creationId xmlns:a16="http://schemas.microsoft.com/office/drawing/2014/main" id="{EA577843-17E1-4382-ADD8-15175DFD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714625"/>
            <a:ext cx="3886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管理工作上下文</a:t>
            </a:r>
          </a:p>
        </p:txBody>
      </p:sp>
      <p:sp>
        <p:nvSpPr>
          <p:cNvPr id="12" name="route-input-1">
            <a:extLst xmlns:a="http://schemas.openxmlformats.org/drawingml/2006/main">
              <a:ext uri="{FF2B5EF4-FFF2-40B4-BE49-F238E27FC236}">
                <a16:creationId xmlns:a16="http://schemas.microsoft.com/office/drawing/2014/main" id="{6121FAA5-5BDF-4CCF-8F06-1A8E7EC6B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514725"/>
            <a:ext cx="3886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D7E0D9"/>
            </a:solidFill>
          </a:ln>
        </p:spPr>
        <p:txBody>
          <a:bodyPr xmlns:a="http://schemas.openxmlformats.org/drawingml/2006/main" wrap="square" lIns="152400" tIns="152400" rIns="152400" bIns="152400" anchor="ctr">
            <a:noAutofit/>
          </a:bodyPr>
          <a:lstStyle xmlns:a="http://schemas.openxmlformats.org/drawingml/2006/main">
            <a:defPPr algn="ctr">
              <a:defRPr sz="217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17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当前工作上下文</a:t>
            </a:r>
          </a:p>
        </p:txBody>
      </p:sp>
      <p:sp>
        <p:nvSpPr>
          <p:cNvPr id="13" name="route-output-1">
            <a:extLst xmlns:a="http://schemas.openxmlformats.org/drawingml/2006/main">
              <a:ext uri="{FF2B5EF4-FFF2-40B4-BE49-F238E27FC236}">
                <a16:creationId xmlns:a16="http://schemas.microsoft.com/office/drawing/2014/main" id="{6B402642-54B8-4924-AED8-568596930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819650"/>
            <a:ext cx="3886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13335">
            <a:solidFill>
              <a:srgbClr val="D7E0D9"/>
            </a:solidFill>
          </a:ln>
        </p:spPr>
        <p:txBody>
          <a:bodyPr xmlns:a="http://schemas.openxmlformats.org/drawingml/2006/main" wrap="square" lIns="152400" tIns="152400" rIns="152400" bIns="152400" anchor="ctr">
            <a:noAutofit/>
          </a:bodyPr>
          <a:lstStyle xmlns:a="http://schemas.openxmlformats.org/drawingml/2006/main">
            <a:defPPr algn="ctr">
              <a:defRPr sz="2175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175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外部存储</a:t>
            </a:r>
          </a:p>
        </p:txBody>
      </p:sp>
      <p:sp>
        <p:nvSpPr>
          <p:cNvPr id="15" name="method-name-1">
            <a:extLst xmlns:a="http://schemas.openxmlformats.org/drawingml/2006/main">
              <a:ext uri="{FF2B5EF4-FFF2-40B4-BE49-F238E27FC236}">
                <a16:creationId xmlns:a16="http://schemas.microsoft.com/office/drawing/2014/main" id="{FA995D7C-75C9-4A9E-848D-2701F76AB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953125"/>
            <a:ext cx="38862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MemGPT（2023）</a:t>
            </a:r>
          </a:p>
        </p:txBody>
      </p:sp>
      <p:sp>
        <p:nvSpPr>
          <p:cNvPr id="16" name="route-title-2">
            <a:extLst xmlns:a="http://schemas.openxmlformats.org/drawingml/2006/main">
              <a:ext uri="{FF2B5EF4-FFF2-40B4-BE49-F238E27FC236}">
                <a16:creationId xmlns:a16="http://schemas.microsoft.com/office/drawing/2014/main" id="{6FAC8690-9F28-47EB-854E-65BC3AFC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714625"/>
            <a:ext cx="3886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提炼可复用经验</a:t>
            </a:r>
          </a:p>
        </p:txBody>
      </p:sp>
      <p:sp>
        <p:nvSpPr>
          <p:cNvPr id="17" name="route-input-2">
            <a:extLst xmlns:a="http://schemas.openxmlformats.org/drawingml/2006/main">
              <a:ext uri="{FF2B5EF4-FFF2-40B4-BE49-F238E27FC236}">
                <a16:creationId xmlns:a16="http://schemas.microsoft.com/office/drawing/2014/main" id="{7AF664CC-224A-4452-9555-0190E2F8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3514725"/>
            <a:ext cx="3886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D7E0D9"/>
            </a:solidFill>
          </a:ln>
        </p:spPr>
        <p:txBody>
          <a:bodyPr xmlns:a="http://schemas.openxmlformats.org/drawingml/2006/main" wrap="square" lIns="152400" tIns="152400" rIns="152400" bIns="152400" anchor="ctr">
            <a:noAutofit/>
          </a:bodyPr>
          <a:lstStyle xmlns:a="http://schemas.openxmlformats.org/drawingml/2006/main">
            <a:defPPr algn="ctr">
              <a:defRPr sz="217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17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任务经历与反馈</a:t>
            </a:r>
          </a:p>
        </p:txBody>
      </p:sp>
      <p:sp>
        <p:nvSpPr>
          <p:cNvPr id="18" name="route-output-2">
            <a:extLst xmlns:a="http://schemas.openxmlformats.org/drawingml/2006/main">
              <a:ext uri="{FF2B5EF4-FFF2-40B4-BE49-F238E27FC236}">
                <a16:creationId xmlns:a16="http://schemas.microsoft.com/office/drawing/2014/main" id="{53C932C1-2DFD-4FAB-8963-237E16E6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819650"/>
            <a:ext cx="3886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13335">
            <a:solidFill>
              <a:srgbClr val="D7E0D9"/>
            </a:solidFill>
          </a:ln>
        </p:spPr>
        <p:txBody>
          <a:bodyPr xmlns:a="http://schemas.openxmlformats.org/drawingml/2006/main" wrap="square" lIns="152400" tIns="152400" rIns="152400" bIns="152400" anchor="ctr">
            <a:noAutofit/>
          </a:bodyPr>
          <a:lstStyle xmlns:a="http://schemas.openxmlformats.org/drawingml/2006/main">
            <a:defPPr algn="ctr">
              <a:defRPr sz="2175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175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后续可用的经验</a:t>
            </a:r>
          </a:p>
        </p:txBody>
      </p:sp>
      <p:sp>
        <p:nvSpPr>
          <p:cNvPr id="20" name="method-name-2">
            <a:extLst xmlns:a="http://schemas.openxmlformats.org/drawingml/2006/main">
              <a:ext uri="{FF2B5EF4-FFF2-40B4-BE49-F238E27FC236}">
                <a16:creationId xmlns:a16="http://schemas.microsoft.com/office/drawing/2014/main" id="{2D0CAFE5-6425-49F3-BA4F-EFF4F0E59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5953125"/>
            <a:ext cx="38862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Reflexion（2023）</a:t>
            </a:r>
          </a:p>
          <a:p xmlns:a="http://schemas.openxmlformats.org/drawingml/2006/main">
            <a:pPr algn="l">
              <a:defRPr sz="19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ExpeL（2024）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7EABC4-7A5D-4BC3-AC63-08777BD92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98182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D7E0D9"/>
            </a:solidFill>
          </a:ln>
        </p:spPr>
      </p:sp>
      <p:sp>
        <p:nvSpPr>
          <p:cNvPr id="22" name="later-work">
            <a:extLst xmlns:a="http://schemas.openxmlformats.org/drawingml/2006/main">
              <a:ext uri="{FF2B5EF4-FFF2-40B4-BE49-F238E27FC236}">
                <a16:creationId xmlns:a16="http://schemas.microsoft.com/office/drawing/2014/main" id="{38D1BD43-8EFF-4C77-81B4-244D6D3B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219950"/>
            <a:ext cx="13411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后续探索：A-Mem 的关联笔记、Zep 的时序图、MemBuilder 的学习式构建。</a:t>
            </a:r>
          </a:p>
        </p:txBody>
      </p:sp>
      <p:sp>
        <p:nvSpPr>
          <p:cNvPr id="23" name="method-takeaway">
            <a:extLst xmlns:a="http://schemas.openxmlformats.org/drawingml/2006/main">
              <a:ext uri="{FF2B5EF4-FFF2-40B4-BE49-F238E27FC236}">
                <a16:creationId xmlns:a16="http://schemas.microsoft.com/office/drawing/2014/main" id="{6E26FC4F-4D27-4CD3-832F-1E6E45A76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686675"/>
            <a:ext cx="13411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这些路线可以组合；组织形式需要适配任务与检索需求。</a:t>
            </a:r>
          </a:p>
        </p:txBody>
      </p:sp>
    </p:spTree>
    <p:extLst>
      <p:ext uri="{BB962C8B-B14F-4D97-AF65-F5344CB8AC3E}">
        <p14:creationId xmlns:p14="http://schemas.microsoft.com/office/powerpoint/2010/main" val="160642362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B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B47F2A-F255-4F17-9D88-FA498EA1F04F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6743700" y="3486150"/>
            <a:ext cx="175260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087C71"/>
            </a:solidFill>
            <a:tailEnd type="arrow" w="med" len="med"/>
          </a:ln>
        </p:spPr>
      </p:cxnSp>
      <p:sp>
        <p:nvSpPr>
          <p:cNvPr id="2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4064CE7-DCC8-4A12-86D6-AF6B4474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13411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信息变化后，旧记忆怎么办？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91AE23-D56C-48E0-8AB2-DD2DFB56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906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D7E0D9"/>
            </a:solidFill>
          </a:ln>
        </p:spPr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64465E7B-83E2-49EE-A0AD-922605DDA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34350"/>
            <a:ext cx="11811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第二部分：长期记忆综述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B464E21-3FEE-4164-AC84-8C3031064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8086725"/>
            <a:ext cx="14668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  <p:sp>
        <p:nvSpPr>
          <p:cNvPr id="5" name="example-disclosure">
            <a:extLst xmlns:a="http://schemas.openxmlformats.org/drawingml/2006/main">
              <a:ext uri="{FF2B5EF4-FFF2-40B4-BE49-F238E27FC236}">
                <a16:creationId xmlns:a16="http://schemas.microsoft.com/office/drawing/2014/main" id="{8D171C3B-612D-42C5-A331-B47CDD27E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14500"/>
            <a:ext cx="13411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教学情境，非实验输出</a:t>
            </a:r>
          </a:p>
        </p:txBody>
      </p:sp>
      <p:sp>
        <p:nvSpPr>
          <p:cNvPr id="6" name="first-notice-label">
            <a:extLst xmlns:a="http://schemas.openxmlformats.org/drawingml/2006/main">
              <a:ext uri="{FF2B5EF4-FFF2-40B4-BE49-F238E27FC236}">
                <a16:creationId xmlns:a16="http://schemas.microsoft.com/office/drawing/2014/main" id="{F9C4C68D-61C6-4B23-9041-4C9E835EF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90775"/>
            <a:ext cx="5829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第一次通知</a:t>
            </a:r>
          </a:p>
        </p:txBody>
      </p:sp>
      <p:sp>
        <p:nvSpPr>
          <p:cNvPr id="7" name="revised-notice-label">
            <a:extLst xmlns:a="http://schemas.openxmlformats.org/drawingml/2006/main">
              <a:ext uri="{FF2B5EF4-FFF2-40B4-BE49-F238E27FC236}">
                <a16:creationId xmlns:a16="http://schemas.microsoft.com/office/drawing/2014/main" id="{CD400256-483D-4E1E-820B-E8AC789FA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90775"/>
            <a:ext cx="5829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后续通知</a:t>
            </a:r>
          </a:p>
        </p:txBody>
      </p:sp>
      <p:sp>
        <p:nvSpPr>
          <p:cNvPr id="8" name="old-notice">
            <a:extLst xmlns:a="http://schemas.openxmlformats.org/drawingml/2006/main">
              <a:ext uri="{FF2B5EF4-FFF2-40B4-BE49-F238E27FC236}">
                <a16:creationId xmlns:a16="http://schemas.microsoft.com/office/drawing/2014/main" id="{78B90A61-6039-4AE5-8475-828BD618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0375"/>
            <a:ext cx="58293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D7E0D9"/>
            </a:solidFill>
          </a:ln>
        </p:spPr>
        <p:txBody>
          <a:bodyPr xmlns:a="http://schemas.openxmlformats.org/drawingml/2006/main" wrap="square" lIns="152400" tIns="152400" rIns="152400" bIns="152400" anchor="ctr">
            <a:noAutofit/>
          </a:bodyPr>
          <a:lstStyle xmlns:a="http://schemas.openxmlformats.org/drawingml/2006/main">
            <a:defPPr algn="ctr">
              <a:defRPr sz="27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7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7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报告在周五提交</a:t>
            </a:r>
          </a:p>
        </p:txBody>
      </p:sp>
      <p:sp>
        <p:nvSpPr>
          <p:cNvPr id="9" name="current-notice">
            <a:extLst xmlns:a="http://schemas.openxmlformats.org/drawingml/2006/main">
              <a:ext uri="{FF2B5EF4-FFF2-40B4-BE49-F238E27FC236}">
                <a16:creationId xmlns:a16="http://schemas.microsoft.com/office/drawing/2014/main" id="{90A203AE-52C2-46E8-BBF3-F9C390C93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00375"/>
            <a:ext cx="58293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13335">
            <a:solidFill>
              <a:srgbClr val="D7E0D9"/>
            </a:solidFill>
          </a:ln>
        </p:spPr>
        <p:txBody>
          <a:bodyPr xmlns:a="http://schemas.openxmlformats.org/drawingml/2006/main" wrap="square" lIns="152400" tIns="152400" rIns="152400" bIns="152400" anchor="ctr">
            <a:noAutofit/>
          </a:bodyPr>
          <a:lstStyle xmlns:a="http://schemas.openxmlformats.org/drawingml/2006/main">
            <a:defPPr algn="ctr">
              <a:defRPr sz="277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77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77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改为下周一提交</a:t>
            </a:r>
          </a:p>
        </p:txBody>
      </p:sp>
      <p:sp>
        <p:nvSpPr>
          <p:cNvPr id="11" name="current-question">
            <a:extLst xmlns:a="http://schemas.openxmlformats.org/drawingml/2006/main">
              <a:ext uri="{FF2B5EF4-FFF2-40B4-BE49-F238E27FC236}">
                <a16:creationId xmlns:a16="http://schemas.microsoft.com/office/drawing/2014/main" id="{085D2F34-E01C-4DE4-8D42-9EC06E3FE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57700"/>
            <a:ext cx="63055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“现在什么时候交？”</a:t>
            </a:r>
          </a:p>
        </p:txBody>
      </p:sp>
      <p:sp>
        <p:nvSpPr>
          <p:cNvPr id="12" name="current-answer">
            <a:extLst xmlns:a="http://schemas.openxmlformats.org/drawingml/2006/main">
              <a:ext uri="{FF2B5EF4-FFF2-40B4-BE49-F238E27FC236}">
                <a16:creationId xmlns:a16="http://schemas.microsoft.com/office/drawing/2014/main" id="{1947252D-DD83-4872-9D65-AFB340D54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38725"/>
            <a:ext cx="63055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需要最新有效信息：下周一。</a:t>
            </a:r>
          </a:p>
        </p:txBody>
      </p:sp>
      <p:sp>
        <p:nvSpPr>
          <p:cNvPr id="13" name="historical-question">
            <a:extLst xmlns:a="http://schemas.openxmlformats.org/drawingml/2006/main">
              <a:ext uri="{FF2B5EF4-FFF2-40B4-BE49-F238E27FC236}">
                <a16:creationId xmlns:a16="http://schemas.microsoft.com/office/drawing/2014/main" id="{A051D3B9-8FDA-4E89-8439-F732EA35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457700"/>
            <a:ext cx="58293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“最初通知哪天交？”</a:t>
            </a:r>
          </a:p>
        </p:txBody>
      </p:sp>
      <p:sp>
        <p:nvSpPr>
          <p:cNvPr id="14" name="historical-answer">
            <a:extLst xmlns:a="http://schemas.openxmlformats.org/drawingml/2006/main">
              <a:ext uri="{FF2B5EF4-FFF2-40B4-BE49-F238E27FC236}">
                <a16:creationId xmlns:a16="http://schemas.microsoft.com/office/drawing/2014/main" id="{1EFF0E25-9495-4FE7-A43D-4ACA30A3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038725"/>
            <a:ext cx="58293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仍需要历史信息：周五。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E927C6-8C81-4F29-BF06-5AD4F2401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9122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D7E0D9"/>
            </a:solidFill>
          </a:ln>
        </p:spPr>
      </p:sp>
      <p:sp>
        <p:nvSpPr>
          <p:cNvPr id="16" name="update-idea-0">
            <a:extLst xmlns:a="http://schemas.openxmlformats.org/drawingml/2006/main">
              <a:ext uri="{FF2B5EF4-FFF2-40B4-BE49-F238E27FC236}">
                <a16:creationId xmlns:a16="http://schemas.microsoft.com/office/drawing/2014/main" id="{3F0CD478-FDD5-426E-8431-5F6988B1D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334125"/>
            <a:ext cx="426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保留版本，按时间检索</a:t>
            </a:r>
          </a:p>
        </p:txBody>
      </p:sp>
      <p:sp>
        <p:nvSpPr>
          <p:cNvPr id="17" name="update-method-0">
            <a:extLst xmlns:a="http://schemas.openxmlformats.org/drawingml/2006/main">
              <a:ext uri="{FF2B5EF4-FFF2-40B4-BE49-F238E27FC236}">
                <a16:creationId xmlns:a16="http://schemas.microsoft.com/office/drawing/2014/main" id="{DF814CE6-0EEB-46BA-A598-2A94FC1C3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96100"/>
            <a:ext cx="4267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Mem++</a:t>
            </a:r>
          </a:p>
        </p:txBody>
      </p:sp>
      <p:sp>
        <p:nvSpPr>
          <p:cNvPr id="18" name="update-idea-1">
            <a:extLst xmlns:a="http://schemas.openxmlformats.org/drawingml/2006/main">
              <a:ext uri="{FF2B5EF4-FFF2-40B4-BE49-F238E27FC236}">
                <a16:creationId xmlns:a16="http://schemas.microsoft.com/office/drawing/2014/main" id="{34AED373-A7F5-40C3-86E4-BC6FE73A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6334125"/>
            <a:ext cx="426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标记旧事实失效</a:t>
            </a:r>
          </a:p>
        </p:txBody>
      </p:sp>
      <p:sp>
        <p:nvSpPr>
          <p:cNvPr id="19" name="update-method-1">
            <a:extLst xmlns:a="http://schemas.openxmlformats.org/drawingml/2006/main">
              <a:ext uri="{FF2B5EF4-FFF2-40B4-BE49-F238E27FC236}">
                <a16:creationId xmlns:a16="http://schemas.microsoft.com/office/drawing/2014/main" id="{7AE3AACF-AFA0-4A3F-B332-E8A8E7DAC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6896100"/>
            <a:ext cx="4267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SodaMem</a:t>
            </a:r>
          </a:p>
        </p:txBody>
      </p:sp>
      <p:sp>
        <p:nvSpPr>
          <p:cNvPr id="20" name="update-idea-2">
            <a:extLst xmlns:a="http://schemas.openxmlformats.org/drawingml/2006/main">
              <a:ext uri="{FF2B5EF4-FFF2-40B4-BE49-F238E27FC236}">
                <a16:creationId xmlns:a16="http://schemas.microsoft.com/office/drawing/2014/main" id="{F7FB545E-67C7-486A-A56D-A893867D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6334125"/>
            <a:ext cx="426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整合与遗忘冗余记忆</a:t>
            </a:r>
          </a:p>
        </p:txBody>
      </p:sp>
      <p:sp>
        <p:nvSpPr>
          <p:cNvPr id="21" name="update-method-2">
            <a:extLst xmlns:a="http://schemas.openxmlformats.org/drawingml/2006/main">
              <a:ext uri="{FF2B5EF4-FFF2-40B4-BE49-F238E27FC236}">
                <a16:creationId xmlns:a16="http://schemas.microsoft.com/office/drawing/2014/main" id="{00FF2826-1E39-4421-BBAB-C18819C60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6896100"/>
            <a:ext cx="4267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REALM</a:t>
            </a:r>
          </a:p>
        </p:txBody>
      </p:sp>
      <p:sp>
        <p:nvSpPr>
          <p:cNvPr id="22" name="update-conclusion">
            <a:extLst xmlns:a="http://schemas.openxmlformats.org/drawingml/2006/main">
              <a:ext uri="{FF2B5EF4-FFF2-40B4-BE49-F238E27FC236}">
                <a16:creationId xmlns:a16="http://schemas.microsoft.com/office/drawing/2014/main" id="{04B513EE-DAAD-4C00-835D-7D1C9CB9D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591425"/>
            <a:ext cx="13411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更新需要保留时间和来源，并区分当前回答与历史查询。</a:t>
            </a:r>
          </a:p>
        </p:txBody>
      </p:sp>
    </p:spTree>
    <p:extLst>
      <p:ext uri="{BB962C8B-B14F-4D97-AF65-F5344CB8AC3E}">
        <p14:creationId xmlns:p14="http://schemas.microsoft.com/office/powerpoint/2010/main" val="141314223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B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C4E356-60C2-4DD5-9893-3286009790F0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9610725" y="6162675"/>
            <a:ext cx="733425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087C71"/>
            </a:solidFill>
            <a:tailEnd type="arrow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74ED0C-2F92-4F0F-8514-693B4DADC1F0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4895850" y="6162675"/>
            <a:ext cx="733425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087C71"/>
            </a:solidFill>
            <a:tailEnd type="arrow" w="med" len="med"/>
          </a:ln>
        </p:spPr>
      </p:cxnSp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ABE1BE-5216-4BA3-A9AB-72654FB80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13411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怎样检验记忆是否可靠？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B9A6E9-70C7-4644-8B3C-4AF0480B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906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D7E0D9"/>
            </a:solidFill>
          </a:ln>
        </p:spPr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97A3D68-C67C-42C8-B263-A61460E6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34350"/>
            <a:ext cx="11811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第二部分：长期记忆综述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F51C3EB-6036-4963-AA66-79A4A2D49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8086725"/>
            <a:ext cx="14668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  <p:sp>
        <p:nvSpPr>
          <p:cNvPr id="5" name="evaluation-question">
            <a:extLst xmlns:a="http://schemas.openxmlformats.org/drawingml/2006/main">
              <a:ext uri="{FF2B5EF4-FFF2-40B4-BE49-F238E27FC236}">
                <a16:creationId xmlns:a16="http://schemas.microsoft.com/office/drawing/2014/main" id="{D635658F-9303-4ED9-88D5-F2EA52CBF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52600"/>
            <a:ext cx="134112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6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6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答对一次，能说明长期可靠吗？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CB5365-9688-4FB4-87A8-28862CD7BF73}"/>
              </a:ext>
            </a:extLst>
          </p:cNvPr>
          <p:cNvGraphicFramePr/>
          <p:nvPr/>
        </p:nvGraphicFramePr>
        <p:xfrm>
          <a:off xmlns:a="http://schemas.openxmlformats.org/drawingml/2006/main" x="914400" y="2571750"/>
          <a:ext xmlns:a="http://schemas.openxmlformats.org/drawingml/2006/main" cx="13411200" cy="27432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0001250"/>
                <a:gridCol w="3409950"/>
              </a:tblGrid>
              <a:tr h="628650">
                <a:tc>
                  <a:txBody>
                    <a:bodyPr lIns="171450" tIns="171450" rIns="171450" bIns="171450">
                      <a:noAutofit/>
                    </a:bodyPr>
                    <a:lstStyle/>
                    <a:p>
                      <a:pPr algn="l"/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检查的问题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7E0D9"/>
                      </a:solidFill>
                      <a:prstDash val="solid"/>
                    </a:lnL>
                    <a:lnR w="6668">
                      <a:solidFill>
                        <a:srgbClr val="D7E0D9"/>
                      </a:solidFill>
                      <a:prstDash val="solid"/>
                    </a:lnR>
                    <a:lnT w="6668">
                      <a:solidFill>
                        <a:srgbClr val="D7E0D9"/>
                      </a:solidFill>
                      <a:prstDash val="solid"/>
                    </a:lnT>
                    <a:lnB w="6668">
                      <a:solidFill>
                        <a:srgbClr val="D7E0D9"/>
                      </a:solidFill>
                      <a:prstDash val="solid"/>
                    </a:lnB>
                    <a:solidFill>
                      <a:srgbClr val="1E2927"/>
                    </a:solidFill>
                  </a:tcPr>
                </a:tc>
                <a:tc>
                  <a:txBody>
                    <a:bodyPr lIns="171450" tIns="171450" rIns="171450" bIns="171450">
                      <a:noAutofit/>
                    </a:bodyPr>
                    <a:lstStyle/>
                    <a:p>
                      <a:pPr algn="l"/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代表基准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7E0D9"/>
                      </a:solidFill>
                      <a:prstDash val="solid"/>
                    </a:lnR>
                    <a:lnT w="6668">
                      <a:solidFill>
                        <a:srgbClr val="D7E0D9"/>
                      </a:solidFill>
                      <a:prstDash val="solid"/>
                    </a:lnT>
                    <a:lnB w="6668">
                      <a:solidFill>
                        <a:srgbClr val="D7E0D9"/>
                      </a:solidFill>
                      <a:prstDash val="solid"/>
                    </a:lnB>
                    <a:solidFill>
                      <a:srgbClr val="1E2927"/>
                    </a:solidFill>
                  </a:tcPr>
                </a:tc>
              </a:tr>
              <a:tr h="704850">
                <a:tc>
                  <a:txBody>
                    <a:bodyPr lIns="171450" tIns="171450" rIns="171450" bIns="171450"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E292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跨多次对话还能找回信息吗？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7E0D9"/>
                      </a:solidFill>
                      <a:prstDash val="solid"/>
                    </a:lnL>
                    <a:lnR w="6668">
                      <a:solidFill>
                        <a:srgbClr val="D7E0D9"/>
                      </a:solidFill>
                      <a:prstDash val="solid"/>
                    </a:lnR>
                    <a:lnB w="6668">
                      <a:solidFill>
                        <a:srgbClr val="D7E0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71450" tIns="171450" rIns="171450" bIns="171450"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E292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LoCoMo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7E0D9"/>
                      </a:solidFill>
                      <a:prstDash val="solid"/>
                    </a:lnR>
                    <a:lnB w="6668">
                      <a:solidFill>
                        <a:srgbClr val="D7E0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 lIns="171450" tIns="171450" rIns="171450" bIns="171450"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E292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信息更新后能答对，缺依据时能弃答吗？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7E0D9"/>
                      </a:solidFill>
                      <a:prstDash val="solid"/>
                    </a:lnL>
                    <a:lnR w="6668">
                      <a:solidFill>
                        <a:srgbClr val="D7E0D9"/>
                      </a:solidFill>
                      <a:prstDash val="solid"/>
                    </a:lnR>
                    <a:lnB w="6668">
                      <a:solidFill>
                        <a:srgbClr val="D7E0D9"/>
                      </a:solidFill>
                      <a:prstDash val="solid"/>
                    </a:lnB>
                    <a:solidFill>
                      <a:srgbClr val="EFF3EF"/>
                    </a:solidFill>
                  </a:tcPr>
                </a:tc>
                <a:tc>
                  <a:txBody>
                    <a:bodyPr lIns="171450" tIns="171450" rIns="171450" bIns="171450"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E292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LongMemEval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7E0D9"/>
                      </a:solidFill>
                      <a:prstDash val="solid"/>
                    </a:lnR>
                    <a:lnB w="6668">
                      <a:solidFill>
                        <a:srgbClr val="D7E0D9"/>
                      </a:solidFill>
                      <a:prstDash val="solid"/>
                    </a:lnB>
                    <a:solidFill>
                      <a:srgbClr val="EFF3EF"/>
                    </a:solidFill>
                  </a:tcPr>
                </a:tc>
              </a:tr>
              <a:tr h="704850">
                <a:tc>
                  <a:txBody>
                    <a:bodyPr lIns="171450" tIns="171450" rIns="171450" bIns="171450"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E292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错误发生在抽取、更新，还是问答？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7E0D9"/>
                      </a:solidFill>
                      <a:prstDash val="solid"/>
                    </a:lnL>
                    <a:lnR w="6668">
                      <a:solidFill>
                        <a:srgbClr val="D7E0D9"/>
                      </a:solidFill>
                      <a:prstDash val="solid"/>
                    </a:lnR>
                    <a:lnB w="6668">
                      <a:solidFill>
                        <a:srgbClr val="D7E0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71450" tIns="171450" rIns="171450" bIns="171450"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E292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HaluMem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7E0D9"/>
                      </a:solidFill>
                      <a:prstDash val="solid"/>
                    </a:lnR>
                    <a:lnB w="6668">
                      <a:solidFill>
                        <a:srgbClr val="D7E0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diagnosis-0">
            <a:extLst xmlns:a="http://schemas.openxmlformats.org/drawingml/2006/main">
              <a:ext uri="{FF2B5EF4-FFF2-40B4-BE49-F238E27FC236}">
                <a16:creationId xmlns:a16="http://schemas.microsoft.com/office/drawing/2014/main" id="{99EB13F2-4C04-486F-805F-D3FDE5D72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3981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13335">
            <a:solidFill>
              <a:srgbClr val="D7E0D9"/>
            </a:solidFill>
          </a:ln>
        </p:spPr>
        <p:txBody>
          <a:bodyPr xmlns:a="http://schemas.openxmlformats.org/drawingml/2006/main" wrap="square" lIns="152400" tIns="152400" rIns="152400" bIns="152400" anchor="ctr">
            <a:noAutofit/>
          </a:bodyPr>
          <a:lstStyle xmlns:a="http://schemas.openxmlformats.org/drawingml/2006/main">
            <a:defPPr algn="ctr">
              <a:defRPr sz="2175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175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抽取</a:t>
            </a:r>
          </a:p>
        </p:txBody>
      </p:sp>
      <p:sp>
        <p:nvSpPr>
          <p:cNvPr id="8" name="diagnosis-caption-0">
            <a:extLst xmlns:a="http://schemas.openxmlformats.org/drawingml/2006/main">
              <a:ext uri="{FF2B5EF4-FFF2-40B4-BE49-F238E27FC236}">
                <a16:creationId xmlns:a16="http://schemas.microsoft.com/office/drawing/2014/main" id="{069CBFB2-AB26-4D51-85D0-EF0C3B5B5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81775"/>
            <a:ext cx="39814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检查写入的内容</a:t>
            </a:r>
          </a:p>
        </p:txBody>
      </p:sp>
      <p:sp>
        <p:nvSpPr>
          <p:cNvPr id="9" name="diagnosis-1">
            <a:extLst xmlns:a="http://schemas.openxmlformats.org/drawingml/2006/main">
              <a:ext uri="{FF2B5EF4-FFF2-40B4-BE49-F238E27FC236}">
                <a16:creationId xmlns:a16="http://schemas.microsoft.com/office/drawing/2014/main" id="{BF124633-B3EA-4B1D-9F77-6EC1E1117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5857875"/>
            <a:ext cx="3981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13335">
            <a:solidFill>
              <a:srgbClr val="D7E0D9"/>
            </a:solidFill>
          </a:ln>
        </p:spPr>
        <p:txBody>
          <a:bodyPr xmlns:a="http://schemas.openxmlformats.org/drawingml/2006/main" wrap="square" lIns="152400" tIns="152400" rIns="152400" bIns="152400" anchor="ctr">
            <a:noAutofit/>
          </a:bodyPr>
          <a:lstStyle xmlns:a="http://schemas.openxmlformats.org/drawingml/2006/main">
            <a:defPPr algn="ctr">
              <a:defRPr sz="2175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175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更新</a:t>
            </a:r>
          </a:p>
        </p:txBody>
      </p:sp>
      <p:sp>
        <p:nvSpPr>
          <p:cNvPr id="10" name="diagnosis-caption-1">
            <a:extLst xmlns:a="http://schemas.openxmlformats.org/drawingml/2006/main">
              <a:ext uri="{FF2B5EF4-FFF2-40B4-BE49-F238E27FC236}">
                <a16:creationId xmlns:a16="http://schemas.microsoft.com/office/drawing/2014/main" id="{64D27A15-9B9C-4B4A-84BA-ED90A2CD7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6581775"/>
            <a:ext cx="39814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检查新旧信息处理</a:t>
            </a:r>
          </a:p>
        </p:txBody>
      </p:sp>
      <p:sp>
        <p:nvSpPr>
          <p:cNvPr id="11" name="diagnosis-2">
            <a:extLst xmlns:a="http://schemas.openxmlformats.org/drawingml/2006/main">
              <a:ext uri="{FF2B5EF4-FFF2-40B4-BE49-F238E27FC236}">
                <a16:creationId xmlns:a16="http://schemas.microsoft.com/office/drawing/2014/main" id="{391E3E54-118A-4E60-BB5A-14D83C9E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857875"/>
            <a:ext cx="3981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13335">
            <a:solidFill>
              <a:srgbClr val="D7E0D9"/>
            </a:solidFill>
          </a:ln>
        </p:spPr>
        <p:txBody>
          <a:bodyPr xmlns:a="http://schemas.openxmlformats.org/drawingml/2006/main" wrap="square" lIns="152400" tIns="152400" rIns="152400" bIns="152400" anchor="ctr">
            <a:noAutofit/>
          </a:bodyPr>
          <a:lstStyle xmlns:a="http://schemas.openxmlformats.org/drawingml/2006/main">
            <a:defPPr algn="ctr">
              <a:defRPr sz="2175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175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问答</a:t>
            </a:r>
          </a:p>
        </p:txBody>
      </p:sp>
      <p:sp>
        <p:nvSpPr>
          <p:cNvPr id="12" name="diagnosis-caption-2">
            <a:extLst xmlns:a="http://schemas.openxmlformats.org/drawingml/2006/main">
              <a:ext uri="{FF2B5EF4-FFF2-40B4-BE49-F238E27FC236}">
                <a16:creationId xmlns:a16="http://schemas.microsoft.com/office/drawing/2014/main" id="{FE7DF787-AB62-4651-83D7-AC9ABEB6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581775"/>
            <a:ext cx="39814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检查最终使用方式</a:t>
            </a:r>
          </a:p>
        </p:txBody>
      </p:sp>
      <p:sp>
        <p:nvSpPr>
          <p:cNvPr id="15" name="comparison-controls">
            <a:extLst xmlns:a="http://schemas.openxmlformats.org/drawingml/2006/main">
              <a:ext uri="{FF2B5EF4-FFF2-40B4-BE49-F238E27FC236}">
                <a16:creationId xmlns:a16="http://schemas.microsoft.com/office/drawing/2014/main" id="{22A32D7C-0601-476C-B8AD-1BF937254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229475"/>
            <a:ext cx="1341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比较方法还需对齐模型、输入证据、检索预算与评分方式。</a:t>
            </a:r>
          </a:p>
        </p:txBody>
      </p:sp>
      <p:sp>
        <p:nvSpPr>
          <p:cNvPr id="16" name="evaluation-challenge">
            <a:extLst xmlns:a="http://schemas.openxmlformats.org/drawingml/2006/main">
              <a:ext uri="{FF2B5EF4-FFF2-40B4-BE49-F238E27FC236}">
                <a16:creationId xmlns:a16="http://schemas.microsoft.com/office/drawing/2014/main" id="{E8CB966F-9837-423C-9D90-EACDF343C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667625"/>
            <a:ext cx="13411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当前挑战：持续更新中的错误与代价，仍需要更可比较的评测。</a:t>
            </a:r>
          </a:p>
        </p:txBody>
      </p:sp>
    </p:spTree>
    <p:extLst>
      <p:ext uri="{BB962C8B-B14F-4D97-AF65-F5344CB8AC3E}">
        <p14:creationId xmlns:p14="http://schemas.microsoft.com/office/powerpoint/2010/main" val="11547316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B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8BC3B1A-45B4-4C33-BD03-990BB0408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13411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这次综述，我们得到三个认识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0FE981-028D-4D93-AFAA-DF85ED25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906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D7E0D9"/>
            </a:solidFill>
          </a:ln>
        </p:spPr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9CC96E6C-A7A2-42AA-95F2-3AE85F7B5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34350"/>
            <a:ext cx="11811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第二部分：长期记忆综述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9EDBEDA-C7C3-4689-8FD3-4F3A29A63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8086725"/>
            <a:ext cx="14668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  <p:sp>
        <p:nvSpPr>
          <p:cNvPr id="5" name="synthesis-topic-0">
            <a:extLst xmlns:a="http://schemas.openxmlformats.org/drawingml/2006/main">
              <a:ext uri="{FF2B5EF4-FFF2-40B4-BE49-F238E27FC236}">
                <a16:creationId xmlns:a16="http://schemas.microsoft.com/office/drawing/2014/main" id="{C37D0755-C3F1-4AE0-96B3-FF3D158F0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81225"/>
            <a:ext cx="2266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组织</a:t>
            </a:r>
          </a:p>
        </p:txBody>
      </p:sp>
      <p:sp>
        <p:nvSpPr>
          <p:cNvPr id="6" name="synthesis-body-0">
            <a:extLst xmlns:a="http://schemas.openxmlformats.org/drawingml/2006/main">
              <a:ext uri="{FF2B5EF4-FFF2-40B4-BE49-F238E27FC236}">
                <a16:creationId xmlns:a16="http://schemas.microsoft.com/office/drawing/2014/main" id="{B0034AA0-D4EB-4B87-8845-AC18AEAE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09800"/>
            <a:ext cx="10591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不同表示解决不同问题，</a:t>
            </a:r>
          </a:p>
          <a:p xmlns:a="http://schemas.openxmlformats.org/drawingml/2006/main">
            <a:pPr algn="l">
              <a:defRPr sz="247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不能只凭结构复杂度判断效果。</a:t>
            </a:r>
          </a:p>
        </p:txBody>
      </p:sp>
      <p:sp>
        <p:nvSpPr>
          <p:cNvPr id="7" name="synthesis-topic-1">
            <a:extLst xmlns:a="http://schemas.openxmlformats.org/drawingml/2006/main">
              <a:ext uri="{FF2B5EF4-FFF2-40B4-BE49-F238E27FC236}">
                <a16:creationId xmlns:a16="http://schemas.microsoft.com/office/drawing/2014/main" id="{EAE2131B-39F7-443D-9D6D-D20CA1497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43300"/>
            <a:ext cx="2266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更新</a:t>
            </a:r>
          </a:p>
        </p:txBody>
      </p:sp>
      <p:sp>
        <p:nvSpPr>
          <p:cNvPr id="8" name="synthesis-body-1">
            <a:extLst xmlns:a="http://schemas.openxmlformats.org/drawingml/2006/main">
              <a:ext uri="{FF2B5EF4-FFF2-40B4-BE49-F238E27FC236}">
                <a16:creationId xmlns:a16="http://schemas.microsoft.com/office/drawing/2014/main" id="{70BCA1F3-5029-4762-B426-472BA27EA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571875"/>
            <a:ext cx="10591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需要同时处理当前事实、历史版本与信息来源。</a:t>
            </a:r>
          </a:p>
        </p:txBody>
      </p:sp>
      <p:sp>
        <p:nvSpPr>
          <p:cNvPr id="9" name="synthesis-topic-2">
            <a:extLst xmlns:a="http://schemas.openxmlformats.org/drawingml/2006/main">
              <a:ext uri="{FF2B5EF4-FFF2-40B4-BE49-F238E27FC236}">
                <a16:creationId xmlns:a16="http://schemas.microsoft.com/office/drawing/2014/main" id="{F6F62EF6-EDDD-427E-9AA9-F94B0A785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05375"/>
            <a:ext cx="2266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评测</a:t>
            </a:r>
          </a:p>
        </p:txBody>
      </p:sp>
      <p:sp>
        <p:nvSpPr>
          <p:cNvPr id="10" name="synthesis-body-2">
            <a:extLst xmlns:a="http://schemas.openxmlformats.org/drawingml/2006/main">
              <a:ext uri="{FF2B5EF4-FFF2-40B4-BE49-F238E27FC236}">
                <a16:creationId xmlns:a16="http://schemas.microsoft.com/office/drawing/2014/main" id="{B35E87E6-8F5F-4AE4-B1E0-463551B2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33950"/>
            <a:ext cx="10591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应结合任务表现、更新正确性、可靠性与成本。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ABED4A-DF77-4E24-B284-E28D20804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341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D7E0D9"/>
            </a:solidFill>
          </a:ln>
        </p:spPr>
      </p:sp>
      <p:sp>
        <p:nvSpPr>
          <p:cNvPr id="12" name="writing-lesson">
            <a:extLst xmlns:a="http://schemas.openxmlformats.org/drawingml/2006/main">
              <a:ext uri="{FF2B5EF4-FFF2-40B4-BE49-F238E27FC236}">
                <a16:creationId xmlns:a16="http://schemas.microsoft.com/office/drawing/2014/main" id="{5C112E1A-7987-4B82-805F-048EE410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10375"/>
            <a:ext cx="13411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写作上的收获：区分论文报告的结果与本组综合，</a:t>
            </a:r>
          </a:p>
          <a:p xmlns:a="http://schemas.openxmlformats.org/drawingml/2006/main">
            <a:pPr algn="l">
              <a:defRPr sz="217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并让每个重要判断能回到证据。</a:t>
            </a:r>
          </a:p>
        </p:txBody>
      </p:sp>
      <p:sp>
        <p:nvSpPr>
          <p:cNvPr id="13" name="limits">
            <a:extLst xmlns:a="http://schemas.openxmlformats.org/drawingml/2006/main">
              <a:ext uri="{FF2B5EF4-FFF2-40B4-BE49-F238E27FC236}">
                <a16:creationId xmlns:a16="http://schemas.microsoft.com/office/drawing/2014/main" id="{75366A62-17A6-4DC0-A900-26693AD7F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715250"/>
            <a:ext cx="134112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局限：部分结论依赖单一设置，近期预印本较多，人工核验尚待完成。</a:t>
            </a:r>
          </a:p>
        </p:txBody>
      </p:sp>
    </p:spTree>
    <p:extLst>
      <p:ext uri="{BB962C8B-B14F-4D97-AF65-F5344CB8AC3E}">
        <p14:creationId xmlns:p14="http://schemas.microsoft.com/office/powerpoint/2010/main" val="545738080"/>
      </p:ext>
    </p:extLst>
  </p:cSld>
</p:sld>
</file>

<file path=ppt/slides/slide10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AFB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25E4767-644D-40E7-904B-C63AD64EE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13411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小规模评估与失败案例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90513B-A147-4F92-B6EB-CED32827C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906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D7E0D9"/>
            </a:solidFill>
          </a:ln>
        </p:spPr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7CB0F95-4497-4399-B7B4-55E068FD0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34350"/>
            <a:ext cx="11811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补充材料，不计入 8 分钟主讲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9091F04-B013-4A9A-8381-4ADAA468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8086725"/>
            <a:ext cx="14668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备份 1</a:t>
            </a:r>
          </a:p>
        </p:txBody>
      </p:sp>
      <p:sp>
        <p:nvSpPr>
          <p:cNvPr id="5" name="evaluation-scope">
            <a:extLst xmlns:a="http://schemas.openxmlformats.org/drawingml/2006/main">
              <a:ext uri="{FF2B5EF4-FFF2-40B4-BE49-F238E27FC236}">
                <a16:creationId xmlns:a16="http://schemas.microsoft.com/office/drawing/2014/main" id="{0E7E117C-285A-4DAE-80A4-1FA2FB41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52600"/>
            <a:ext cx="13411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12 个任务，覆盖会话恢复、失效记忆、不确定性保留与跨运行任务。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CF37F4-017A-481F-A2CD-1FA64CFE9765}"/>
              </a:ext>
            </a:extLst>
          </p:cNvPr>
          <p:cNvGraphicFramePr/>
          <p:nvPr/>
        </p:nvGraphicFramePr>
        <p:xfrm>
          <a:off xmlns:a="http://schemas.openxmlformats.org/drawingml/2006/main" x="914400" y="2790825"/>
          <a:ext xmlns:a="http://schemas.openxmlformats.org/drawingml/2006/main" cx="8477250" cy="303847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4000500"/>
                <a:gridCol w="1619250"/>
                <a:gridCol w="1428750"/>
                <a:gridCol w="1428750"/>
              </a:tblGrid>
              <a:tr h="666750">
                <a:tc>
                  <a:txBody>
                    <a:bodyPr lIns="171450" tIns="171450" rIns="171450" bIns="171450">
                      <a:noAutofit/>
                    </a:bodyPr>
                    <a:lstStyle/>
                    <a:p>
                      <a:pPr algn="l"/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配置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7E0D9"/>
                      </a:solidFill>
                      <a:prstDash val="solid"/>
                    </a:lnL>
                    <a:lnR w="6668">
                      <a:solidFill>
                        <a:srgbClr val="D7E0D9"/>
                      </a:solidFill>
                      <a:prstDash val="solid"/>
                    </a:lnR>
                    <a:lnT w="6668">
                      <a:solidFill>
                        <a:srgbClr val="D7E0D9"/>
                      </a:solidFill>
                      <a:prstDash val="solid"/>
                    </a:lnT>
                    <a:lnB w="6668">
                      <a:solidFill>
                        <a:srgbClr val="D7E0D9"/>
                      </a:solidFill>
                      <a:prstDash val="solid"/>
                    </a:lnB>
                    <a:solidFill>
                      <a:srgbClr val="1E2927"/>
                    </a:solidFill>
                  </a:tcPr>
                </a:tc>
                <a:tc>
                  <a:txBody>
                    <a:bodyPr lIns="171450" tIns="171450" rIns="171450" bIns="171450">
                      <a:noAutofit/>
                    </a:bodyPr>
                    <a:lstStyle/>
                    <a:p>
                      <a:pPr algn="ctr"/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当前成功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7E0D9"/>
                      </a:solidFill>
                      <a:prstDash val="solid"/>
                    </a:lnR>
                    <a:lnT w="6668">
                      <a:solidFill>
                        <a:srgbClr val="D7E0D9"/>
                      </a:solidFill>
                      <a:prstDash val="solid"/>
                    </a:lnT>
                    <a:lnB w="6668">
                      <a:solidFill>
                        <a:srgbClr val="D7E0D9"/>
                      </a:solidFill>
                      <a:prstDash val="solid"/>
                    </a:lnB>
                    <a:solidFill>
                      <a:srgbClr val="1E2927"/>
                    </a:solidFill>
                  </a:tcPr>
                </a:tc>
                <a:tc>
                  <a:txBody>
                    <a:bodyPr lIns="171450" tIns="171450" rIns="171450" bIns="171450">
                      <a:noAutofit/>
                    </a:bodyPr>
                    <a:lstStyle/>
                    <a:p>
                      <a:pPr algn="ctr"/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失败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7E0D9"/>
                      </a:solidFill>
                      <a:prstDash val="solid"/>
                    </a:lnR>
                    <a:lnT w="6668">
                      <a:solidFill>
                        <a:srgbClr val="D7E0D9"/>
                      </a:solidFill>
                      <a:prstDash val="solid"/>
                    </a:lnT>
                    <a:lnB w="6668">
                      <a:solidFill>
                        <a:srgbClr val="D7E0D9"/>
                      </a:solidFill>
                      <a:prstDash val="solid"/>
                    </a:lnB>
                    <a:solidFill>
                      <a:srgbClr val="1E2927"/>
                    </a:solidFill>
                  </a:tcPr>
                </a:tc>
                <a:tc>
                  <a:txBody>
                    <a:bodyPr lIns="171450" tIns="171450" rIns="171450" bIns="171450">
                      <a:noAutofit/>
                    </a:bodyPr>
                    <a:lstStyle/>
                    <a:p>
                      <a:pPr algn="ctr"/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待核验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7E0D9"/>
                      </a:solidFill>
                      <a:prstDash val="solid"/>
                    </a:lnR>
                    <a:lnT w="6668">
                      <a:solidFill>
                        <a:srgbClr val="D7E0D9"/>
                      </a:solidFill>
                      <a:prstDash val="solid"/>
                    </a:lnT>
                    <a:lnB w="6668">
                      <a:solidFill>
                        <a:srgbClr val="D7E0D9"/>
                      </a:solidFill>
                      <a:prstDash val="solid"/>
                    </a:lnB>
                    <a:solidFill>
                      <a:srgbClr val="1E2927"/>
                    </a:solidFill>
                  </a:tcPr>
                </a:tc>
              </a:tr>
              <a:tr h="790575">
                <a:tc>
                  <a:txBody>
                    <a:bodyPr lIns="171450" tIns="171450" rIns="171450" bIns="171450"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E292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无记忆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7E0D9"/>
                      </a:solidFill>
                      <a:prstDash val="solid"/>
                    </a:lnL>
                    <a:lnR w="6668">
                      <a:solidFill>
                        <a:srgbClr val="D7E0D9"/>
                      </a:solidFill>
                      <a:prstDash val="solid"/>
                    </a:lnR>
                    <a:lnB w="6668">
                      <a:solidFill>
                        <a:srgbClr val="D7E0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71450" tIns="171450" rIns="171450" bIns="171450">
                      <a:noAutofit/>
                    </a:bodyPr>
                    <a:lstStyle/>
                    <a:p>
                      <a:pPr algn="ctr"/>
                      <a:r>
                        <a:rPr sz="2175" b="0">
                          <a:solidFill>
                            <a:srgbClr val="1E292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7E0D9"/>
                      </a:solidFill>
                      <a:prstDash val="solid"/>
                    </a:lnR>
                    <a:lnB w="6668">
                      <a:solidFill>
                        <a:srgbClr val="D7E0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71450" tIns="171450" rIns="171450" bIns="171450">
                      <a:noAutofit/>
                    </a:bodyPr>
                    <a:lstStyle/>
                    <a:p>
                      <a:pPr algn="ctr"/>
                      <a:r>
                        <a:rPr sz="2175" b="0">
                          <a:solidFill>
                            <a:srgbClr val="1E292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7E0D9"/>
                      </a:solidFill>
                      <a:prstDash val="solid"/>
                    </a:lnR>
                    <a:lnB w="6668">
                      <a:solidFill>
                        <a:srgbClr val="D7E0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71450" tIns="171450" rIns="171450" bIns="171450">
                      <a:noAutofit/>
                    </a:bodyPr>
                    <a:lstStyle/>
                    <a:p>
                      <a:pPr algn="ctr"/>
                      <a:r>
                        <a:rPr sz="2175" b="0">
                          <a:solidFill>
                            <a:srgbClr val="1E292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7E0D9"/>
                      </a:solidFill>
                      <a:prstDash val="solid"/>
                    </a:lnR>
                    <a:lnB w="6668">
                      <a:solidFill>
                        <a:srgbClr val="D7E0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0575">
                <a:tc>
                  <a:txBody>
                    <a:bodyPr lIns="171450" tIns="171450" rIns="171450" bIns="171450"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E292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直接上下文注入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7E0D9"/>
                      </a:solidFill>
                      <a:prstDash val="solid"/>
                    </a:lnL>
                    <a:lnR w="6668">
                      <a:solidFill>
                        <a:srgbClr val="D7E0D9"/>
                      </a:solidFill>
                      <a:prstDash val="solid"/>
                    </a:lnR>
                    <a:lnB w="6668">
                      <a:solidFill>
                        <a:srgbClr val="D7E0D9"/>
                      </a:solidFill>
                      <a:prstDash val="solid"/>
                    </a:lnB>
                    <a:solidFill>
                      <a:srgbClr val="EFF3EF"/>
                    </a:solidFill>
                  </a:tcPr>
                </a:tc>
                <a:tc>
                  <a:txBody>
                    <a:bodyPr lIns="171450" tIns="171450" rIns="171450" bIns="171450">
                      <a:noAutofit/>
                    </a:bodyPr>
                    <a:lstStyle/>
                    <a:p>
                      <a:pPr algn="ctr"/>
                      <a:r>
                        <a:rPr sz="2175" b="0">
                          <a:solidFill>
                            <a:srgbClr val="1E292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7E0D9"/>
                      </a:solidFill>
                      <a:prstDash val="solid"/>
                    </a:lnR>
                    <a:lnB w="6668">
                      <a:solidFill>
                        <a:srgbClr val="D7E0D9"/>
                      </a:solidFill>
                      <a:prstDash val="solid"/>
                    </a:lnB>
                    <a:solidFill>
                      <a:srgbClr val="EFF3EF"/>
                    </a:solidFill>
                  </a:tcPr>
                </a:tc>
                <a:tc>
                  <a:txBody>
                    <a:bodyPr lIns="171450" tIns="171450" rIns="171450" bIns="171450">
                      <a:noAutofit/>
                    </a:bodyPr>
                    <a:lstStyle/>
                    <a:p>
                      <a:pPr algn="ctr"/>
                      <a:r>
                        <a:rPr sz="2175" b="0">
                          <a:solidFill>
                            <a:srgbClr val="1E292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7E0D9"/>
                      </a:solidFill>
                      <a:prstDash val="solid"/>
                    </a:lnR>
                    <a:lnB w="6668">
                      <a:solidFill>
                        <a:srgbClr val="D7E0D9"/>
                      </a:solidFill>
                      <a:prstDash val="solid"/>
                    </a:lnB>
                    <a:solidFill>
                      <a:srgbClr val="EFF3EF"/>
                    </a:solidFill>
                  </a:tcPr>
                </a:tc>
                <a:tc>
                  <a:txBody>
                    <a:bodyPr lIns="171450" tIns="171450" rIns="171450" bIns="171450">
                      <a:noAutofit/>
                    </a:bodyPr>
                    <a:lstStyle/>
                    <a:p>
                      <a:pPr algn="ctr"/>
                      <a:r>
                        <a:rPr sz="2175" b="0">
                          <a:solidFill>
                            <a:srgbClr val="1E292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7E0D9"/>
                      </a:solidFill>
                      <a:prstDash val="solid"/>
                    </a:lnR>
                    <a:lnB w="6668">
                      <a:solidFill>
                        <a:srgbClr val="D7E0D9"/>
                      </a:solidFill>
                      <a:prstDash val="solid"/>
                    </a:lnB>
                    <a:solidFill>
                      <a:srgbClr val="EFF3EF"/>
                    </a:solidFill>
                  </a:tcPr>
                </a:tc>
              </a:tr>
              <a:tr h="790575">
                <a:tc>
                  <a:txBody>
                    <a:bodyPr lIns="171450" tIns="171450" rIns="171450" bIns="171450"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E292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结构化持久记忆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7E0D9"/>
                      </a:solidFill>
                      <a:prstDash val="solid"/>
                    </a:lnL>
                    <a:lnR w="6668">
                      <a:solidFill>
                        <a:srgbClr val="D7E0D9"/>
                      </a:solidFill>
                      <a:prstDash val="solid"/>
                    </a:lnR>
                    <a:lnB w="6668">
                      <a:solidFill>
                        <a:srgbClr val="D7E0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71450" tIns="171450" rIns="171450" bIns="171450">
                      <a:noAutofit/>
                    </a:bodyPr>
                    <a:lstStyle/>
                    <a:p>
                      <a:pPr algn="ctr"/>
                      <a:r>
                        <a:rPr sz="2175" b="0">
                          <a:solidFill>
                            <a:srgbClr val="1E292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7E0D9"/>
                      </a:solidFill>
                      <a:prstDash val="solid"/>
                    </a:lnR>
                    <a:lnB w="6668">
                      <a:solidFill>
                        <a:srgbClr val="D7E0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71450" tIns="171450" rIns="171450" bIns="171450">
                      <a:noAutofit/>
                    </a:bodyPr>
                    <a:lstStyle/>
                    <a:p>
                      <a:pPr algn="ctr"/>
                      <a:r>
                        <a:rPr sz="2175" b="0">
                          <a:solidFill>
                            <a:srgbClr val="1E292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7E0D9"/>
                      </a:solidFill>
                      <a:prstDash val="solid"/>
                    </a:lnR>
                    <a:lnB w="6668">
                      <a:solidFill>
                        <a:srgbClr val="D7E0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71450" tIns="171450" rIns="171450" bIns="171450">
                      <a:noAutofit/>
                    </a:bodyPr>
                    <a:lstStyle/>
                    <a:p>
                      <a:pPr algn="ctr"/>
                      <a:r>
                        <a:rPr sz="2175" b="0">
                          <a:solidFill>
                            <a:srgbClr val="1E292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7E0D9"/>
                      </a:solidFill>
                      <a:prstDash val="solid"/>
                    </a:lnR>
                    <a:lnB w="6668">
                      <a:solidFill>
                        <a:srgbClr val="D7E0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bserved-capability">
            <a:extLst xmlns:a="http://schemas.openxmlformats.org/drawingml/2006/main">
              <a:ext uri="{FF2B5EF4-FFF2-40B4-BE49-F238E27FC236}">
                <a16:creationId xmlns:a16="http://schemas.microsoft.com/office/drawing/2014/main" id="{51A83DEB-CFF4-461D-A837-2D16C06F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876550"/>
            <a:ext cx="40576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087C71"/>
                </a:solidFill>
                <a:latin typeface="Hiragino Sans GB"/>
                <a:ea typeface="Hiragino Sans GB"/>
                <a:cs typeface="Hiragino Sans GB"/>
              </a:rPr>
              <a:t>已展示：跨运行状态恢复。</a:t>
            </a:r>
          </a:p>
        </p:txBody>
      </p:sp>
      <p:sp>
        <p:nvSpPr>
          <p:cNvPr id="8" name="observed-failure">
            <a:extLst xmlns:a="http://schemas.openxmlformats.org/drawingml/2006/main">
              <a:ext uri="{FF2B5EF4-FFF2-40B4-BE49-F238E27FC236}">
                <a16:creationId xmlns:a16="http://schemas.microsoft.com/office/drawing/2014/main" id="{0568D7AE-8987-4204-BE3D-14668F8E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4457700"/>
            <a:ext cx="4057650" cy="1323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B34F3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B34F3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B34F3D"/>
                </a:solidFill>
                <a:latin typeface="Hiragino Sans GB"/>
                <a:ea typeface="Hiragino Sans GB"/>
                <a:cs typeface="Hiragino Sans GB"/>
              </a:rPr>
              <a:t>仍有失败：</a:t>
            </a:r>
          </a:p>
          <a:p xmlns:a="http://schemas.openxmlformats.org/drawingml/2006/main">
            <a:pPr algn="l">
              <a:defRPr sz="2250" b="0">
                <a:solidFill>
                  <a:srgbClr val="B34F3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B34F3D"/>
                </a:solidFill>
                <a:latin typeface="Hiragino Sans GB"/>
                <a:ea typeface="Hiragino Sans GB"/>
                <a:cs typeface="Hiragino Sans GB"/>
              </a:rPr>
              <a:t>任务动作遗漏、过度确定。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840CC6-70C3-46A5-9DB6-B7351125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341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D7E0D9"/>
            </a:solidFill>
          </a:ln>
        </p:spPr>
      </p:sp>
      <p:sp>
        <p:nvSpPr>
          <p:cNvPr id="10" name="no-superiority">
            <a:extLst xmlns:a="http://schemas.openxmlformats.org/drawingml/2006/main">
              <a:ext uri="{FF2B5EF4-FFF2-40B4-BE49-F238E27FC236}">
                <a16:creationId xmlns:a16="http://schemas.microsoft.com/office/drawing/2014/main" id="{5498DB7D-F5CE-4E45-872E-C148D2520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96100"/>
            <a:ext cx="134112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本实验未显示结构化记忆优于直接上下文注入。</a:t>
            </a:r>
          </a:p>
        </p:txBody>
      </p:sp>
      <p:sp>
        <p:nvSpPr>
          <p:cNvPr id="11" name="score-limit">
            <a:extLst xmlns:a="http://schemas.openxmlformats.org/drawingml/2006/main">
              <a:ext uri="{FF2B5EF4-FFF2-40B4-BE49-F238E27FC236}">
                <a16:creationId xmlns:a16="http://schemas.microsoft.com/office/drawing/2014/main" id="{D7010DE4-77B5-40A3-9101-78223B58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553325"/>
            <a:ext cx="1341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语义判分仍待人工复核；小样本只用于展示能力与失败模式。</a:t>
            </a:r>
          </a:p>
        </p:txBody>
      </p:sp>
    </p:spTree>
    <p:extLst>
      <p:ext uri="{BB962C8B-B14F-4D97-AF65-F5344CB8AC3E}">
        <p14:creationId xmlns:p14="http://schemas.microsoft.com/office/powerpoint/2010/main" val="297196523"/>
      </p:ext>
    </p:extLst>
  </p:cSld>
</p:sld>
</file>

<file path=ppt/slides/slide11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AFB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82FB294-47C1-4824-BE6C-0BE752E32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13411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真实核验案例：摘录存在，转述仍会出错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354638-5123-4BCF-9529-04CC39400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906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D7E0D9"/>
            </a:solidFill>
          </a:ln>
        </p:spPr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EB4EFBF-2D8D-470C-9714-ACBE69118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34350"/>
            <a:ext cx="11811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补充材料，不计入 8 分钟主讲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59B41EB-98FE-4794-A797-DCDE49AA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8086725"/>
            <a:ext cx="14668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备份 2</a:t>
            </a:r>
          </a:p>
        </p:txBody>
      </p:sp>
      <p:sp>
        <p:nvSpPr>
          <p:cNvPr id="5" name="source-label">
            <a:extLst xmlns:a="http://schemas.openxmlformats.org/drawingml/2006/main">
              <a:ext uri="{FF2B5EF4-FFF2-40B4-BE49-F238E27FC236}">
                <a16:creationId xmlns:a16="http://schemas.microsoft.com/office/drawing/2014/main" id="{D4169038-EBF3-4162-8C16-61906CF1B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19275"/>
            <a:ext cx="134112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论文原文中的防御效用代价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FE3C6E-92B9-461A-95AA-A3CC5442AE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81b154b52c47ac"/>
          <a:stretch xmlns:a="http://schemas.openxmlformats.org/drawingml/2006/main"/>
        </p:blipFill>
        <p:spPr>
          <a:xfrm xmlns:a="http://schemas.openxmlformats.org/drawingml/2006/main">
            <a:off x="914400" y="2724536"/>
            <a:ext cx="7162800" cy="2513829"/>
          </a:xfrm>
          <a:prstGeom xmlns:a="http://schemas.openxmlformats.org/drawingml/2006/main" prst="rect">
            <a:avLst/>
          </a:prstGeom>
        </p:spPr>
      </p:pic>
      <p:sp>
        <p:nvSpPr>
          <p:cNvPr id="7" name="source-caption">
            <a:extLst xmlns:a="http://schemas.openxmlformats.org/drawingml/2006/main">
              <a:ext uri="{FF2B5EF4-FFF2-40B4-BE49-F238E27FC236}">
                <a16:creationId xmlns:a16="http://schemas.microsoft.com/office/drawing/2014/main" id="{A68C660E-7C36-4341-80FA-1416AFB23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29250"/>
            <a:ext cx="716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arXiv:2609.22818，PDF 第 8 页，Table 3</a:t>
            </a:r>
          </a:p>
        </p:txBody>
      </p:sp>
      <p:sp>
        <p:nvSpPr>
          <p:cNvPr id="8" name="statistic">
            <a:extLst xmlns:a="http://schemas.openxmlformats.org/drawingml/2006/main">
              <a:ext uri="{FF2B5EF4-FFF2-40B4-BE49-F238E27FC236}">
                <a16:creationId xmlns:a16="http://schemas.microsoft.com/office/drawing/2014/main" id="{00BC3BA2-B6A0-4954-802A-2ED5F043E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162675"/>
            <a:ext cx="716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B34F3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B34F3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25" b="1">
                <a:solidFill>
                  <a:srgbClr val="B34F3D"/>
                </a:solidFill>
                <a:latin typeface="Hiragino Sans GB"/>
                <a:ea typeface="Hiragino Sans GB"/>
                <a:cs typeface="Hiragino Sans GB"/>
              </a:rPr>
              <a:t>−4.4 pp   [−9.0, −0.05]</a:t>
            </a:r>
          </a:p>
        </p:txBody>
      </p:sp>
      <p:sp>
        <p:nvSpPr>
          <p:cNvPr id="9" name="p-value">
            <a:extLst xmlns:a="http://schemas.openxmlformats.org/drawingml/2006/main">
              <a:ext uri="{FF2B5EF4-FFF2-40B4-BE49-F238E27FC236}">
                <a16:creationId xmlns:a16="http://schemas.microsoft.com/office/drawing/2014/main" id="{3BC44919-C4F3-4E3F-9599-959C7A84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029450"/>
            <a:ext cx="716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95% bootstrap 区间；McNemar p = 0.064</a:t>
            </a:r>
          </a:p>
        </p:txBody>
      </p:sp>
      <p:sp>
        <p:nvSpPr>
          <p:cNvPr id="10" name="review-discovery">
            <a:extLst xmlns:a="http://schemas.openxmlformats.org/drawingml/2006/main">
              <a:ext uri="{FF2B5EF4-FFF2-40B4-BE49-F238E27FC236}">
                <a16:creationId xmlns:a16="http://schemas.microsoft.com/office/drawing/2014/main" id="{2365734E-B07D-4A3D-8FF1-B1CF1B1B5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724150"/>
            <a:ext cx="5514975" cy="1152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B34F3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B34F3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B34F3D"/>
                </a:solidFill>
                <a:latin typeface="Hiragino Sans GB"/>
                <a:ea typeface="Hiragino Sans GB"/>
                <a:cs typeface="Hiragino Sans GB"/>
              </a:rPr>
              <a:t>后续回查发现：</a:t>
            </a:r>
          </a:p>
          <a:p xmlns:a="http://schemas.openxmlformats.org/drawingml/2006/main">
            <a:pPr algn="l">
              <a:defRPr sz="2475" b="1">
                <a:solidFill>
                  <a:srgbClr val="B34F3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B34F3D"/>
                </a:solidFill>
                <a:latin typeface="Hiragino Sans GB"/>
                <a:ea typeface="Hiragino Sans GB"/>
                <a:cs typeface="Hiragino Sans GB"/>
              </a:rPr>
              <a:t>统计区间负号曾被误转述。</a:t>
            </a:r>
          </a:p>
        </p:txBody>
      </p:sp>
      <p:sp>
        <p:nvSpPr>
          <p:cNvPr id="11" name="why-semantic">
            <a:extLst xmlns:a="http://schemas.openxmlformats.org/drawingml/2006/main">
              <a:ext uri="{FF2B5EF4-FFF2-40B4-BE49-F238E27FC236}">
                <a16:creationId xmlns:a16="http://schemas.microsoft.com/office/drawing/2014/main" id="{5EB63300-9056-41AB-82BD-F9D02B4ED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457700"/>
            <a:ext cx="5514975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原文匹配检查摘录。</a:t>
            </a:r>
          </a:p>
          <a:p xmlns:a="http://schemas.openxmlformats.org/drawingml/2006/main">
            <a:pPr algn="l">
              <a:defRPr sz="23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语义核验检查数值、条件</a:t>
            </a:r>
          </a:p>
          <a:p xmlns:a="http://schemas.openxmlformats.org/drawingml/2006/main">
            <a:pPr algn="l">
              <a:defRPr sz="23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和统计解释是否准确。</a:t>
            </a:r>
          </a:p>
        </p:txBody>
      </p:sp>
      <p:sp>
        <p:nvSpPr>
          <p:cNvPr id="12" name="conditional-interpretation">
            <a:extLst xmlns:a="http://schemas.openxmlformats.org/drawingml/2006/main">
              <a:ext uri="{FF2B5EF4-FFF2-40B4-BE49-F238E27FC236}">
                <a16:creationId xmlns:a16="http://schemas.microsoft.com/office/drawing/2014/main" id="{F82DF086-ADDB-490E-B87D-D382FD56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638925"/>
            <a:ext cx="551497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区间上界接近零，且两种统计方法</a:t>
            </a:r>
          </a:p>
          <a:p xmlns:a="http://schemas.openxmlformats.org/drawingml/2006/main">
            <a:pPr algn="l">
              <a:defRPr sz="202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的判断不同，应保留作者的谨慎解释。</a:t>
            </a:r>
          </a:p>
        </p:txBody>
      </p:sp>
    </p:spTree>
    <p:extLst>
      <p:ext uri="{BB962C8B-B14F-4D97-AF65-F5344CB8AC3E}">
        <p14:creationId xmlns:p14="http://schemas.microsoft.com/office/powerpoint/2010/main" val="1339860989"/>
      </p:ext>
    </p:extLst>
  </p:cSld>
</p:sld>
</file>

<file path=ppt/slides/slide12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AFB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4FD9A58-A6CE-493C-AF4A-DB1474CAD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13411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825" b="1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阅读范围与精选参考文献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3F9F84-8E5F-4CDC-80B6-10D0501CE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906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D7E0D9"/>
            </a:solidFill>
          </a:ln>
        </p:spPr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140E1E9-4BF0-4A01-8043-3786F1C5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34350"/>
            <a:ext cx="11811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补充材料，不计入 8 分钟主讲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BDA2D70-DC8C-4324-805E-F299B1424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8086725"/>
            <a:ext cx="14668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备份 3</a:t>
            </a:r>
          </a:p>
        </p:txBody>
      </p:sp>
      <p:sp>
        <p:nvSpPr>
          <p:cNvPr id="5" name="cutoff">
            <a:extLst xmlns:a="http://schemas.openxmlformats.org/drawingml/2006/main">
              <a:ext uri="{FF2B5EF4-FFF2-40B4-BE49-F238E27FC236}">
                <a16:creationId xmlns:a16="http://schemas.microsoft.com/office/drawing/2014/main" id="{2413E7B4-9884-48A3-B988-CBEA3C41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13411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主检索截止日：2026-10-17。核心阅读池 40 篇，正文引用 39 篇。</a:t>
            </a:r>
          </a:p>
        </p:txBody>
      </p:sp>
      <p:sp>
        <p:nvSpPr>
          <p:cNvPr id="6" name="review-boundary">
            <a:extLst xmlns:a="http://schemas.openxmlformats.org/drawingml/2006/main">
              <a:ext uri="{FF2B5EF4-FFF2-40B4-BE49-F238E27FC236}">
                <a16:creationId xmlns:a16="http://schemas.microsoft.com/office/drawing/2014/main" id="{0F846975-30E7-4670-AB4C-B71365EA2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05050"/>
            <a:ext cx="13411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B6963"/>
                </a:solidFill>
                <a:latin typeface="Hiragino Sans GB"/>
                <a:ea typeface="Hiragino Sans GB"/>
                <a:cs typeface="Hiragino Sans GB"/>
              </a:rPr>
              <a:t>范围：可写、可更新、跨会话的外部记忆；多模态工作仅在回答核心问题时纳入。</a:t>
            </a:r>
          </a:p>
        </p:txBody>
      </p:sp>
      <p:sp>
        <p:nvSpPr>
          <p:cNvPr id="7" name="reference-0">
            <a:extLst xmlns:a="http://schemas.openxmlformats.org/drawingml/2006/main">
              <a:ext uri="{FF2B5EF4-FFF2-40B4-BE49-F238E27FC236}">
                <a16:creationId xmlns:a16="http://schemas.microsoft.com/office/drawing/2014/main" id="{D0DE1353-D12B-40D3-8405-8BC753356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24200"/>
            <a:ext cx="134112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Park et al. (2023). Generative Agents: Interactive Simulacra of Human Behavior.</a:t>
            </a:r>
          </a:p>
          <a:p xmlns:a="http://schemas.openxmlformats.org/drawingml/2006/main">
            <a:pPr algn="l">
              <a:def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DOI: 10.1145/3586183.3606763</a:t>
            </a:r>
          </a:p>
        </p:txBody>
      </p:sp>
      <p:sp>
        <p:nvSpPr>
          <p:cNvPr id="8" name="reference-1">
            <a:extLst xmlns:a="http://schemas.openxmlformats.org/drawingml/2006/main">
              <a:ext uri="{FF2B5EF4-FFF2-40B4-BE49-F238E27FC236}">
                <a16:creationId xmlns:a16="http://schemas.microsoft.com/office/drawing/2014/main" id="{0B3F311C-A7C5-4EEA-93D3-9139A8C75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95725"/>
            <a:ext cx="134112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Packer et al. (2023). MemGPT: Towards LLMs as Operating Systems.</a:t>
            </a:r>
          </a:p>
          <a:p xmlns:a="http://schemas.openxmlformats.org/drawingml/2006/main">
            <a:pPr algn="l">
              <a:def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arXiv:2310.08560</a:t>
            </a:r>
          </a:p>
        </p:txBody>
      </p:sp>
      <p:sp>
        <p:nvSpPr>
          <p:cNvPr id="9" name="reference-2">
            <a:extLst xmlns:a="http://schemas.openxmlformats.org/drawingml/2006/main">
              <a:ext uri="{FF2B5EF4-FFF2-40B4-BE49-F238E27FC236}">
                <a16:creationId xmlns:a16="http://schemas.microsoft.com/office/drawing/2014/main" id="{C7DB4564-6EFF-4C5E-BE0B-4DA22471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134112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Zhao et al. (2024). ExpeL: LLM Agents Are Experiential Learners. AAAI.</a:t>
            </a:r>
          </a:p>
          <a:p xmlns:a="http://schemas.openxmlformats.org/drawingml/2006/main">
            <a:pPr algn="l">
              <a:def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DOI: 10.1609/aaai.v38i17.29936</a:t>
            </a:r>
          </a:p>
        </p:txBody>
      </p:sp>
      <p:sp>
        <p:nvSpPr>
          <p:cNvPr id="10" name="reference-3">
            <a:extLst xmlns:a="http://schemas.openxmlformats.org/drawingml/2006/main">
              <a:ext uri="{FF2B5EF4-FFF2-40B4-BE49-F238E27FC236}">
                <a16:creationId xmlns:a16="http://schemas.microsoft.com/office/drawing/2014/main" id="{D969BC01-E899-431B-BD05-A4590EFE3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38775"/>
            <a:ext cx="134112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Yehia et al. (2026). Mem++: Non-Destructive Memory for Long-Term Organizational LLM Agents.</a:t>
            </a:r>
          </a:p>
          <a:p xmlns:a="http://schemas.openxmlformats.org/drawingml/2006/main">
            <a:pPr algn="l">
              <a:def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arXiv:2610.02002</a:t>
            </a:r>
          </a:p>
        </p:txBody>
      </p:sp>
      <p:sp>
        <p:nvSpPr>
          <p:cNvPr id="11" name="reference-4">
            <a:extLst xmlns:a="http://schemas.openxmlformats.org/drawingml/2006/main">
              <a:ext uri="{FF2B5EF4-FFF2-40B4-BE49-F238E27FC236}">
                <a16:creationId xmlns:a16="http://schemas.microsoft.com/office/drawing/2014/main" id="{8293BDC0-6B6B-441E-8223-118ECD90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210300"/>
            <a:ext cx="134112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Wu et al. (2024). LongMemEval: Benchmarking Chat Assistants on Long-Term Interactive Memory.</a:t>
            </a:r>
          </a:p>
          <a:p xmlns:a="http://schemas.openxmlformats.org/drawingml/2006/main">
            <a:pPr algn="l">
              <a:def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arXiv:2410.10813</a:t>
            </a:r>
          </a:p>
        </p:txBody>
      </p:sp>
      <p:sp>
        <p:nvSpPr>
          <p:cNvPr id="12" name="reference-5">
            <a:extLst xmlns:a="http://schemas.openxmlformats.org/drawingml/2006/main">
              <a:ext uri="{FF2B5EF4-FFF2-40B4-BE49-F238E27FC236}">
                <a16:creationId xmlns:a16="http://schemas.microsoft.com/office/drawing/2014/main" id="{66B80DDA-1BD5-4D8F-BF22-334B2F9AF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981825"/>
            <a:ext cx="134112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Chen et al. (2025). HaluMem: Evaluating Hallucinations in Memory Systems of Agents.</a:t>
            </a:r>
          </a:p>
          <a:p xmlns:a="http://schemas.openxmlformats.org/drawingml/2006/main">
            <a:pPr algn="l">
              <a:def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E2927"/>
                </a:solidFill>
                <a:latin typeface="Hiragino Sans GB"/>
                <a:ea typeface="Hiragino Sans GB"/>
                <a:cs typeface="Hiragino Sans GB"/>
              </a:rPr>
              <a:t>arXiv:2511.03506</a:t>
            </a:r>
          </a:p>
        </p:txBody>
      </p:sp>
    </p:spTree>
    <p:extLst>
      <p:ext uri="{BB962C8B-B14F-4D97-AF65-F5344CB8AC3E}">
        <p14:creationId xmlns:p14="http://schemas.microsoft.com/office/powerpoint/2010/main" val="1333577761"/>
      </p:ext>
    </p:extLst>
  </p:cSld>
</p:sld>
</file>

<file path=ppt/theme/theme1.xml><?xml version="1.0" encoding="utf-8"?>
<a:theme xmlns:a="http://schemas.openxmlformats.org/drawingml/2006/main" name="ChatGPT">
  <a:themeElements>
    <a:clrScheme name="University Course">
      <a:dk1>
        <a:srgbClr val="000000"/>
      </a:dk1>
      <a:lt1>
        <a:srgbClr val="FFFFFF"/>
      </a:lt1>
      <a:dk2>
        <a:srgbClr val="1E2927"/>
      </a:dk2>
      <a:lt2>
        <a:srgbClr val="EFF3EF"/>
      </a:lt2>
      <a:accent1>
        <a:srgbClr val="087C71"/>
      </a:accent1>
      <a:accent2>
        <a:srgbClr val="B34F3D"/>
      </a:accent2>
      <a:accent3>
        <a:srgbClr val="B48B3D"/>
      </a:accent3>
      <a:accent4>
        <a:srgbClr val="5F7973"/>
      </a:accent4>
      <a:accent5>
        <a:srgbClr val="777969"/>
      </a:accent5>
      <a:accent6>
        <a:srgbClr val="A86659"/>
      </a:accent6>
      <a:hlink>
        <a:srgbClr val="087C71"/>
      </a:hlink>
      <a:folHlink>
        <a:srgbClr val="B34F3D"/>
      </a:folHlink>
    </a:clrScheme>
    <a:fontScheme name="">
      <a:majorFont>
        <a:latin typeface="Hiragino Sans GB"/>
        <a:ea typeface=""/>
        <a:cs typeface=""/>
      </a:majorFont>
      <a:minorFont>
        <a:latin typeface="Hiragino Sans GB"/>
        <a:ea typeface=""/>
        <a:cs typeface=""/>
      </a:minorFont>
    </a:fontScheme>
    <a:fmtScheme name="University Cours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2026-10-18T15:00:05.4860000Z</dcterms:created>
  <dcterms:modified xsi:type="dcterms:W3CDTF">2026-10-18T15:00:05.4860000Z</dcterms:modified>
</coreProperties>
</file>